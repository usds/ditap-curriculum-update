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8" r:id="rId1"/>
    <p:sldMasterId id="2147483709" r:id="rId2"/>
    <p:sldMasterId id="2147483710" r:id="rId3"/>
  </p:sldMasterIdLst>
  <p:notesMasterIdLst>
    <p:notesMasterId r:id="rId7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22" r:id="rId64"/>
    <p:sldId id="323" r:id="rId65"/>
    <p:sldId id="324" r:id="rId66"/>
    <p:sldId id="325" r:id="rId67"/>
    <p:sldId id="326" r:id="rId68"/>
    <p:sldId id="327" r:id="rId69"/>
    <p:sldId id="316" r:id="rId70"/>
    <p:sldId id="317" r:id="rId71"/>
  </p:sldIdLst>
  <p:sldSz cx="9144000" cy="5143500" type="screen16x9"/>
  <p:notesSz cx="6858000" cy="9144000"/>
  <p:embeddedFontLst>
    <p:embeddedFont>
      <p:font typeface="Barlow" pitchFamily="2" charset="77"/>
      <p:regular r:id="rId73"/>
    </p:embeddedFont>
    <p:embeddedFont>
      <p:font typeface="Barlow ExtraLight" panose="00000300000000000000" pitchFamily="2" charset="77"/>
      <p:regular r:id="rId74"/>
      <p:bold r:id="rId75"/>
      <p:italic r:id="rId76"/>
      <p:boldItalic r:id="rId77"/>
    </p:embeddedFont>
    <p:embeddedFont>
      <p:font typeface="Barlow Light" panose="00000400000000000000" pitchFamily="2" charset="77"/>
      <p:regular r:id="rId78"/>
    </p:embeddedFont>
    <p:embeddedFont>
      <p:font typeface="Barlow Medium" panose="00000600000000000000" pitchFamily="2" charset="77"/>
      <p:regular r:id="rId79"/>
      <p:bold r:id="rId80"/>
      <p:italic r:id="rId81"/>
      <p:boldItalic r:id="rId82"/>
    </p:embeddedFont>
    <p:embeddedFont>
      <p:font typeface="Hepta Slab" pitchFamily="2" charset="77"/>
      <p:regular r:id="rId83"/>
      <p:bold r:id="rId84"/>
    </p:embeddedFont>
    <p:embeddedFont>
      <p:font typeface="Hepta Slab Light" pitchFamily="2" charset="77"/>
      <p:regular r:id="rId85"/>
      <p:bold r:id="rId86"/>
    </p:embeddedFont>
    <p:embeddedFont>
      <p:font typeface="Hepta Slab Medium" pitchFamily="2" charset="77"/>
      <p:regular r:id="rId87"/>
      <p:bold r:id="rId88"/>
    </p:embeddedFont>
    <p:embeddedFont>
      <p:font typeface="Inter" panose="02000503000000020004" pitchFamily="2" charset="0"/>
      <p:regular r:id="rId89"/>
      <p:bold r:id="rId90"/>
      <p:italic r:id="rId91"/>
      <p:boldItalic r:id="rId92"/>
    </p:embeddedFont>
    <p:embeddedFont>
      <p:font typeface="Inter Medium" panose="02000503000000020004" pitchFamily="2" charset="0"/>
      <p:regular r:id="rId93"/>
      <p:bold r:id="rId94"/>
      <p:italic r:id="rId95"/>
      <p:boldItalic r:id="rId96"/>
    </p:embeddedFont>
    <p:embeddedFont>
      <p:font typeface="Lato" panose="020F0502020204030203" pitchFamily="34" charset="0"/>
      <p:regular r:id="rId97"/>
      <p:bold r:id="rId98"/>
    </p:embeddedFont>
    <p:embeddedFont>
      <p:font typeface="Nunito" pitchFamily="2" charset="77"/>
      <p:regular r:id="rId99"/>
      <p:bold r:id="rId100"/>
      <p:italic r:id="rId101"/>
      <p:boldItalic r:id="rId102"/>
    </p:embeddedFont>
    <p:embeddedFont>
      <p:font typeface="Open Sans" panose="020B0606030504020204" pitchFamily="34" charset="0"/>
      <p:regular r:id="rId103"/>
    </p:embeddedFont>
    <p:embeddedFont>
      <p:font typeface="Proxima Nova" panose="02000506030000020004" pitchFamily="2" charset="0"/>
      <p:regular r:id="rId104"/>
      <p:bold r:id="rId105"/>
      <p:italic r:id="rId106"/>
      <p:boldItalic r:id="rId10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07BE7ED-69B6-4617-9742-D4B8E28752A2}">
  <a:tblStyle styleId="{B07BE7ED-69B6-4617-9742-D4B8E28752A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420"/>
  </p:normalViewPr>
  <p:slideViewPr>
    <p:cSldViewPr snapToGrid="0">
      <p:cViewPr varScale="1">
        <p:scale>
          <a:sx n="142" d="100"/>
          <a:sy n="142" d="100"/>
        </p:scale>
        <p:origin x="1304" y="176"/>
      </p:cViewPr>
      <p:guideLst>
        <p:guide orient="horz" pos="1620"/>
        <p:guide pos="2880"/>
      </p:guideLst>
    </p:cSldViewPr>
  </p:slideViewPr>
  <p:notesTextViewPr>
    <p:cViewPr>
      <p:scale>
        <a:sx n="1" d="1"/>
        <a:sy n="1" d="1"/>
      </p:scale>
      <p:origin x="0" y="-144"/>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font" Target="fonts/font12.fntdata"/><Relationship Id="rId89" Type="http://schemas.openxmlformats.org/officeDocument/2006/relationships/font" Target="fonts/font17.fntdata"/><Relationship Id="rId16" Type="http://schemas.openxmlformats.org/officeDocument/2006/relationships/slide" Target="slides/slide13.xml"/><Relationship Id="rId107" Type="http://schemas.openxmlformats.org/officeDocument/2006/relationships/font" Target="fonts/font35.fntdata"/><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2.fntdata"/><Relationship Id="rId79" Type="http://schemas.openxmlformats.org/officeDocument/2006/relationships/font" Target="fonts/font7.fntdata"/><Relationship Id="rId102" Type="http://schemas.openxmlformats.org/officeDocument/2006/relationships/font" Target="fonts/font30.fntdata"/><Relationship Id="rId5" Type="http://schemas.openxmlformats.org/officeDocument/2006/relationships/slide" Target="slides/slide2.xml"/><Relationship Id="rId90" Type="http://schemas.openxmlformats.org/officeDocument/2006/relationships/font" Target="fonts/font18.fntdata"/><Relationship Id="rId95" Type="http://schemas.openxmlformats.org/officeDocument/2006/relationships/font" Target="fonts/font23.fnt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font" Target="fonts/font8.fntdata"/><Relationship Id="rId85" Type="http://schemas.openxmlformats.org/officeDocument/2006/relationships/font" Target="fonts/font13.fntdata"/><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font" Target="fonts/font31.fntdata"/><Relationship Id="rId108" Type="http://schemas.openxmlformats.org/officeDocument/2006/relationships/presProps" Target="pres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font" Target="fonts/font3.fntdata"/><Relationship Id="rId91" Type="http://schemas.openxmlformats.org/officeDocument/2006/relationships/font" Target="fonts/font19.fntdata"/><Relationship Id="rId96" Type="http://schemas.openxmlformats.org/officeDocument/2006/relationships/font" Target="fonts/font24.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font" Target="fonts/font34.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font" Target="fonts/font14.fntdata"/><Relationship Id="rId94" Type="http://schemas.openxmlformats.org/officeDocument/2006/relationships/font" Target="fonts/font22.fntdata"/><Relationship Id="rId99" Type="http://schemas.openxmlformats.org/officeDocument/2006/relationships/font" Target="fonts/font27.fntdata"/><Relationship Id="rId101" Type="http://schemas.openxmlformats.org/officeDocument/2006/relationships/font" Target="fonts/font29.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viewProps" Target="viewProp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4.fntdata"/><Relationship Id="rId97" Type="http://schemas.openxmlformats.org/officeDocument/2006/relationships/font" Target="fonts/font25.fntdata"/><Relationship Id="rId104" Type="http://schemas.openxmlformats.org/officeDocument/2006/relationships/font" Target="fonts/font32.fntdata"/><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font" Target="fonts/font20.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font" Target="fonts/font15.fntdata"/><Relationship Id="rId110"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font" Target="fonts/font10.fntdata"/><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font" Target="fonts/font5.fntdata"/><Relationship Id="rId100" Type="http://schemas.openxmlformats.org/officeDocument/2006/relationships/font" Target="fonts/font28.fntdata"/><Relationship Id="rId105" Type="http://schemas.openxmlformats.org/officeDocument/2006/relationships/font" Target="fonts/font33.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notesMaster" Target="notesMasters/notesMaster1.xml"/><Relationship Id="rId93" Type="http://schemas.openxmlformats.org/officeDocument/2006/relationships/font" Target="fonts/font21.fntdata"/><Relationship Id="rId98" Type="http://schemas.openxmlformats.org/officeDocument/2006/relationships/font" Target="fonts/font26.fntdata"/><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font" Target="fonts/font11.fntdata"/><Relationship Id="rId88" Type="http://schemas.openxmlformats.org/officeDocument/2006/relationships/font" Target="fonts/font16.fntdata"/><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3d17db61dd_1_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g33d17db61dd_1_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1200"/>
              </a:spcAft>
              <a:buNone/>
            </a:pPr>
            <a:r>
              <a:rPr lang="en" sz="1200" b="1">
                <a:solidFill>
                  <a:srgbClr val="1B1B1B"/>
                </a:solidFill>
                <a:latin typeface="Nunito"/>
                <a:ea typeface="Nunito"/>
                <a:cs typeface="Nunito"/>
                <a:sym typeface="Nunito"/>
              </a:rPr>
              <a:t>Speaker Notes:</a:t>
            </a:r>
            <a:br>
              <a:rPr lang="en" sz="1200" b="1">
                <a:solidFill>
                  <a:srgbClr val="1B1B1B"/>
                </a:solidFill>
                <a:latin typeface="Nunito"/>
                <a:ea typeface="Nunito"/>
                <a:cs typeface="Nunito"/>
                <a:sym typeface="Nunito"/>
              </a:rPr>
            </a:br>
            <a:r>
              <a:rPr lang="en" sz="1200">
                <a:solidFill>
                  <a:srgbClr val="1B1B1B"/>
                </a:solidFill>
                <a:latin typeface="Nunito"/>
                <a:ea typeface="Nunito"/>
                <a:cs typeface="Nunito"/>
                <a:sym typeface="Nunito"/>
              </a:rPr>
              <a:t> Welcome to Module 2. In this module, we’ll explore the key concepts behind digital service delivery, what it means for government, and why it matters for acquisition professionals like you. </a:t>
            </a:r>
            <a:endParaRPr/>
          </a:p>
        </p:txBody>
      </p:sp>
      <p:sp>
        <p:nvSpPr>
          <p:cNvPr id="462" name="Google Shape;462;g33d17db61dd_1_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3d17db61dd_1_1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g33d17db61dd_1_1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g33d17db61dd_1_1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3d17db61dd_1_2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g33d17db61dd_1_2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b="1"/>
              <a:t>Speaker Notes</a:t>
            </a:r>
            <a:r>
              <a:rPr lang="en"/>
              <a:t>: These are our learning objectives for the module. As we go through each section, think about how these concepts connect to your own role and the challenges your agency faces.</a:t>
            </a:r>
            <a:endParaRPr/>
          </a:p>
          <a:p>
            <a:pPr marL="0" lvl="0" indent="0" algn="l" rtl="0">
              <a:spcBef>
                <a:spcPts val="0"/>
              </a:spcBef>
              <a:spcAft>
                <a:spcPts val="0"/>
              </a:spcAft>
              <a:buNone/>
            </a:pPr>
            <a:endParaRPr/>
          </a:p>
        </p:txBody>
      </p:sp>
      <p:sp>
        <p:nvSpPr>
          <p:cNvPr id="481" name="Google Shape;481;g33d17db61dd_1_2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3d17db61dd_1_3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3d17db61dd_1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4221800990_6_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6" name="Google Shape;496;g34221800990_6_0: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Welcome everyone to today's session on Maturity-Based Acquisition Strategy. Our focus is on aligning procurement strategies with where your organization truly is in terms of readiness and capability. This session will be practical, discussion-driven, and tailored to the realities you face in digital service acquisition.</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497" name="Google Shape;497;g34221800990_6_0: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4221800990_4_1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g34221800990_4_10: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These are our objectives for today. Think about them not just as theoretical takeaways, but as lenses for evaluating your current practices. Feel free to raise real challenges or experiences as we go along, so we can apply these concepts in a meaningful way.</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506" name="Google Shape;506;g34221800990_4_10: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35fa89bb436_0_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8" name="Google Shape;518;g35fa89bb436_0_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Let’s start with a quick self-assessment. This is not about perfection or judgment—it’s about perspective. What do you see in your agency’s culture, processes, or results that influence your maturity rating? Capture your thoughts to revisit later.</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519" name="Google Shape;519;g35fa89bb436_0_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33d17db61dd_1_75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6" name="Google Shape;526;g33d17db61dd_1_75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7" name="Google Shape;527;g33d17db61dd_1_75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66a562c0f1_0_5: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2" name="Google Shape;532;g366a562c0f1_0_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Many acquisition failures stem from a mismatch between organizational readiness and the demands of modern digital delivery. Maturity, in this context, is about how well-prepared your systems, people, and processes are to adapt and iterate.</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533" name="Google Shape;533;g366a562c0f1_0_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3d17db61dd_1_75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 name="Google Shape;542;g33d17db61dd_1_75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g33d17db61dd_1_75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4221800990_4_36: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8" name="Google Shape;548;g34221800990_4_36: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120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Here are four axioms that frame common risk patterns in digital procurement. Each axiom reflects a systemic tension between traditional practices and modern service realities. We'll explore each in more detail with examples and group reflection.</a:t>
            </a:r>
            <a:endParaRPr/>
          </a:p>
        </p:txBody>
      </p:sp>
      <p:sp>
        <p:nvSpPr>
          <p:cNvPr id="549" name="Google Shape;549;g34221800990_4_36: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4221800990_4_2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6" name="Google Shape;556;g34221800990_4_29: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This axiom underscores the risk of being locked into inflexible arrangements. Long-term contracts make it hard to pivot when things go wrong. Instead, think of contracts as experiments with early checkpoints for adjustment.</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557" name="Google Shape;557;g34221800990_4_29: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366a562c0f1_0_1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g366a562c0f1_0_1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This is about retaining control. Open platforms reduce vendor lock-in, enabling better long-term value and agility. Think about how you design acquisitions to support openness and portability.</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565" name="Google Shape;565;g366a562c0f1_0_1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366a562c0f1_0_26: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2" name="Google Shape;572;g366a562c0f1_0_2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120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Fixed-price contracts can be helpful if scoped right. The key is to define deliverables around concrete outcomes, not vague aspirations. Otherwise, fixed-price becomes a risk amplifier instead of a control mechanism.</a:t>
            </a:r>
            <a:endParaRPr/>
          </a:p>
        </p:txBody>
      </p:sp>
      <p:sp>
        <p:nvSpPr>
          <p:cNvPr id="573" name="Google Shape;573;g366a562c0f1_0_2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366a562c0f1_0_33: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0" name="Google Shape;580;g366a562c0f1_0_3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120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Agile isn’t just a methodology; it’s a cultural shift that takes time. Procurement can drive maturity by incrementally introducing agile practices and contracts that support experimentation and feedback.</a:t>
            </a:r>
            <a:endParaRPr/>
          </a:p>
        </p:txBody>
      </p:sp>
      <p:sp>
        <p:nvSpPr>
          <p:cNvPr id="581" name="Google Shape;581;g366a562c0f1_0_3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34221800990_4_24: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8" name="Google Shape;588;g34221800990_4_24: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120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Let’s make this practical. Think back to a procurement that went off track. Which axiom does it relate to? What could have been done differently if that axiom had been addressed up front?</a:t>
            </a:r>
            <a:endParaRPr/>
          </a:p>
        </p:txBody>
      </p:sp>
      <p:sp>
        <p:nvSpPr>
          <p:cNvPr id="589" name="Google Shape;589;g34221800990_4_24: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33d17db61dd_1_76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7" name="Google Shape;597;g33d17db61dd_1_76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8" name="Google Shape;598;g33d17db61dd_1_76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366a562c0f1_0_4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3" name="Google Shape;603;g366a562c0f1_0_4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 successful strategy isn’t just technical—it must be organizational. Recognize that culture, leadership, and structural constraints can derail even the best-designed acquisitions. Think about your agency as a system, not just a buyer.</a:t>
            </a: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sz="1200" b="1">
              <a:solidFill>
                <a:schemeClr val="dk1"/>
              </a:solidFill>
              <a:latin typeface="Calibri"/>
              <a:ea typeface="Calibri"/>
              <a:cs typeface="Calibri"/>
              <a:sym typeface="Calibri"/>
            </a:endParaRPr>
          </a:p>
        </p:txBody>
      </p:sp>
      <p:sp>
        <p:nvSpPr>
          <p:cNvPr id="604" name="Google Shape;604;g366a562c0f1_0_4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366a562c0f1_0_68: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 name="Google Shape;611;g366a562c0f1_0_6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Digital acquisition must be a team sport. Each of these groups brings essential knowledge. If any are left out, risk increases. Reflect on where your team is strong and where engagement could improve.</a:t>
            </a: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sz="1200" b="1">
              <a:solidFill>
                <a:schemeClr val="dk1"/>
              </a:solidFill>
              <a:latin typeface="Calibri"/>
              <a:ea typeface="Calibri"/>
              <a:cs typeface="Calibri"/>
              <a:sym typeface="Calibri"/>
            </a:endParaRPr>
          </a:p>
        </p:txBody>
      </p:sp>
      <p:sp>
        <p:nvSpPr>
          <p:cNvPr id="612" name="Google Shape;612;g366a562c0f1_0_6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366a562c0f1_0_75: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9" name="Google Shape;619;g366a562c0f1_0_7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 </a:t>
            </a:r>
            <a:r>
              <a:rPr lang="en" sz="1200">
                <a:solidFill>
                  <a:schemeClr val="dk1"/>
                </a:solidFill>
                <a:latin typeface="Calibri"/>
                <a:ea typeface="Calibri"/>
                <a:cs typeface="Calibri"/>
                <a:sym typeface="Calibri"/>
              </a:rPr>
              <a:t>Modern strategy is cyclical, not linear. Consider how to institutionalize feedback and build flexible structures that evolve with user needs. Digital services are never “done”—neither should your acquisition strategy be.</a:t>
            </a: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sz="1200">
              <a:solidFill>
                <a:schemeClr val="dk1"/>
              </a:solidFill>
              <a:latin typeface="Calibri"/>
              <a:ea typeface="Calibri"/>
              <a:cs typeface="Calibri"/>
              <a:sym typeface="Calibri"/>
            </a:endParaRPr>
          </a:p>
        </p:txBody>
      </p:sp>
      <p:sp>
        <p:nvSpPr>
          <p:cNvPr id="620" name="Google Shape;620;g366a562c0f1_0_7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3d17db61dd_1_76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7" name="Google Shape;627;g33d17db61dd_1_76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8" name="Google Shape;628;g33d17db61dd_1_76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366a562c0f1_0_155: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3" name="Google Shape;633;g366a562c0f1_0_15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Don’t hide your agency’s current maturity—use it as a foundation for honest vendor conversations. Right-sizing solutions leads to better proposals and fewer failed implementations. Transparency builds credibility.</a:t>
            </a: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634" name="Google Shape;634;g366a562c0f1_0_15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366a562c0f1_0_8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1" name="Google Shape;641;g366a562c0f1_0_8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Maturity models offer a shared language for evaluating readiness. Whether using TechFAR, DSC, or a custom tool, the key is to integrate the model early in the procurement lifecycle. Use it to shape goals and align your team.</a:t>
            </a: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642" name="Google Shape;642;g366a562c0f1_0_8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3d17db61dd_1_74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9" name="Google Shape;649;g33d17db61dd_1_74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b="1">
                <a:solidFill>
                  <a:schemeClr val="dk1"/>
                </a:solidFill>
              </a:rPr>
              <a:t>Speaker Notes:</a:t>
            </a:r>
            <a:r>
              <a:rPr lang="en">
                <a:solidFill>
                  <a:schemeClr val="dk1"/>
                </a:solidFill>
              </a:rPr>
              <a:t> Now it’s time to apply what we’ve learned. Use the model to assess your agency’s digital maturity. Then discuss what strategies make sense based on your actual state—not aspirational goals. Be honest; this is for planning, not scoring.</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650" name="Google Shape;650;g33d17db61dd_1_74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66a562c0f1_0_10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366a562c0f1_0_10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120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Maryland’s ADEPT is a great example of maturity-based acquisition. They created an agile contract vehicle and screened vendors using maturity indicators. This shows what’s possible when you embed maturity awareness into strategy and operations.</a:t>
            </a:r>
            <a:endParaRPr/>
          </a:p>
        </p:txBody>
      </p:sp>
      <p:sp>
        <p:nvSpPr>
          <p:cNvPr id="658" name="Google Shape;658;g366a562c0f1_0_10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4214c1f2a9_0_395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g34214c1f2a9_0_395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Let’s reflect on what we’ve covered. If you had to revise a current or upcoming procurement strategy, what would you do differently based on today’s session? What barriers still exist—and how can you begin addressing them?</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666" name="Google Shape;666;g34214c1f2a9_0_395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66a562c0f1_0_12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66a562c0f1_0_12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To wrap up, remember: maturity matters. Align strategy to where your agency is—not where you hope to be. Use acquisition to build capability over time, and involve the right voices early.</a:t>
            </a: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b="1">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674" name="Google Shape;674;g366a562c0f1_0_12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66a562c0f1_0_13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366a562c0f1_0_13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Thank you for your engagement today. Please reach out if you'd like templates, maturity models, or help facilitating these conversations with your team. Don’t forget to complete the feedback survey—we value your insights!</a:t>
            </a: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b="1">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682" name="Google Shape;682;g366a562c0f1_0_13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3d17db61dd_1_72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9" name="Google Shape;689;g33d17db61dd_1_72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0" name="Google Shape;690;g33d17db61dd_1_72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33d17db61dd_1_71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33d17db61dd_1_71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Say: “We’re kicking off this sprint by looking inward—at your agency and its readiness for digital transformation.”</a:t>
            </a:r>
            <a:endParaRPr sz="1200">
              <a:solidFill>
                <a:schemeClr val="dk1"/>
              </a:solidFill>
              <a:latin typeface="Calibri"/>
              <a:ea typeface="Calibri"/>
              <a:cs typeface="Calibri"/>
              <a:sym typeface="Calibri"/>
            </a:endParaRPr>
          </a:p>
          <a:p>
            <a:pPr marL="457200" lvl="0" indent="-298450" algn="l" rtl="0">
              <a:lnSpc>
                <a:spcPct val="115000"/>
              </a:lnSpc>
              <a:spcBef>
                <a:spcPts val="1200"/>
              </a:spcBef>
              <a:spcAft>
                <a:spcPts val="0"/>
              </a:spcAft>
              <a:buClr>
                <a:schemeClr val="dk1"/>
              </a:buClr>
              <a:buSzPts val="1100"/>
              <a:buChar char="●"/>
            </a:pPr>
            <a:r>
              <a:rPr lang="en" sz="1200">
                <a:solidFill>
                  <a:schemeClr val="dk1"/>
                </a:solidFill>
                <a:latin typeface="Calibri"/>
                <a:ea typeface="Calibri"/>
                <a:cs typeface="Calibri"/>
                <a:sym typeface="Calibri"/>
              </a:rPr>
              <a:t>Emphasize: “This is not about grading your agency—it’s about getting honest with yourself so you can lead more effectively.”</a:t>
            </a: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Encourage a growth mindset: “Wherever your agency is now, there are always levers you can pull or influence to move things forward.”</a:t>
            </a: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Transition: “You’ll complete a short survey that covers seven key areas—then we’ll come back together to share insights and start connecting dots.”</a:t>
            </a: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696" name="Google Shape;696;g33d17db61dd_1_71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33d17db61dd_1_72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g33d17db61dd_1_72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Say: “We’re kicking off this sprint by looking inward—at your agency and its readiness for digital transformation.”</a:t>
            </a:r>
            <a:endParaRPr sz="1200">
              <a:solidFill>
                <a:schemeClr val="dk1"/>
              </a:solidFill>
              <a:latin typeface="Calibri"/>
              <a:ea typeface="Calibri"/>
              <a:cs typeface="Calibri"/>
              <a:sym typeface="Calibri"/>
            </a:endParaRPr>
          </a:p>
          <a:p>
            <a:pPr marL="457200" lvl="0" indent="-298450" algn="l" rtl="0">
              <a:lnSpc>
                <a:spcPct val="115000"/>
              </a:lnSpc>
              <a:spcBef>
                <a:spcPts val="1200"/>
              </a:spcBef>
              <a:spcAft>
                <a:spcPts val="0"/>
              </a:spcAft>
              <a:buClr>
                <a:schemeClr val="dk1"/>
              </a:buClr>
              <a:buSzPts val="1100"/>
              <a:buChar char="●"/>
            </a:pPr>
            <a:r>
              <a:rPr lang="en" sz="1200">
                <a:solidFill>
                  <a:schemeClr val="dk1"/>
                </a:solidFill>
                <a:latin typeface="Calibri"/>
                <a:ea typeface="Calibri"/>
                <a:cs typeface="Calibri"/>
                <a:sym typeface="Calibri"/>
              </a:rPr>
              <a:t>Emphasize: “This is not about grading your agency—it’s about getting honest with yourself so you can lead more effectively.”</a:t>
            </a: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Encourage a growth mindset: “Wherever your agency is now, there are always levers you can pull or influence to move things forward.”</a:t>
            </a: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Transition: “You’ll complete a short survey that covers seven key areas—then we’ll come back together to share insights and start connecting dots.”</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704" name="Google Shape;704;g33d17db61dd_1_72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33d17db61dd_1_6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33d17db61dd_1_6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3d17db61dd_1_77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33d17db61dd_1_77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719" name="Google Shape;719;g33d17db61dd_1_77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33d17db61dd_1_78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7" name="Google Shape;727;g33d17db61dd_1_78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These are our objectives for today. </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728" name="Google Shape;728;g33d17db61dd_1_78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33d17db61dd_1_825: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0" name="Google Shape;740;g33d17db61dd_1_82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1200"/>
              </a:spcBef>
              <a:spcAft>
                <a:spcPts val="0"/>
              </a:spcAft>
              <a:buClr>
                <a:schemeClr val="dk1"/>
              </a:buClr>
              <a:buSzPts val="1100"/>
              <a:buFont typeface="Arial"/>
              <a:buNone/>
            </a:pPr>
            <a:r>
              <a:rPr lang="en">
                <a:solidFill>
                  <a:schemeClr val="dk1"/>
                </a:solidFill>
                <a:latin typeface="Nunito"/>
                <a:ea typeface="Nunito"/>
                <a:cs typeface="Nunito"/>
                <a:sym typeface="Nunito"/>
              </a:rPr>
              <a:t>Educate learners that their view may be narrow ("soda straw") and should be expanded. </a:t>
            </a:r>
            <a:endParaRPr>
              <a:solidFill>
                <a:schemeClr val="dk1"/>
              </a:solidFill>
              <a:latin typeface="Nunito"/>
              <a:ea typeface="Nunito"/>
              <a:cs typeface="Nunito"/>
              <a:sym typeface="Nunito"/>
            </a:endParaRPr>
          </a:p>
          <a:p>
            <a:pPr marL="0" lvl="0" indent="0" algn="l" rtl="0">
              <a:spcBef>
                <a:spcPts val="0"/>
              </a:spcBef>
              <a:spcAft>
                <a:spcPts val="0"/>
              </a:spcAft>
              <a:buNone/>
            </a:pPr>
            <a:r>
              <a:rPr lang="en">
                <a:solidFill>
                  <a:schemeClr val="dk1"/>
                </a:solidFill>
                <a:latin typeface="Lato"/>
                <a:ea typeface="Lato"/>
                <a:cs typeface="Lato"/>
                <a:sym typeface="Lato"/>
              </a:rPr>
              <a:t>Discuss common “soda straw” views—why they limit transformation</a:t>
            </a:r>
            <a:br>
              <a:rPr lang="en">
                <a:solidFill>
                  <a:schemeClr val="dk1"/>
                </a:solidFill>
                <a:latin typeface="Lato"/>
                <a:ea typeface="Lato"/>
                <a:cs typeface="Lato"/>
                <a:sym typeface="Lato"/>
              </a:rPr>
            </a:br>
            <a:endParaRPr>
              <a:solidFill>
                <a:schemeClr val="dk1"/>
              </a:solidFill>
            </a:endParaRPr>
          </a:p>
        </p:txBody>
      </p:sp>
      <p:sp>
        <p:nvSpPr>
          <p:cNvPr id="741" name="Google Shape;741;g33d17db61dd_1_82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33d17db61dd_1_816: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33d17db61dd_1_81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1200"/>
              </a:spcBef>
              <a:spcAft>
                <a:spcPts val="0"/>
              </a:spcAft>
              <a:buClr>
                <a:schemeClr val="dk1"/>
              </a:buClr>
              <a:buSzPts val="1100"/>
              <a:buFont typeface="Arial"/>
              <a:buNone/>
            </a:pPr>
            <a:r>
              <a:rPr lang="en">
                <a:solidFill>
                  <a:schemeClr val="dk1"/>
                </a:solidFill>
              </a:rPr>
              <a:t>Define and differentiate with examples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Consider stakeholders by their influence and interest, not just their job titles.</a:t>
            </a:r>
            <a:br>
              <a:rPr lang="en">
                <a:solidFill>
                  <a:schemeClr val="dk1"/>
                </a:solidFill>
              </a:rPr>
            </a:br>
            <a:r>
              <a:rPr lang="en">
                <a:solidFill>
                  <a:schemeClr val="dk1"/>
                </a:solidFill>
              </a:rPr>
              <a:t>Who are you leaving out by only looking at job titles?</a:t>
            </a:r>
            <a:endParaRPr>
              <a:solidFill>
                <a:schemeClr val="dk1"/>
              </a:solidFill>
              <a:latin typeface="Lato"/>
              <a:ea typeface="Lato"/>
              <a:cs typeface="Lato"/>
              <a:sym typeface="Lato"/>
            </a:endParaRPr>
          </a:p>
          <a:p>
            <a:pPr marL="0" lvl="0" indent="0" algn="l" rtl="0">
              <a:spcBef>
                <a:spcPts val="1200"/>
              </a:spcBef>
              <a:spcAft>
                <a:spcPts val="1200"/>
              </a:spcAft>
              <a:buClr>
                <a:schemeClr val="dk1"/>
              </a:buClr>
              <a:buSzPts val="1100"/>
              <a:buFont typeface="Arial"/>
              <a:buNone/>
            </a:pPr>
            <a:endParaRPr sz="1200">
              <a:solidFill>
                <a:schemeClr val="dk1"/>
              </a:solidFill>
              <a:latin typeface="Calibri"/>
              <a:ea typeface="Calibri"/>
              <a:cs typeface="Calibri"/>
              <a:sym typeface="Calibri"/>
            </a:endParaRPr>
          </a:p>
        </p:txBody>
      </p:sp>
      <p:sp>
        <p:nvSpPr>
          <p:cNvPr id="749" name="Google Shape;749;g33d17db61dd_1_81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3d17db61dd_1_833: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g33d17db61dd_1_83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1200"/>
              </a:spcBef>
              <a:spcAft>
                <a:spcPts val="0"/>
              </a:spcAft>
              <a:buClr>
                <a:schemeClr val="dk1"/>
              </a:buClr>
              <a:buSzPts val="1100"/>
              <a:buFont typeface="Arial"/>
              <a:buNone/>
            </a:pPr>
            <a:r>
              <a:rPr lang="en">
                <a:solidFill>
                  <a:schemeClr val="dk1"/>
                </a:solidFill>
              </a:rPr>
              <a:t>Define and differentiate with examples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Consider stakeholders by their influence and interest, not just their job titles.</a:t>
            </a:r>
            <a:br>
              <a:rPr lang="en">
                <a:solidFill>
                  <a:schemeClr val="dk1"/>
                </a:solidFill>
              </a:rPr>
            </a:br>
            <a:r>
              <a:rPr lang="en">
                <a:solidFill>
                  <a:schemeClr val="dk1"/>
                </a:solidFill>
              </a:rPr>
              <a:t>Who are you leaving out by only looking at job titles?</a:t>
            </a:r>
            <a:endParaRPr>
              <a:solidFill>
                <a:schemeClr val="dk1"/>
              </a:solidFill>
              <a:latin typeface="Lato"/>
              <a:ea typeface="Lato"/>
              <a:cs typeface="Lato"/>
              <a:sym typeface="Lato"/>
            </a:endParaRPr>
          </a:p>
          <a:p>
            <a:pPr marL="0" lvl="0" indent="0" algn="l" rtl="0">
              <a:spcBef>
                <a:spcPts val="1200"/>
              </a:spcBef>
              <a:spcAft>
                <a:spcPts val="1200"/>
              </a:spcAft>
              <a:buClr>
                <a:schemeClr val="dk1"/>
              </a:buClr>
              <a:buSzPts val="1100"/>
              <a:buFont typeface="Arial"/>
              <a:buNone/>
            </a:pPr>
            <a:endParaRPr sz="1200">
              <a:solidFill>
                <a:schemeClr val="dk1"/>
              </a:solidFill>
              <a:latin typeface="Calibri"/>
              <a:ea typeface="Calibri"/>
              <a:cs typeface="Calibri"/>
              <a:sym typeface="Calibri"/>
            </a:endParaRPr>
          </a:p>
        </p:txBody>
      </p:sp>
      <p:sp>
        <p:nvSpPr>
          <p:cNvPr id="757" name="Google Shape;757;g33d17db61dd_1_83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33d17db61dd_1_84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33d17db61dd_1_84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1200"/>
              </a:spcBef>
              <a:spcAft>
                <a:spcPts val="0"/>
              </a:spcAft>
              <a:buClr>
                <a:schemeClr val="dk1"/>
              </a:buClr>
              <a:buSzPts val="1100"/>
              <a:buFont typeface="Arial"/>
              <a:buNone/>
            </a:pPr>
            <a:r>
              <a:rPr lang="en">
                <a:solidFill>
                  <a:schemeClr val="dk1"/>
                </a:solidFill>
              </a:rPr>
              <a:t>Define and differentiate with examples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Consider stakeholders by their influence and interest, not just their job titles.</a:t>
            </a:r>
            <a:br>
              <a:rPr lang="en">
                <a:solidFill>
                  <a:schemeClr val="dk1"/>
                </a:solidFill>
              </a:rPr>
            </a:br>
            <a:r>
              <a:rPr lang="en">
                <a:solidFill>
                  <a:schemeClr val="dk1"/>
                </a:solidFill>
              </a:rPr>
              <a:t>Who are you leaving out by only looking at job titles?</a:t>
            </a:r>
            <a:endParaRPr>
              <a:solidFill>
                <a:schemeClr val="dk1"/>
              </a:solidFill>
              <a:latin typeface="Lato"/>
              <a:ea typeface="Lato"/>
              <a:cs typeface="Lato"/>
              <a:sym typeface="Lato"/>
            </a:endParaRPr>
          </a:p>
          <a:p>
            <a:pPr marL="0" lvl="0" indent="0" algn="l" rtl="0">
              <a:spcBef>
                <a:spcPts val="1200"/>
              </a:spcBef>
              <a:spcAft>
                <a:spcPts val="1200"/>
              </a:spcAft>
              <a:buClr>
                <a:schemeClr val="dk1"/>
              </a:buClr>
              <a:buSzPts val="1100"/>
              <a:buFont typeface="Arial"/>
              <a:buNone/>
            </a:pPr>
            <a:endParaRPr sz="1200">
              <a:solidFill>
                <a:schemeClr val="dk1"/>
              </a:solidFill>
              <a:latin typeface="Calibri"/>
              <a:ea typeface="Calibri"/>
              <a:cs typeface="Calibri"/>
              <a:sym typeface="Calibri"/>
            </a:endParaRPr>
          </a:p>
        </p:txBody>
      </p:sp>
      <p:sp>
        <p:nvSpPr>
          <p:cNvPr id="765" name="Google Shape;765;g33d17db61dd_1_84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33d17db61dd_1_84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2" name="Google Shape;772;g33d17db61dd_1_84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1200"/>
              </a:spcBef>
              <a:spcAft>
                <a:spcPts val="0"/>
              </a:spcAft>
              <a:buClr>
                <a:schemeClr val="dk1"/>
              </a:buClr>
              <a:buSzPts val="1100"/>
              <a:buFont typeface="Arial"/>
              <a:buNone/>
            </a:pPr>
            <a:r>
              <a:rPr lang="en">
                <a:solidFill>
                  <a:schemeClr val="dk1"/>
                </a:solidFill>
              </a:rPr>
              <a:t>Define and differentiate with examples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Consider stakeholders by their influence and interest, not just their job titles.</a:t>
            </a:r>
            <a:br>
              <a:rPr lang="en">
                <a:solidFill>
                  <a:schemeClr val="dk1"/>
                </a:solidFill>
              </a:rPr>
            </a:br>
            <a:r>
              <a:rPr lang="en">
                <a:solidFill>
                  <a:schemeClr val="dk1"/>
                </a:solidFill>
              </a:rPr>
              <a:t>Who are you leaving out by only looking at job titles?</a:t>
            </a:r>
            <a:endParaRPr>
              <a:solidFill>
                <a:schemeClr val="dk1"/>
              </a:solidFill>
              <a:latin typeface="Lato"/>
              <a:ea typeface="Lato"/>
              <a:cs typeface="Lato"/>
              <a:sym typeface="Lato"/>
            </a:endParaRPr>
          </a:p>
          <a:p>
            <a:pPr marL="0" lvl="0" indent="0" algn="l" rtl="0">
              <a:spcBef>
                <a:spcPts val="1200"/>
              </a:spcBef>
              <a:spcAft>
                <a:spcPts val="1200"/>
              </a:spcAft>
              <a:buClr>
                <a:schemeClr val="dk1"/>
              </a:buClr>
              <a:buSzPts val="1100"/>
              <a:buFont typeface="Arial"/>
              <a:buNone/>
            </a:pPr>
            <a:endParaRPr sz="1200">
              <a:solidFill>
                <a:schemeClr val="dk1"/>
              </a:solidFill>
              <a:latin typeface="Calibri"/>
              <a:ea typeface="Calibri"/>
              <a:cs typeface="Calibri"/>
              <a:sym typeface="Calibri"/>
            </a:endParaRPr>
          </a:p>
        </p:txBody>
      </p:sp>
      <p:sp>
        <p:nvSpPr>
          <p:cNvPr id="773" name="Google Shape;773;g33d17db61dd_1_84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33d17db61dd_1_854: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33d17db61dd_1_85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1200"/>
              </a:spcBef>
              <a:spcAft>
                <a:spcPts val="0"/>
              </a:spcAft>
              <a:buClr>
                <a:schemeClr val="dk1"/>
              </a:buClr>
              <a:buSzPts val="1100"/>
              <a:buFont typeface="Arial"/>
              <a:buNone/>
            </a:pPr>
            <a:r>
              <a:rPr lang="en">
                <a:solidFill>
                  <a:schemeClr val="dk1"/>
                </a:solidFill>
              </a:rPr>
              <a:t>Define and differentiate with examples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Consider stakeholders by their influence and interest, not just their job titles.</a:t>
            </a:r>
            <a:br>
              <a:rPr lang="en">
                <a:solidFill>
                  <a:schemeClr val="dk1"/>
                </a:solidFill>
              </a:rPr>
            </a:br>
            <a:r>
              <a:rPr lang="en">
                <a:solidFill>
                  <a:schemeClr val="dk1"/>
                </a:solidFill>
              </a:rPr>
              <a:t>Who are you leaving out by only looking at job titles?</a:t>
            </a:r>
            <a:endParaRPr>
              <a:solidFill>
                <a:schemeClr val="dk1"/>
              </a:solidFill>
              <a:latin typeface="Lato"/>
              <a:ea typeface="Lato"/>
              <a:cs typeface="Lato"/>
              <a:sym typeface="Lato"/>
            </a:endParaRPr>
          </a:p>
          <a:p>
            <a:pPr marL="0" lvl="0" indent="0" algn="l" rtl="0">
              <a:spcBef>
                <a:spcPts val="1200"/>
              </a:spcBef>
              <a:spcAft>
                <a:spcPts val="1200"/>
              </a:spcAft>
              <a:buClr>
                <a:schemeClr val="dk1"/>
              </a:buClr>
              <a:buSzPts val="1100"/>
              <a:buFont typeface="Arial"/>
              <a:buNone/>
            </a:pPr>
            <a:endParaRPr sz="1200">
              <a:solidFill>
                <a:schemeClr val="dk1"/>
              </a:solidFill>
              <a:latin typeface="Calibri"/>
              <a:ea typeface="Calibri"/>
              <a:cs typeface="Calibri"/>
              <a:sym typeface="Calibri"/>
            </a:endParaRPr>
          </a:p>
        </p:txBody>
      </p:sp>
      <p:sp>
        <p:nvSpPr>
          <p:cNvPr id="781" name="Google Shape;781;g33d17db61dd_1_85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33d17db61dd_1_86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3d17db61dd_1_86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This is an intro slide for the upcoming activity below. </a:t>
            </a:r>
            <a:endParaRPr sz="1200">
              <a:solidFill>
                <a:schemeClr val="dk1"/>
              </a:solidFill>
              <a:latin typeface="Calibri"/>
              <a:ea typeface="Calibri"/>
              <a:cs typeface="Calibri"/>
              <a:sym typeface="Calibri"/>
            </a:endParaRPr>
          </a:p>
          <a:p>
            <a:pPr marL="0" lvl="0" indent="0" algn="l" rtl="0">
              <a:spcBef>
                <a:spcPts val="120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bring our stakeholder knowledge to life with a mapping activity. You’ll use a simple matrix to think critically about who really holds power and who cares most about your initiative.</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1300" b="1">
                <a:solidFill>
                  <a:schemeClr val="dk1"/>
                </a:solidFill>
                <a:latin typeface="Open Sans"/>
                <a:ea typeface="Open Sans"/>
                <a:cs typeface="Open Sans"/>
                <a:sym typeface="Open Sans"/>
              </a:rPr>
              <a:t>Stakeholder Mapping &amp; Power Dynamics (15 mins)</a:t>
            </a:r>
            <a:endParaRPr sz="1300" b="1">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endParaRPr>
              <a:solidFill>
                <a:schemeClr val="dk1"/>
              </a:solidFill>
              <a:latin typeface="Open Sans"/>
              <a:ea typeface="Open Sans"/>
              <a:cs typeface="Open Sans"/>
              <a:sym typeface="Open Sans"/>
            </a:endParaRPr>
          </a:p>
          <a:p>
            <a:pPr marL="914400" lvl="1" indent="-298450" algn="l" rtl="0">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Help participants identify and categorize stakeholders based on influence (power) and interest (engagement level) in a digital service initiative.</a:t>
            </a:r>
            <a:endParaRPr>
              <a:solidFill>
                <a:schemeClr val="dk1"/>
              </a:solidFill>
              <a:latin typeface="Open Sans"/>
              <a:ea typeface="Open Sans"/>
              <a:cs typeface="Open Sans"/>
              <a:sym typeface="Open Sans"/>
            </a:endParaRPr>
          </a:p>
          <a:p>
            <a:pPr marL="914400" lvl="1" indent="-298450" algn="l" rtl="0">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Introduce the power-interest matrix</a:t>
            </a:r>
            <a:endParaRPr>
              <a:solidFill>
                <a:schemeClr val="dk1"/>
              </a:solidFill>
              <a:latin typeface="Open Sans"/>
              <a:ea typeface="Open Sans"/>
              <a:cs typeface="Open Sans"/>
              <a:sym typeface="Open Sans"/>
            </a:endParaRPr>
          </a:p>
          <a:p>
            <a:pPr marL="914400" lvl="1" indent="-298450" algn="l" rtl="0">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How might a high-influence, low-interest stakeholder impact your project?Interactive Activity:</a:t>
            </a:r>
            <a:endParaRPr>
              <a:solidFill>
                <a:schemeClr val="dk1"/>
              </a:solidFill>
              <a:latin typeface="Open Sans"/>
              <a:ea typeface="Open Sans"/>
              <a:cs typeface="Open Sans"/>
              <a:sym typeface="Open Sans"/>
            </a:endParaRPr>
          </a:p>
          <a:p>
            <a:pPr marL="914400" lvl="1" indent="-298450" algn="l" rtl="0">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Map sample stakeholders from a fictional or real agency scenario</a:t>
            </a:r>
            <a:endParaRPr>
              <a:solidFill>
                <a:schemeClr val="dk1"/>
              </a:solidFill>
              <a:latin typeface="Open Sans"/>
              <a:ea typeface="Open Sans"/>
              <a:cs typeface="Open Sans"/>
              <a:sym typeface="Open Sans"/>
            </a:endParaRPr>
          </a:p>
          <a:p>
            <a:pPr marL="914400" lvl="1" indent="-298450" algn="l" rtl="0">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Prompt: “Where would you place this person?”</a:t>
            </a:r>
            <a:endParaRPr>
              <a:solidFill>
                <a:schemeClr val="dk1"/>
              </a:solidFill>
              <a:latin typeface="Open Sans"/>
              <a:ea typeface="Open Sans"/>
              <a:cs typeface="Open Sans"/>
              <a:sym typeface="Open Sans"/>
            </a:endParaRPr>
          </a:p>
          <a:p>
            <a:pPr marL="914400" lvl="1" indent="-298450" algn="l" rtl="0">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Bonus: “How would their placement change over time?”</a:t>
            </a:r>
            <a:endParaRPr sz="1200">
              <a:solidFill>
                <a:schemeClr val="dk1"/>
              </a:solidFill>
              <a:latin typeface="Open Sans"/>
              <a:ea typeface="Open Sans"/>
              <a:cs typeface="Open Sans"/>
              <a:sym typeface="Open Sans"/>
            </a:endParaRPr>
          </a:p>
          <a:p>
            <a:pPr marL="0" lvl="0" indent="0" algn="l" rtl="0">
              <a:spcBef>
                <a:spcPts val="1200"/>
              </a:spcBef>
              <a:spcAft>
                <a:spcPts val="1200"/>
              </a:spcAft>
              <a:buSzPts val="1100"/>
              <a:buNone/>
            </a:pPr>
            <a:endParaRPr/>
          </a:p>
        </p:txBody>
      </p:sp>
      <p:sp>
        <p:nvSpPr>
          <p:cNvPr id="789" name="Google Shape;789;g33d17db61dd_1_86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33d17db61dd_1_868: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33d17db61dd_1_86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r>
              <a:rPr lang="en">
                <a:solidFill>
                  <a:schemeClr val="dk1"/>
                </a:solidFill>
                <a:latin typeface="Open Sans"/>
                <a:ea typeface="Open Sans"/>
                <a:cs typeface="Open Sans"/>
                <a:sym typeface="Open Sans"/>
              </a:rPr>
              <a:t>Now let’s bring our stakeholder knowledge to life with a mapping activity. You’ll use a simple matrix to think critically about who really holds power and who cares most about your initiative.</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marL="0" lvl="0" indent="0" algn="l" rtl="0">
              <a:spcBef>
                <a:spcPts val="1200"/>
              </a:spcBef>
              <a:spcAft>
                <a:spcPts val="0"/>
              </a:spcAft>
              <a:buClr>
                <a:schemeClr val="dk1"/>
              </a:buClr>
              <a:buSzPts val="1100"/>
              <a:buFont typeface="Arial"/>
              <a:buNone/>
            </a:pPr>
            <a:r>
              <a:rPr lang="en" sz="1300">
                <a:solidFill>
                  <a:srgbClr val="002F43"/>
                </a:solidFill>
                <a:latin typeface="Open Sans"/>
                <a:ea typeface="Open Sans"/>
                <a:cs typeface="Open Sans"/>
                <a:sym typeface="Open Sans"/>
              </a:rPr>
              <a:t>Stakeholder Mapping &amp; Power Dynamics (15 mins)</a:t>
            </a:r>
            <a:endParaRPr>
              <a:solidFill>
                <a:schemeClr val="dk1"/>
              </a:solidFill>
              <a:latin typeface="Open Sans"/>
              <a:ea typeface="Open Sans"/>
              <a:cs typeface="Open Sans"/>
              <a:sym typeface="Open Sans"/>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your agency is planning a pilot program for a secure digital ID system. The pilot will affect customer experience, internal access, and procurement systems.</a:t>
            </a:r>
            <a:endParaRPr>
              <a:solidFill>
                <a:schemeClr val="dk1"/>
              </a:solidFill>
              <a:latin typeface="Open Sans"/>
              <a:ea typeface="Open Sans"/>
              <a:cs typeface="Open Sans"/>
              <a:sym typeface="Open Sans"/>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latin typeface="Open Sans"/>
                <a:ea typeface="Open Sans"/>
                <a:cs typeface="Open Sans"/>
                <a:sym typeface="Open Sans"/>
              </a:rPr>
              <a:t>Share the case scenario (e.g., "Digital ID Pilot")</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Introduce 4–5 fictional characters</a:t>
            </a:r>
            <a:endParaRPr>
              <a:solidFill>
                <a:schemeClr val="dk1"/>
              </a:solidFill>
              <a:latin typeface="Open Sans"/>
              <a:ea typeface="Open Sans"/>
              <a:cs typeface="Open Sans"/>
              <a:sym typeface="Open Sans"/>
            </a:endParaRPr>
          </a:p>
          <a:p>
            <a:pPr marL="914400" lvl="1" indent="-298450" algn="l" rtl="0">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Use simple avatars or name badges with short bios (provided below)</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Open Sans"/>
                <a:ea typeface="Open Sans"/>
                <a:cs typeface="Open Sans"/>
                <a:sym typeface="Open Sans"/>
              </a:rPr>
              <a:t>Explain matrix axes:</a:t>
            </a:r>
            <a:endParaRPr>
              <a:solidFill>
                <a:schemeClr val="dk1"/>
              </a:solidFill>
              <a:latin typeface="Open Sans"/>
              <a:ea typeface="Open Sans"/>
              <a:cs typeface="Open Sans"/>
              <a:sym typeface="Open Sans"/>
            </a:endParaRPr>
          </a:p>
          <a:p>
            <a:pPr marL="914400" lvl="1" indent="-298450" algn="l" rtl="0">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Influence = ability to accelerate or block progress</a:t>
            </a:r>
            <a:endParaRPr>
              <a:solidFill>
                <a:schemeClr val="dk1"/>
              </a:solidFill>
              <a:latin typeface="Open Sans"/>
              <a:ea typeface="Open Sans"/>
              <a:cs typeface="Open Sans"/>
              <a:sym typeface="Open Sans"/>
            </a:endParaRPr>
          </a:p>
          <a:p>
            <a:pPr marL="914400" lvl="1" indent="-298450" algn="l" rtl="0">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Interest = how invested they are in the outcome</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marL="0" lvl="0" indent="0" algn="l" rtl="0">
              <a:lnSpc>
                <a:spcPct val="115000"/>
              </a:lnSpc>
              <a:spcBef>
                <a:spcPts val="1200"/>
              </a:spcBef>
              <a:spcAft>
                <a:spcPts val="0"/>
              </a:spcAft>
              <a:buNone/>
            </a:pPr>
            <a:r>
              <a:rPr lang="en" b="1">
                <a:solidFill>
                  <a:schemeClr val="dk1"/>
                </a:solidFill>
              </a:rPr>
              <a:t>Characters: (read aloud)</a:t>
            </a:r>
            <a:endParaRPr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 b="1">
                <a:solidFill>
                  <a:schemeClr val="dk1"/>
                </a:solidFill>
              </a:rPr>
              <a:t>Gloria, the SES IT Director</a:t>
            </a:r>
            <a:r>
              <a:rPr lang="en">
                <a:solidFill>
                  <a:schemeClr val="dk1"/>
                </a:solidFill>
              </a:rPr>
              <a:t> – Approves funding, rarely attends meetings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Marcus, the Deputy CIO</a:t>
            </a:r>
            <a:r>
              <a:rPr lang="en">
                <a:solidFill>
                  <a:schemeClr val="dk1"/>
                </a:solidFill>
              </a:rPr>
              <a:t> – Cybersecurity watchdog, hesitant about pilot risks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Leila, a Program Analyst</a:t>
            </a:r>
            <a:r>
              <a:rPr lang="en">
                <a:solidFill>
                  <a:schemeClr val="dk1"/>
                </a:solidFill>
              </a:rPr>
              <a:t> – Works with the field teams; trusted voice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Alicia, the CX Lead Contractor</a:t>
            </a:r>
            <a:r>
              <a:rPr lang="en">
                <a:solidFill>
                  <a:schemeClr val="dk1"/>
                </a:solidFill>
              </a:rPr>
              <a:t> – Influential but external to agency hierarchy</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Ben, the Procurement Specialist</a:t>
            </a:r>
            <a:r>
              <a:rPr lang="en">
                <a:solidFill>
                  <a:schemeClr val="dk1"/>
                </a:solidFill>
              </a:rPr>
              <a:t> – Likes consistency, risk-averse</a:t>
            </a:r>
            <a:endParaRPr>
              <a:solidFill>
                <a:schemeClr val="dk1"/>
              </a:solidFill>
            </a:endParaRPr>
          </a:p>
          <a:p>
            <a:pPr marL="0" lvl="0" indent="0" algn="l" rtl="0">
              <a:lnSpc>
                <a:spcPct val="115000"/>
              </a:lnSpc>
              <a:spcBef>
                <a:spcPts val="1200"/>
              </a:spcBef>
              <a:spcAft>
                <a:spcPts val="0"/>
              </a:spcAft>
              <a:buNone/>
            </a:pPr>
            <a:r>
              <a:rPr lang="en">
                <a:solidFill>
                  <a:schemeClr val="dk1"/>
                </a:solidFill>
                <a:latin typeface="Lato"/>
                <a:ea typeface="Lato"/>
                <a:cs typeface="Lato"/>
                <a:sym typeface="Lato"/>
              </a:rPr>
              <a:t>Discussion Questions:</a:t>
            </a:r>
            <a:endParaRPr>
              <a:solidFill>
                <a:schemeClr val="dk1"/>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Font typeface="Lato"/>
              <a:buChar char="●"/>
            </a:pPr>
            <a:r>
              <a:rPr lang="en">
                <a:solidFill>
                  <a:schemeClr val="dk1"/>
                </a:solidFill>
                <a:latin typeface="Lato"/>
                <a:ea typeface="Lato"/>
                <a:cs typeface="Lato"/>
                <a:sym typeface="Lato"/>
              </a:rPr>
              <a:t>Where would you place each person on this matrix</a:t>
            </a:r>
            <a:endParaRPr>
              <a:solidFill>
                <a:schemeClr val="dk1"/>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Who’s high interest, high influence? </a:t>
            </a:r>
            <a:endParaRPr>
              <a:solidFill>
                <a:schemeClr val="dk1"/>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Who do you need to move?</a:t>
            </a:r>
            <a:endParaRPr>
              <a:solidFill>
                <a:schemeClr val="dk1"/>
              </a:solidFill>
              <a:latin typeface="Lato"/>
              <a:ea typeface="Lato"/>
              <a:cs typeface="Lato"/>
              <a:sym typeface="Lato"/>
            </a:endParaRPr>
          </a:p>
          <a:p>
            <a:pPr marL="0" lvl="0" indent="0" algn="l" rtl="0">
              <a:lnSpc>
                <a:spcPct val="115000"/>
              </a:lnSpc>
              <a:spcBef>
                <a:spcPts val="1200"/>
              </a:spcBef>
              <a:spcAft>
                <a:spcPts val="0"/>
              </a:spcAft>
              <a:buNone/>
            </a:pPr>
            <a:br>
              <a:rPr lang="en">
                <a:solidFill>
                  <a:schemeClr val="dk1"/>
                </a:solidFill>
                <a:latin typeface="Lato"/>
                <a:ea typeface="Lato"/>
                <a:cs typeface="Lato"/>
                <a:sym typeface="Lato"/>
              </a:rPr>
            </a:br>
            <a:br>
              <a:rPr lang="en">
                <a:solidFill>
                  <a:schemeClr val="dk1"/>
                </a:solidFill>
                <a:latin typeface="Lato"/>
                <a:ea typeface="Lato"/>
                <a:cs typeface="Lato"/>
                <a:sym typeface="Lato"/>
              </a:rPr>
            </a:br>
            <a:endParaRPr sz="1300" b="1">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spcBef>
                <a:spcPts val="1200"/>
              </a:spcBef>
              <a:spcAft>
                <a:spcPts val="0"/>
              </a:spcAft>
              <a:buSzPts val="1100"/>
              <a:buNone/>
            </a:pPr>
            <a:endParaRPr>
              <a:solidFill>
                <a:schemeClr val="dk1"/>
              </a:solidFill>
              <a:latin typeface="Open Sans"/>
              <a:ea typeface="Open Sans"/>
              <a:cs typeface="Open Sans"/>
              <a:sym typeface="Open Sans"/>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797" name="Google Shape;797;g33d17db61dd_1_86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33d17db61dd_1_88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33d17db61dd_1_88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r>
              <a:rPr lang="en" sz="1200">
                <a:solidFill>
                  <a:schemeClr val="dk1"/>
                </a:solidFill>
                <a:latin typeface="Inter"/>
                <a:ea typeface="Inter"/>
                <a:cs typeface="Inter"/>
                <a:sym typeface="Inter"/>
              </a:rPr>
              <a:t> </a:t>
            </a:r>
            <a:endParaRPr sz="1300">
              <a:solidFill>
                <a:srgbClr val="002F43"/>
              </a:solidFill>
              <a:latin typeface="Inter"/>
              <a:ea typeface="Inter"/>
              <a:cs typeface="Inter"/>
              <a:sym typeface="Inter"/>
            </a:endParaRPr>
          </a:p>
          <a:p>
            <a:pPr marL="0" lvl="0" indent="0" algn="l" rtl="0">
              <a:spcBef>
                <a:spcPts val="1200"/>
              </a:spcBef>
              <a:spcAft>
                <a:spcPts val="0"/>
              </a:spcAft>
              <a:buSzPts val="1100"/>
              <a:buNone/>
            </a:pPr>
            <a:r>
              <a:rPr lang="en" b="1">
                <a:solidFill>
                  <a:schemeClr val="dk1"/>
                </a:solidFill>
                <a:latin typeface="Inter"/>
                <a:ea typeface="Inter"/>
                <a:cs typeface="Inter"/>
                <a:sym typeface="Inter"/>
              </a:rPr>
              <a:t>** This is a visual or chart comparing engagement styles. Feel free to rebrand/updated this draft chart as needed. </a:t>
            </a:r>
            <a:endParaRPr b="1">
              <a:solidFill>
                <a:schemeClr val="dk1"/>
              </a:solidFill>
              <a:latin typeface="Inter"/>
              <a:ea typeface="Inter"/>
              <a:cs typeface="Inter"/>
              <a:sym typeface="Inter"/>
            </a:endParaRPr>
          </a:p>
          <a:p>
            <a:pPr marL="0" lvl="0" indent="0" algn="l" rtl="0">
              <a:spcBef>
                <a:spcPts val="1200"/>
              </a:spcBef>
              <a:spcAft>
                <a:spcPts val="0"/>
              </a:spcAft>
              <a:buNone/>
            </a:pPr>
            <a:r>
              <a:rPr lang="en">
                <a:solidFill>
                  <a:schemeClr val="dk1"/>
                </a:solidFill>
                <a:latin typeface="Inter"/>
                <a:ea typeface="Inter"/>
                <a:cs typeface="Inter"/>
                <a:sym typeface="Inter"/>
              </a:rPr>
              <a:t>Compare risk-averse vs. innovation-forward traits</a:t>
            </a:r>
            <a:endParaRPr>
              <a:solidFill>
                <a:schemeClr val="dk1"/>
              </a:solidFill>
              <a:latin typeface="Inter"/>
              <a:ea typeface="Inter"/>
              <a:cs typeface="Inter"/>
              <a:sym typeface="Inter"/>
            </a:endParaRPr>
          </a:p>
          <a:p>
            <a:pPr marL="0" lvl="0" indent="0" algn="l" rtl="0">
              <a:lnSpc>
                <a:spcPct val="115000"/>
              </a:lnSpc>
              <a:spcBef>
                <a:spcPts val="1200"/>
              </a:spcBef>
              <a:spcAft>
                <a:spcPts val="0"/>
              </a:spcAft>
              <a:buNone/>
            </a:pPr>
            <a:r>
              <a:rPr lang="en">
                <a:solidFill>
                  <a:schemeClr val="dk1"/>
                </a:solidFill>
                <a:latin typeface="Inter"/>
                <a:ea typeface="Inter"/>
                <a:cs typeface="Inter"/>
                <a:sym typeface="Inter"/>
              </a:rPr>
              <a:t>Ask for hands or use polling (in Zoom or with sticky notes) to have participants mark the spectrum:</a:t>
            </a:r>
            <a:endParaRPr>
              <a:solidFill>
                <a:schemeClr val="dk1"/>
              </a:solidFill>
              <a:latin typeface="Inter"/>
              <a:ea typeface="Inter"/>
              <a:cs typeface="Inter"/>
              <a:sym typeface="Inter"/>
            </a:endParaRPr>
          </a:p>
          <a:p>
            <a:pPr marL="457200" lvl="0" indent="-298450" algn="l" rtl="0">
              <a:lnSpc>
                <a:spcPct val="115000"/>
              </a:lnSpc>
              <a:spcBef>
                <a:spcPts val="1200"/>
              </a:spcBef>
              <a:spcAft>
                <a:spcPts val="0"/>
              </a:spcAft>
              <a:buClr>
                <a:schemeClr val="dk1"/>
              </a:buClr>
              <a:buSzPts val="1100"/>
              <a:buFont typeface="Inter"/>
              <a:buChar char="●"/>
            </a:pPr>
            <a:r>
              <a:rPr lang="en">
                <a:solidFill>
                  <a:schemeClr val="dk1"/>
                </a:solidFill>
                <a:latin typeface="Inter"/>
                <a:ea typeface="Inter"/>
                <a:cs typeface="Inter"/>
                <a:sym typeface="Inter"/>
              </a:rPr>
              <a:t>Put a dot where you think </a:t>
            </a:r>
            <a:r>
              <a:rPr lang="en" i="1">
                <a:solidFill>
                  <a:schemeClr val="dk1"/>
                </a:solidFill>
                <a:latin typeface="Inter"/>
                <a:ea typeface="Inter"/>
                <a:cs typeface="Inter"/>
                <a:sym typeface="Inter"/>
              </a:rPr>
              <a:t>your</a:t>
            </a:r>
            <a:r>
              <a:rPr lang="en">
                <a:solidFill>
                  <a:schemeClr val="dk1"/>
                </a:solidFill>
                <a:latin typeface="Inter"/>
                <a:ea typeface="Inter"/>
                <a:cs typeface="Inter"/>
                <a:sym typeface="Inter"/>
              </a:rPr>
              <a:t> stakeholder team lives today</a:t>
            </a:r>
            <a:endParaRPr>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Font typeface="Inter"/>
              <a:buChar char="●"/>
            </a:pPr>
            <a:r>
              <a:rPr lang="en">
                <a:solidFill>
                  <a:schemeClr val="dk1"/>
                </a:solidFill>
                <a:latin typeface="Inter"/>
                <a:ea typeface="Inter"/>
                <a:cs typeface="Inter"/>
                <a:sym typeface="Inter"/>
              </a:rPr>
              <a:t>Now put a second dot where you think they </a:t>
            </a:r>
            <a:r>
              <a:rPr lang="en" i="1">
                <a:solidFill>
                  <a:schemeClr val="dk1"/>
                </a:solidFill>
                <a:latin typeface="Inter"/>
                <a:ea typeface="Inter"/>
                <a:cs typeface="Inter"/>
                <a:sym typeface="Inter"/>
              </a:rPr>
              <a:t>could</a:t>
            </a:r>
            <a:r>
              <a:rPr lang="en">
                <a:solidFill>
                  <a:schemeClr val="dk1"/>
                </a:solidFill>
                <a:latin typeface="Inter"/>
                <a:ea typeface="Inter"/>
                <a:cs typeface="Inter"/>
                <a:sym typeface="Inter"/>
              </a:rPr>
              <a:t> be with the right support.</a:t>
            </a:r>
            <a:endParaRPr>
              <a:solidFill>
                <a:schemeClr val="dk1"/>
              </a:solidFill>
              <a:latin typeface="Inter"/>
              <a:ea typeface="Inter"/>
              <a:cs typeface="Inter"/>
              <a:sym typeface="Inter"/>
            </a:endParaRPr>
          </a:p>
          <a:p>
            <a:pPr marL="0" lvl="0" indent="0" algn="l" rtl="0">
              <a:spcBef>
                <a:spcPts val="1200"/>
              </a:spcBef>
              <a:spcAft>
                <a:spcPts val="0"/>
              </a:spcAft>
              <a:buNone/>
            </a:pPr>
            <a:r>
              <a:rPr lang="en">
                <a:solidFill>
                  <a:schemeClr val="dk1"/>
                </a:solidFill>
                <a:latin typeface="Inter"/>
                <a:ea typeface="Inter"/>
                <a:cs typeface="Inter"/>
                <a:sym typeface="Inter"/>
              </a:rPr>
              <a:t>Where do your contracting office peers usually fall on this spectrum? Why?</a:t>
            </a:r>
            <a:endParaRPr>
              <a:solidFill>
                <a:schemeClr val="dk1"/>
              </a:solidFill>
              <a:latin typeface="Inter"/>
              <a:ea typeface="Inter"/>
              <a:cs typeface="Inter"/>
              <a:sym typeface="Inter"/>
            </a:endParaRPr>
          </a:p>
          <a:p>
            <a:pPr marL="0" lvl="0" indent="0" algn="l" rtl="0">
              <a:spcBef>
                <a:spcPts val="0"/>
              </a:spcBef>
              <a:spcAft>
                <a:spcPts val="0"/>
              </a:spcAft>
              <a:buNone/>
            </a:pPr>
            <a:r>
              <a:rPr lang="en">
                <a:solidFill>
                  <a:schemeClr val="dk1"/>
                </a:solidFill>
                <a:latin typeface="Inter"/>
                <a:ea typeface="Inter"/>
                <a:cs typeface="Inter"/>
                <a:sym typeface="Inter"/>
              </a:rPr>
              <a:t>Have you seen them move over time—or under different leadership?”</a:t>
            </a:r>
            <a:br>
              <a:rPr lang="en">
                <a:solidFill>
                  <a:schemeClr val="dk1"/>
                </a:solidFill>
                <a:latin typeface="Inter"/>
                <a:ea typeface="Inter"/>
                <a:cs typeface="Inter"/>
                <a:sym typeface="Inter"/>
              </a:rPr>
            </a:br>
            <a:endParaRPr>
              <a:solidFill>
                <a:schemeClr val="dk1"/>
              </a:solidFill>
              <a:latin typeface="Inter"/>
              <a:ea typeface="Inter"/>
              <a:cs typeface="Inter"/>
              <a:sym typeface="Inter"/>
            </a:endParaRPr>
          </a:p>
          <a:p>
            <a:pPr marL="914400" lvl="1" indent="-298450" algn="l" rtl="0">
              <a:lnSpc>
                <a:spcPct val="115000"/>
              </a:lnSpc>
              <a:spcBef>
                <a:spcPts val="1200"/>
              </a:spcBef>
              <a:spcAft>
                <a:spcPts val="0"/>
              </a:spcAft>
              <a:buClr>
                <a:schemeClr val="dk1"/>
              </a:buClr>
              <a:buSzPts val="1100"/>
              <a:buFont typeface="Inter"/>
              <a:buChar char="○"/>
            </a:pPr>
            <a:r>
              <a:rPr lang="en">
                <a:solidFill>
                  <a:schemeClr val="dk1"/>
                </a:solidFill>
                <a:latin typeface="Inter"/>
                <a:ea typeface="Inter"/>
                <a:cs typeface="Inter"/>
                <a:sym typeface="Inter"/>
              </a:rPr>
              <a:t>Interest = how invested they are in the outcome</a:t>
            </a:r>
            <a:br>
              <a:rPr lang="en">
                <a:solidFill>
                  <a:schemeClr val="dk1"/>
                </a:solidFill>
                <a:latin typeface="Inter"/>
                <a:ea typeface="Inter"/>
                <a:cs typeface="Inter"/>
                <a:sym typeface="Inter"/>
              </a:rPr>
            </a:br>
            <a:endParaRPr>
              <a:solidFill>
                <a:schemeClr val="dk1"/>
              </a:solidFill>
              <a:latin typeface="Inter"/>
              <a:ea typeface="Inter"/>
              <a:cs typeface="Inter"/>
              <a:sym typeface="Inter"/>
            </a:endParaRPr>
          </a:p>
          <a:p>
            <a:pPr marL="0" lvl="0" indent="0" algn="l" rtl="0">
              <a:spcBef>
                <a:spcPts val="1200"/>
              </a:spcBef>
              <a:spcAft>
                <a:spcPts val="0"/>
              </a:spcAft>
              <a:buSzPts val="1100"/>
              <a:buNone/>
            </a:pPr>
            <a:endParaRPr>
              <a:solidFill>
                <a:schemeClr val="dk1"/>
              </a:solidFill>
              <a:latin typeface="Inter"/>
              <a:ea typeface="Inter"/>
              <a:cs typeface="Inter"/>
              <a:sym typeface="Inter"/>
            </a:endParaRPr>
          </a:p>
          <a:p>
            <a:pPr marL="0" lvl="0" indent="0" algn="l" rtl="0">
              <a:spcBef>
                <a:spcPts val="1200"/>
              </a:spcBef>
              <a:spcAft>
                <a:spcPts val="0"/>
              </a:spcAft>
              <a:buSzPts val="1100"/>
              <a:buNone/>
            </a:pPr>
            <a:endParaRPr sz="1200">
              <a:solidFill>
                <a:schemeClr val="dk1"/>
              </a:solidFill>
              <a:latin typeface="Inter"/>
              <a:ea typeface="Inter"/>
              <a:cs typeface="Inter"/>
              <a:sym typeface="Inter"/>
            </a:endParaRPr>
          </a:p>
          <a:p>
            <a:pPr marL="0" lvl="0" indent="0" algn="l" rtl="0">
              <a:spcBef>
                <a:spcPts val="1200"/>
              </a:spcBef>
              <a:spcAft>
                <a:spcPts val="0"/>
              </a:spcAft>
              <a:buSzPts val="1100"/>
              <a:buNone/>
            </a:pPr>
            <a:endParaRPr sz="1200">
              <a:solidFill>
                <a:schemeClr val="dk1"/>
              </a:solidFill>
              <a:latin typeface="Inter"/>
              <a:ea typeface="Inter"/>
              <a:cs typeface="Inter"/>
              <a:sym typeface="Inter"/>
            </a:endParaRPr>
          </a:p>
          <a:p>
            <a:pPr marL="0" lvl="0" indent="0" algn="l" rtl="0">
              <a:spcBef>
                <a:spcPts val="1200"/>
              </a:spcBef>
              <a:spcAft>
                <a:spcPts val="0"/>
              </a:spcAft>
              <a:buSzPts val="1100"/>
              <a:buNone/>
            </a:pPr>
            <a:endParaRPr sz="1200">
              <a:solidFill>
                <a:schemeClr val="dk1"/>
              </a:solidFill>
              <a:latin typeface="Inter"/>
              <a:ea typeface="Inter"/>
              <a:cs typeface="Inter"/>
              <a:sym typeface="Inter"/>
            </a:endParaRPr>
          </a:p>
          <a:p>
            <a:pPr marL="0" lvl="0" indent="0" algn="l" rtl="0">
              <a:spcBef>
                <a:spcPts val="1200"/>
              </a:spcBef>
              <a:spcAft>
                <a:spcPts val="1200"/>
              </a:spcAft>
              <a:buSzPts val="1100"/>
              <a:buNone/>
            </a:pPr>
            <a:endParaRPr>
              <a:latin typeface="Inter"/>
              <a:ea typeface="Inter"/>
              <a:cs typeface="Inter"/>
              <a:sym typeface="Inter"/>
            </a:endParaRPr>
          </a:p>
        </p:txBody>
      </p:sp>
      <p:sp>
        <p:nvSpPr>
          <p:cNvPr id="805" name="Google Shape;805;g33d17db61dd_1_88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33d17db61dd_1_888: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33d17db61dd_1_88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r>
              <a:rPr lang="en" sz="1200">
                <a:solidFill>
                  <a:schemeClr val="dk1"/>
                </a:solidFill>
                <a:latin typeface="Inter"/>
                <a:ea typeface="Inter"/>
                <a:cs typeface="Inter"/>
                <a:sym typeface="Inter"/>
              </a:rPr>
              <a:t> </a:t>
            </a:r>
            <a:endParaRPr sz="1200">
              <a:solidFill>
                <a:schemeClr val="dk1"/>
              </a:solidFill>
              <a:latin typeface="Inter"/>
              <a:ea typeface="Inter"/>
              <a:cs typeface="Inter"/>
              <a:sym typeface="Inter"/>
            </a:endParaRPr>
          </a:p>
          <a:p>
            <a:pPr marL="0" lvl="0" indent="0" algn="l" rtl="0">
              <a:spcBef>
                <a:spcPts val="1200"/>
              </a:spcBef>
              <a:spcAft>
                <a:spcPts val="0"/>
              </a:spcAft>
              <a:buSzPts val="1100"/>
              <a:buNone/>
            </a:pPr>
            <a:r>
              <a:rPr lang="en">
                <a:solidFill>
                  <a:schemeClr val="dk1"/>
                </a:solidFill>
                <a:latin typeface="Inter"/>
                <a:ea typeface="Inter"/>
                <a:cs typeface="Inter"/>
                <a:sym typeface="Inter"/>
              </a:rPr>
              <a:t>** This is a visual or chart for navigating no. Rebrand/updated this draft chart as needed. </a:t>
            </a:r>
            <a:endParaRPr sz="1200">
              <a:solidFill>
                <a:schemeClr val="dk1"/>
              </a:solidFill>
              <a:latin typeface="Inter"/>
              <a:ea typeface="Inter"/>
              <a:cs typeface="Inter"/>
              <a:sym typeface="Inter"/>
            </a:endParaRPr>
          </a:p>
          <a:p>
            <a:pPr marL="0" lvl="0" indent="0" algn="l" rtl="0">
              <a:spcBef>
                <a:spcPts val="1200"/>
              </a:spcBef>
              <a:spcAft>
                <a:spcPts val="0"/>
              </a:spcAft>
              <a:buClr>
                <a:schemeClr val="dk1"/>
              </a:buClr>
              <a:buSzPts val="1100"/>
              <a:buFont typeface="Arial"/>
              <a:buNone/>
            </a:pPr>
            <a:r>
              <a:rPr lang="en">
                <a:solidFill>
                  <a:srgbClr val="002F43"/>
                </a:solidFill>
                <a:latin typeface="Inter"/>
                <a:ea typeface="Inter"/>
                <a:cs typeface="Inter"/>
                <a:sym typeface="Inter"/>
              </a:rPr>
              <a:t>Building Buy-In &amp; Navigating ‘No’ (10 mins)</a:t>
            </a:r>
            <a:endParaRPr>
              <a:solidFill>
                <a:srgbClr val="002F43"/>
              </a:solidFill>
              <a:latin typeface="Inter"/>
              <a:ea typeface="Inter"/>
              <a:cs typeface="Inter"/>
              <a:sym typeface="Inter"/>
            </a:endParaRPr>
          </a:p>
          <a:p>
            <a:pPr marL="0" lvl="0" indent="0" algn="l" rtl="0">
              <a:spcBef>
                <a:spcPts val="0"/>
              </a:spcBef>
              <a:spcAft>
                <a:spcPts val="0"/>
              </a:spcAft>
              <a:buClr>
                <a:schemeClr val="dk1"/>
              </a:buClr>
              <a:buSzPts val="1100"/>
              <a:buFont typeface="Arial"/>
              <a:buNone/>
            </a:pPr>
            <a:endParaRPr>
              <a:solidFill>
                <a:schemeClr val="dk1"/>
              </a:solidFill>
              <a:latin typeface="Inter"/>
              <a:ea typeface="Inter"/>
              <a:cs typeface="Inter"/>
              <a:sym typeface="Inter"/>
            </a:endParaRPr>
          </a:p>
          <a:p>
            <a:pPr marL="0" lvl="0" indent="0" algn="l" rtl="0">
              <a:spcBef>
                <a:spcPts val="0"/>
              </a:spcBef>
              <a:spcAft>
                <a:spcPts val="0"/>
              </a:spcAft>
              <a:buClr>
                <a:schemeClr val="dk1"/>
              </a:buClr>
              <a:buSzPts val="1100"/>
              <a:buFont typeface="Arial"/>
              <a:buNone/>
            </a:pPr>
            <a:r>
              <a:rPr lang="en">
                <a:solidFill>
                  <a:schemeClr val="dk1"/>
                </a:solidFill>
                <a:latin typeface="Inter"/>
                <a:ea typeface="Inter"/>
                <a:cs typeface="Inter"/>
                <a:sym typeface="Inter"/>
              </a:rPr>
              <a:t>Think of a recent time someone pushed back on a new approach or idea. What did they </a:t>
            </a:r>
            <a:r>
              <a:rPr lang="en" i="1">
                <a:solidFill>
                  <a:schemeClr val="dk1"/>
                </a:solidFill>
                <a:latin typeface="Inter"/>
                <a:ea typeface="Inter"/>
                <a:cs typeface="Inter"/>
                <a:sym typeface="Inter"/>
              </a:rPr>
              <a:t>actually</a:t>
            </a:r>
            <a:r>
              <a:rPr lang="en">
                <a:solidFill>
                  <a:schemeClr val="dk1"/>
                </a:solidFill>
                <a:latin typeface="Inter"/>
                <a:ea typeface="Inter"/>
                <a:cs typeface="Inter"/>
                <a:sym typeface="Inter"/>
              </a:rPr>
              <a:t> say—and what do you think was really behind it?</a:t>
            </a:r>
            <a:endParaRPr>
              <a:solidFill>
                <a:srgbClr val="002F43"/>
              </a:solidFill>
              <a:latin typeface="Inter"/>
              <a:ea typeface="Inter"/>
              <a:cs typeface="Inter"/>
              <a:sym typeface="Inter"/>
            </a:endParaRPr>
          </a:p>
          <a:p>
            <a:pPr marL="0" lvl="0" indent="0" algn="l" rtl="0">
              <a:spcBef>
                <a:spcPts val="0"/>
              </a:spcBef>
              <a:spcAft>
                <a:spcPts val="0"/>
              </a:spcAft>
              <a:buClr>
                <a:schemeClr val="dk1"/>
              </a:buClr>
              <a:buSzPts val="1100"/>
              <a:buFont typeface="Arial"/>
              <a:buNone/>
            </a:pPr>
            <a:r>
              <a:rPr lang="en">
                <a:solidFill>
                  <a:schemeClr val="dk1"/>
                </a:solidFill>
                <a:latin typeface="Inter"/>
                <a:ea typeface="Inter"/>
                <a:cs typeface="Inter"/>
                <a:sym typeface="Inter"/>
              </a:rPr>
              <a:t>It's a process — sometimes it takes multiple meetings to shift a “no” to a “yes.”</a:t>
            </a:r>
            <a:endParaRPr>
              <a:solidFill>
                <a:schemeClr val="dk1"/>
              </a:solidFill>
              <a:latin typeface="Inter"/>
              <a:ea typeface="Inter"/>
              <a:cs typeface="Inter"/>
              <a:sym typeface="Inter"/>
            </a:endParaRPr>
          </a:p>
          <a:p>
            <a:pPr marL="0" lvl="0" indent="0" algn="l" rtl="0">
              <a:spcBef>
                <a:spcPts val="0"/>
              </a:spcBef>
              <a:spcAft>
                <a:spcPts val="0"/>
              </a:spcAft>
              <a:buClr>
                <a:schemeClr val="dk1"/>
              </a:buClr>
              <a:buSzPts val="1100"/>
              <a:buFont typeface="Arial"/>
              <a:buNone/>
            </a:pPr>
            <a:r>
              <a:rPr lang="en">
                <a:solidFill>
                  <a:schemeClr val="dk1"/>
                </a:solidFill>
                <a:latin typeface="Inter"/>
                <a:ea typeface="Inter"/>
                <a:cs typeface="Inter"/>
                <a:sym typeface="Inter"/>
              </a:rPr>
              <a:t> Walk through one or two examples using this chart. Let people see that most objections are driven by fear—not logic—and that they can respond with empathy + a strategy.</a:t>
            </a:r>
            <a:endParaRPr>
              <a:solidFill>
                <a:schemeClr val="dk1"/>
              </a:solidFill>
              <a:latin typeface="Inter"/>
              <a:ea typeface="Inter"/>
              <a:cs typeface="Inter"/>
              <a:sym typeface="Inter"/>
            </a:endParaRPr>
          </a:p>
          <a:p>
            <a:pPr marL="0" lvl="0" indent="0" algn="l" rtl="0">
              <a:spcBef>
                <a:spcPts val="0"/>
              </a:spcBef>
              <a:spcAft>
                <a:spcPts val="0"/>
              </a:spcAft>
              <a:buClr>
                <a:schemeClr val="dk1"/>
              </a:buClr>
              <a:buSzPts val="1100"/>
              <a:buFont typeface="Arial"/>
              <a:buNone/>
            </a:pPr>
            <a:r>
              <a:rPr lang="en">
                <a:solidFill>
                  <a:srgbClr val="002F43"/>
                </a:solidFill>
                <a:latin typeface="Inter"/>
                <a:ea typeface="Inter"/>
                <a:cs typeface="Inter"/>
                <a:sym typeface="Inter"/>
              </a:rPr>
              <a:t>Introduce objection-handling tools: Five Whys, influence strategies</a:t>
            </a:r>
            <a:endParaRPr>
              <a:solidFill>
                <a:srgbClr val="002F43"/>
              </a:solidFill>
              <a:latin typeface="Inter"/>
              <a:ea typeface="Inter"/>
              <a:cs typeface="Inter"/>
              <a:sym typeface="Inter"/>
            </a:endParaRPr>
          </a:p>
          <a:p>
            <a:pPr marL="0" lvl="0" indent="0" algn="l" rtl="0">
              <a:spcBef>
                <a:spcPts val="0"/>
              </a:spcBef>
              <a:spcAft>
                <a:spcPts val="0"/>
              </a:spcAft>
              <a:buClr>
                <a:schemeClr val="dk1"/>
              </a:buClr>
              <a:buSzPts val="1100"/>
              <a:buFont typeface="Arial"/>
              <a:buNone/>
            </a:pPr>
            <a:endParaRPr>
              <a:solidFill>
                <a:srgbClr val="002F43"/>
              </a:solidFill>
              <a:latin typeface="Inter"/>
              <a:ea typeface="Inter"/>
              <a:cs typeface="Inter"/>
              <a:sym typeface="Inter"/>
            </a:endParaRPr>
          </a:p>
          <a:p>
            <a:pPr marL="0" lvl="0" indent="0" algn="l" rtl="0">
              <a:spcBef>
                <a:spcPts val="0"/>
              </a:spcBef>
              <a:spcAft>
                <a:spcPts val="0"/>
              </a:spcAft>
              <a:buClr>
                <a:schemeClr val="dk1"/>
              </a:buClr>
              <a:buSzPts val="1100"/>
              <a:buFont typeface="Arial"/>
              <a:buNone/>
            </a:pPr>
            <a:r>
              <a:rPr lang="en">
                <a:solidFill>
                  <a:srgbClr val="002F43"/>
                </a:solidFill>
                <a:latin typeface="Inter"/>
                <a:ea typeface="Inter"/>
                <a:cs typeface="Inter"/>
                <a:sym typeface="Inter"/>
              </a:rPr>
              <a:t>Activity (Categorization Exercise):</a:t>
            </a:r>
            <a:br>
              <a:rPr lang="en">
                <a:solidFill>
                  <a:srgbClr val="002F43"/>
                </a:solidFill>
                <a:latin typeface="Inter"/>
                <a:ea typeface="Inter"/>
                <a:cs typeface="Inter"/>
                <a:sym typeface="Inter"/>
              </a:rPr>
            </a:br>
            <a:r>
              <a:rPr lang="en">
                <a:solidFill>
                  <a:schemeClr val="dk1"/>
                </a:solidFill>
                <a:latin typeface="Inter"/>
                <a:ea typeface="Inter"/>
                <a:cs typeface="Inter"/>
                <a:sym typeface="Inter"/>
              </a:rPr>
              <a:t> “Sort” stakeholders into: A) No forever  B) Maybe with more info and C) Already onboard</a:t>
            </a:r>
            <a:br>
              <a:rPr lang="en">
                <a:solidFill>
                  <a:schemeClr val="dk1"/>
                </a:solidFill>
              </a:rPr>
            </a:br>
            <a:br>
              <a:rPr lang="en">
                <a:solidFill>
                  <a:srgbClr val="002F43"/>
                </a:solidFill>
              </a:rPr>
            </a:br>
            <a:endParaRPr b="1">
              <a:solidFill>
                <a:srgbClr val="002F43"/>
              </a:solidFill>
            </a:endParaRPr>
          </a:p>
          <a:p>
            <a:pPr marL="0" lvl="0" indent="0" algn="l" rtl="0">
              <a:spcBef>
                <a:spcPts val="0"/>
              </a:spcBef>
              <a:spcAft>
                <a:spcPts val="0"/>
              </a:spcAft>
              <a:buNone/>
            </a:pPr>
            <a:br>
              <a:rPr lang="en">
                <a:solidFill>
                  <a:schemeClr val="dk1"/>
                </a:solidFill>
                <a:latin typeface="Inter"/>
                <a:ea typeface="Inter"/>
                <a:cs typeface="Inter"/>
                <a:sym typeface="Inter"/>
              </a:rPr>
            </a:br>
            <a:endParaRPr>
              <a:solidFill>
                <a:schemeClr val="dk1"/>
              </a:solidFill>
              <a:latin typeface="Inter"/>
              <a:ea typeface="Inter"/>
              <a:cs typeface="Inter"/>
              <a:sym typeface="Inter"/>
            </a:endParaRPr>
          </a:p>
          <a:p>
            <a:pPr marL="914400" lvl="1" indent="-298450" algn="l" rtl="0">
              <a:lnSpc>
                <a:spcPct val="115000"/>
              </a:lnSpc>
              <a:spcBef>
                <a:spcPts val="1200"/>
              </a:spcBef>
              <a:spcAft>
                <a:spcPts val="0"/>
              </a:spcAft>
              <a:buClr>
                <a:schemeClr val="dk1"/>
              </a:buClr>
              <a:buSzPts val="1100"/>
              <a:buFont typeface="Inter"/>
              <a:buChar char="○"/>
            </a:pPr>
            <a:r>
              <a:rPr lang="en">
                <a:solidFill>
                  <a:schemeClr val="dk1"/>
                </a:solidFill>
                <a:latin typeface="Inter"/>
                <a:ea typeface="Inter"/>
                <a:cs typeface="Inter"/>
                <a:sym typeface="Inter"/>
              </a:rPr>
              <a:t>Interest = how invested they are in the outcome</a:t>
            </a:r>
            <a:br>
              <a:rPr lang="en">
                <a:solidFill>
                  <a:schemeClr val="dk1"/>
                </a:solidFill>
                <a:latin typeface="Inter"/>
                <a:ea typeface="Inter"/>
                <a:cs typeface="Inter"/>
                <a:sym typeface="Inter"/>
              </a:rPr>
            </a:br>
            <a:endParaRPr>
              <a:solidFill>
                <a:schemeClr val="dk1"/>
              </a:solidFill>
              <a:latin typeface="Inter"/>
              <a:ea typeface="Inter"/>
              <a:cs typeface="Inter"/>
              <a:sym typeface="Inter"/>
            </a:endParaRPr>
          </a:p>
          <a:p>
            <a:pPr marL="0" lvl="0" indent="0" algn="l" rtl="0">
              <a:spcBef>
                <a:spcPts val="1200"/>
              </a:spcBef>
              <a:spcAft>
                <a:spcPts val="0"/>
              </a:spcAft>
              <a:buSzPts val="1100"/>
              <a:buNone/>
            </a:pPr>
            <a:endParaRPr>
              <a:solidFill>
                <a:schemeClr val="dk1"/>
              </a:solidFill>
              <a:latin typeface="Inter"/>
              <a:ea typeface="Inter"/>
              <a:cs typeface="Inter"/>
              <a:sym typeface="Inter"/>
            </a:endParaRPr>
          </a:p>
          <a:p>
            <a:pPr marL="0" lvl="0" indent="0" algn="l" rtl="0">
              <a:spcBef>
                <a:spcPts val="1200"/>
              </a:spcBef>
              <a:spcAft>
                <a:spcPts val="0"/>
              </a:spcAft>
              <a:buSzPts val="1100"/>
              <a:buNone/>
            </a:pPr>
            <a:endParaRPr sz="1200">
              <a:solidFill>
                <a:schemeClr val="dk1"/>
              </a:solidFill>
              <a:latin typeface="Inter"/>
              <a:ea typeface="Inter"/>
              <a:cs typeface="Inter"/>
              <a:sym typeface="Inter"/>
            </a:endParaRPr>
          </a:p>
          <a:p>
            <a:pPr marL="0" lvl="0" indent="0" algn="l" rtl="0">
              <a:spcBef>
                <a:spcPts val="1200"/>
              </a:spcBef>
              <a:spcAft>
                <a:spcPts val="0"/>
              </a:spcAft>
              <a:buSzPts val="1100"/>
              <a:buNone/>
            </a:pPr>
            <a:endParaRPr sz="1200">
              <a:solidFill>
                <a:schemeClr val="dk1"/>
              </a:solidFill>
              <a:latin typeface="Inter"/>
              <a:ea typeface="Inter"/>
              <a:cs typeface="Inter"/>
              <a:sym typeface="Inter"/>
            </a:endParaRPr>
          </a:p>
          <a:p>
            <a:pPr marL="0" lvl="0" indent="0" algn="l" rtl="0">
              <a:spcBef>
                <a:spcPts val="1200"/>
              </a:spcBef>
              <a:spcAft>
                <a:spcPts val="0"/>
              </a:spcAft>
              <a:buSzPts val="1100"/>
              <a:buNone/>
            </a:pPr>
            <a:endParaRPr sz="1200">
              <a:solidFill>
                <a:schemeClr val="dk1"/>
              </a:solidFill>
              <a:latin typeface="Inter"/>
              <a:ea typeface="Inter"/>
              <a:cs typeface="Inter"/>
              <a:sym typeface="Inter"/>
            </a:endParaRPr>
          </a:p>
          <a:p>
            <a:pPr marL="0" lvl="0" indent="0" algn="l" rtl="0">
              <a:spcBef>
                <a:spcPts val="1200"/>
              </a:spcBef>
              <a:spcAft>
                <a:spcPts val="1200"/>
              </a:spcAft>
              <a:buSzPts val="1100"/>
              <a:buNone/>
            </a:pPr>
            <a:endParaRPr>
              <a:latin typeface="Inter"/>
              <a:ea typeface="Inter"/>
              <a:cs typeface="Inter"/>
              <a:sym typeface="Inter"/>
            </a:endParaRPr>
          </a:p>
        </p:txBody>
      </p:sp>
      <p:sp>
        <p:nvSpPr>
          <p:cNvPr id="813" name="Google Shape;813;g33d17db61dd_1_88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36c6a56a9d1_0_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36c6a56a9d1_0_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Speaker Notes:</a:t>
            </a:r>
            <a:endParaRPr/>
          </a:p>
          <a:p>
            <a:pPr marL="0" lvl="0" indent="0" algn="l" rtl="0">
              <a:spcBef>
                <a:spcPts val="0"/>
              </a:spcBef>
              <a:spcAft>
                <a:spcPts val="0"/>
              </a:spcAft>
              <a:buNone/>
            </a:pPr>
            <a:r>
              <a:rPr lang="en"/>
              <a:t> Many government teams—and their partners—contribute to advancing digital delivery. These groups create resources, prototypes, and momentum for modern practices.</a:t>
            </a:r>
            <a:endParaRPr/>
          </a:p>
        </p:txBody>
      </p:sp>
      <p:sp>
        <p:nvSpPr>
          <p:cNvPr id="821" name="Google Shape;821;g36c6a56a9d1_0_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33d17db61dd_1_79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33d17db61dd_1_79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r>
              <a:rPr lang="en">
                <a:solidFill>
                  <a:schemeClr val="dk1"/>
                </a:solidFill>
                <a:latin typeface="Open Sans"/>
                <a:ea typeface="Open Sans"/>
                <a:cs typeface="Open Sans"/>
                <a:sym typeface="Open Sans"/>
              </a:rPr>
              <a:t>This is an optional activity that supports digital service acquisition professionals in practicing how to influence key stakeholders in legal, governance, and leadership roles. Scenarios reflect real-world, bureaucratic challenges that arise when advocating for non-traditional, user-centered procurement strategies. The emphasis is on developing strategies to navigate resistance and promote iterative, mission-aligned solutions.</a:t>
            </a:r>
            <a:endParaRPr>
              <a:solidFill>
                <a:schemeClr val="dk1"/>
              </a:solidFill>
              <a:latin typeface="Open Sans"/>
              <a:ea typeface="Open Sans"/>
              <a:cs typeface="Open Sans"/>
              <a:sym typeface="Open Sans"/>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830" name="Google Shape;830;g33d17db61dd_1_79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33d17db61dd_1_80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8" name="Google Shape;838;g33d17db61dd_1_80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r>
              <a:rPr lang="en">
                <a:solidFill>
                  <a:schemeClr val="dk1"/>
                </a:solidFill>
                <a:latin typeface="Open Sans"/>
                <a:ea typeface="Open Sans"/>
                <a:cs typeface="Open Sans"/>
                <a:sym typeface="Open Sans"/>
              </a:rPr>
              <a:t>This is an optional activity that supports digital service acquisition professionals in practicing how to influence key stakeholders in legal, governance, and leadership roles. Scenarios reflect real-world, bureaucratic challenges that arise when advocating for non-traditional, user-centered procurement strategies. The emphasis is on developing strategies to navigate resistance and promote iterative, mission-aligned solutions.</a:t>
            </a:r>
            <a:endParaRPr>
              <a:solidFill>
                <a:schemeClr val="dk1"/>
              </a:solidFill>
              <a:latin typeface="Open Sans"/>
              <a:ea typeface="Open Sans"/>
              <a:cs typeface="Open Sans"/>
              <a:sym typeface="Open Sans"/>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839" name="Google Shape;839;g33d17db61dd_1_80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727f49010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7" name="Google Shape;847;g3727f49010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33d17db61dd_1_896: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33d17db61dd_1_89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r>
              <a:rPr lang="en">
                <a:solidFill>
                  <a:schemeClr val="dk1"/>
                </a:solidFill>
                <a:latin typeface="Open Sans"/>
                <a:ea typeface="Open Sans"/>
                <a:cs typeface="Open Sans"/>
                <a:sym typeface="Open Sans"/>
              </a:rPr>
              <a:t>This assignment will allow you to build your skills in stakeholder engagement, influence, and agency change readiness by identifying and interviewing real decision-makers at your agency.</a:t>
            </a:r>
            <a:endParaRPr>
              <a:solidFill>
                <a:schemeClr val="dk1"/>
              </a:solidFill>
              <a:latin typeface="Open Sans"/>
              <a:ea typeface="Open Sans"/>
              <a:cs typeface="Open Sans"/>
              <a:sym typeface="Open Sans"/>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853" name="Google Shape;853;g33d17db61dd_1_89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33d17db61dd_1_908: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33d17db61dd_1_90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r>
              <a:rPr lang="en">
                <a:solidFill>
                  <a:schemeClr val="dk1"/>
                </a:solidFill>
                <a:latin typeface="Open Sans"/>
                <a:ea typeface="Open Sans"/>
                <a:cs typeface="Open Sans"/>
                <a:sym typeface="Open Sans"/>
              </a:rPr>
              <a:t>This assignment will allow you to build your skills in stakeholder engagement, influence, and agency change readiness by identifying and interviewing real decision-makers at your agency.</a:t>
            </a:r>
            <a:endParaRPr>
              <a:solidFill>
                <a:schemeClr val="dk1"/>
              </a:solidFill>
              <a:latin typeface="Open Sans"/>
              <a:ea typeface="Open Sans"/>
              <a:cs typeface="Open Sans"/>
              <a:sym typeface="Open Sans"/>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862" name="Google Shape;862;g33d17db61dd_1_90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33d17db61dd_1_6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33d17db61dd_1_6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33d17db61dd_1_924: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g33d17db61dd_1_92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877" name="Google Shape;877;g33d17db61dd_1_92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33d17db61dd_1_93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33d17db61dd_1_93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These are our objectives for today. </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886" name="Google Shape;886;g33d17db61dd_1_93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33d38197d8d_0_8: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33d38197d8d_0_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Keyframing Before You Begin (2–3 min):</a:t>
            </a:r>
            <a:endParaRPr>
              <a:solidFill>
                <a:schemeClr val="dk1"/>
              </a:solidFill>
              <a:latin typeface="Open Sans"/>
              <a:ea typeface="Open Sans"/>
              <a:cs typeface="Open Sans"/>
              <a:sym typeface="Open Sans"/>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private sector, ROI means profit. But in government, the true ‘return’ is mission impact. Today we’ll practice using AI to translate a product vision into something more meaningful—a Return on Mission and metrics that help us measure real outcomes.”</a:t>
            </a:r>
            <a:endParaRPr>
              <a:solidFill>
                <a:schemeClr val="dk1"/>
              </a:solidFill>
              <a:latin typeface="Open Sans"/>
              <a:ea typeface="Open Sans"/>
              <a:cs typeface="Open Sans"/>
              <a:sym typeface="Open Sans"/>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latin typeface="Open Sans"/>
                <a:ea typeface="Open Sans"/>
                <a:cs typeface="Open Sans"/>
                <a:sym typeface="Open Sans"/>
              </a:rPr>
              <a:t>Emphasize:</a:t>
            </a:r>
            <a:endParaRPr>
              <a:solidFill>
                <a:schemeClr val="dk1"/>
              </a:solidFill>
              <a:latin typeface="Open Sans"/>
              <a:ea typeface="Open Sans"/>
              <a:cs typeface="Open Sans"/>
              <a:sym typeface="Open Sans"/>
            </a:endParaRPr>
          </a:p>
          <a:p>
            <a:pPr marL="457200" lvl="0" indent="-298450" algn="l" rtl="0">
              <a:lnSpc>
                <a:spcPct val="115000"/>
              </a:lnSpc>
              <a:spcBef>
                <a:spcPts val="1200"/>
              </a:spcBef>
              <a:spcAft>
                <a:spcPts val="0"/>
              </a:spcAft>
              <a:buClr>
                <a:schemeClr val="dk1"/>
              </a:buClr>
              <a:buSzPts val="1100"/>
              <a:buFont typeface="Nunito"/>
              <a:buChar char="●"/>
            </a:pPr>
            <a:r>
              <a:rPr lang="en">
                <a:solidFill>
                  <a:schemeClr val="dk1"/>
                </a:solidFill>
                <a:latin typeface="Open Sans"/>
                <a:ea typeface="Open Sans"/>
                <a:cs typeface="Open Sans"/>
                <a:sym typeface="Open Sans"/>
              </a:rPr>
              <a:t>RoM is not fluff—it’s what helps justify strategy decisions to reviewers and stakeholders.</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We want to move beyond compliance metrics and into public value and mission impact.</a:t>
            </a:r>
            <a:endParaRPr>
              <a:solidFill>
                <a:schemeClr val="dk1"/>
              </a:solidFill>
              <a:latin typeface="Open Sans"/>
              <a:ea typeface="Open Sans"/>
              <a:cs typeface="Open Sans"/>
              <a:sym typeface="Open Sans"/>
            </a:endParaRPr>
          </a:p>
          <a:p>
            <a:pPr marL="0" lvl="0" indent="0" algn="l" rtl="0">
              <a:spcBef>
                <a:spcPts val="1200"/>
              </a:spcBef>
              <a:spcAft>
                <a:spcPts val="0"/>
              </a:spcAft>
              <a:buNone/>
            </a:pPr>
            <a:r>
              <a:rPr lang="en" b="1">
                <a:solidFill>
                  <a:schemeClr val="dk1"/>
                </a:solidFill>
                <a:latin typeface="Nunito"/>
                <a:ea typeface="Nunito"/>
                <a:cs typeface="Nunito"/>
                <a:sym typeface="Nunito"/>
              </a:rPr>
              <a:t>During the Activity (10 min): </a:t>
            </a:r>
            <a:endParaRPr>
              <a:solidFill>
                <a:schemeClr val="dk1"/>
              </a:solidFill>
              <a:latin typeface="Nunito"/>
              <a:ea typeface="Nunito"/>
              <a:cs typeface="Nunito"/>
              <a:sym typeface="Nunito"/>
            </a:endParaRPr>
          </a:p>
          <a:p>
            <a:pPr marL="0" lvl="0" indent="0" algn="l" rtl="0">
              <a:spcBef>
                <a:spcPts val="600"/>
              </a:spcBef>
              <a:spcAft>
                <a:spcPts val="0"/>
              </a:spcAft>
              <a:buNone/>
            </a:pPr>
            <a:r>
              <a:rPr lang="en">
                <a:solidFill>
                  <a:schemeClr val="dk1"/>
                </a:solidFill>
                <a:latin typeface="Nunito"/>
                <a:ea typeface="Nunito"/>
                <a:cs typeface="Nunito"/>
                <a:sym typeface="Nunito"/>
              </a:rPr>
              <a:t>Use these to guide discussion after the activity:</a:t>
            </a:r>
            <a:endParaRPr>
              <a:solidFill>
                <a:schemeClr val="dk1"/>
              </a:solidFill>
              <a:latin typeface="Nunito"/>
              <a:ea typeface="Nunito"/>
              <a:cs typeface="Nunito"/>
              <a:sym typeface="Nunito"/>
            </a:endParaRPr>
          </a:p>
          <a:p>
            <a:pPr marL="457200" lvl="0" indent="-298450" algn="l" rtl="0">
              <a:lnSpc>
                <a:spcPct val="115000"/>
              </a:lnSpc>
              <a:spcBef>
                <a:spcPts val="2400"/>
              </a:spcBef>
              <a:spcAft>
                <a:spcPts val="0"/>
              </a:spcAft>
              <a:buClr>
                <a:schemeClr val="dk1"/>
              </a:buClr>
              <a:buSzPts val="1100"/>
              <a:buFont typeface="Nunito"/>
              <a:buChar char="●"/>
            </a:pPr>
            <a:r>
              <a:rPr lang="en">
                <a:solidFill>
                  <a:schemeClr val="dk1"/>
                </a:solidFill>
                <a:latin typeface="Nunito"/>
                <a:ea typeface="Nunito"/>
                <a:cs typeface="Nunito"/>
                <a:sym typeface="Nunito"/>
              </a:rPr>
              <a:t>What stood out to you about how the AI described the mission impact?</a:t>
            </a:r>
            <a:endParaRPr>
              <a:solidFill>
                <a:schemeClr val="dk1"/>
              </a:solidFill>
              <a:latin typeface="Nunito"/>
              <a:ea typeface="Nunito"/>
              <a:cs typeface="Nunito"/>
              <a:sym typeface="Nunito"/>
            </a:endParaRPr>
          </a:p>
          <a:p>
            <a:pPr marL="457200" lvl="0" indent="-298450" algn="l" rtl="0">
              <a:lnSpc>
                <a:spcPct val="115000"/>
              </a:lnSpc>
              <a:spcBef>
                <a:spcPts val="0"/>
              </a:spcBef>
              <a:spcAft>
                <a:spcPts val="0"/>
              </a:spcAft>
              <a:buClr>
                <a:schemeClr val="dk1"/>
              </a:buClr>
              <a:buSzPts val="1100"/>
              <a:buFont typeface="Nunito"/>
              <a:buChar char="●"/>
            </a:pPr>
            <a:r>
              <a:rPr lang="en">
                <a:solidFill>
                  <a:schemeClr val="dk1"/>
                </a:solidFill>
                <a:latin typeface="Nunito"/>
                <a:ea typeface="Nunito"/>
                <a:cs typeface="Nunito"/>
                <a:sym typeface="Nunito"/>
              </a:rPr>
              <a:t>Did the metrics it generated feel relevant and actionable for a procurement?</a:t>
            </a:r>
            <a:endParaRPr>
              <a:solidFill>
                <a:schemeClr val="dk1"/>
              </a:solidFill>
              <a:latin typeface="Nunito"/>
              <a:ea typeface="Nunito"/>
              <a:cs typeface="Nunito"/>
              <a:sym typeface="Nunito"/>
            </a:endParaRPr>
          </a:p>
          <a:p>
            <a:pPr marL="457200" lvl="0" indent="-298450" algn="l" rtl="0">
              <a:lnSpc>
                <a:spcPct val="115000"/>
              </a:lnSpc>
              <a:spcBef>
                <a:spcPts val="0"/>
              </a:spcBef>
              <a:spcAft>
                <a:spcPts val="0"/>
              </a:spcAft>
              <a:buClr>
                <a:schemeClr val="dk1"/>
              </a:buClr>
              <a:buSzPts val="1100"/>
              <a:buFont typeface="Nunito"/>
              <a:buChar char="●"/>
            </a:pPr>
            <a:r>
              <a:rPr lang="en">
                <a:solidFill>
                  <a:schemeClr val="dk1"/>
                </a:solidFill>
                <a:latin typeface="Nunito"/>
                <a:ea typeface="Nunito"/>
                <a:cs typeface="Nunito"/>
                <a:sym typeface="Nunito"/>
              </a:rPr>
              <a:t>How might you improve the prompt to get better results?</a:t>
            </a:r>
            <a:endParaRPr>
              <a:solidFill>
                <a:schemeClr val="dk1"/>
              </a:solidFill>
              <a:latin typeface="Nunito"/>
              <a:ea typeface="Nunito"/>
              <a:cs typeface="Nunito"/>
              <a:sym typeface="Nunito"/>
            </a:endParaRPr>
          </a:p>
          <a:p>
            <a:pPr marL="457200" lvl="0" indent="-298450" algn="l" rtl="0">
              <a:lnSpc>
                <a:spcPct val="115000"/>
              </a:lnSpc>
              <a:spcBef>
                <a:spcPts val="0"/>
              </a:spcBef>
              <a:spcAft>
                <a:spcPts val="0"/>
              </a:spcAft>
              <a:buClr>
                <a:schemeClr val="dk1"/>
              </a:buClr>
              <a:buSzPts val="1100"/>
              <a:buFont typeface="Nunito"/>
              <a:buChar char="●"/>
            </a:pPr>
            <a:r>
              <a:rPr lang="en">
                <a:solidFill>
                  <a:schemeClr val="dk1"/>
                </a:solidFill>
                <a:latin typeface="Nunito"/>
                <a:ea typeface="Nunito"/>
                <a:cs typeface="Nunito"/>
                <a:sym typeface="Nunito"/>
              </a:rPr>
              <a:t>How can you use this type of exercise to accelerate collaboration with CORs or Program teams?</a:t>
            </a:r>
            <a:endParaRPr>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r>
              <a:rPr lang="en" b="1">
                <a:solidFill>
                  <a:schemeClr val="dk1"/>
                </a:solidFill>
                <a:latin typeface="Nunito"/>
                <a:ea typeface="Nunito"/>
                <a:cs typeface="Nunito"/>
                <a:sym typeface="Nunito"/>
              </a:rPr>
              <a:t>Closing Remark:</a:t>
            </a:r>
            <a:endParaRPr b="1">
              <a:solidFill>
                <a:schemeClr val="dk1"/>
              </a:solidFill>
              <a:latin typeface="Nunito"/>
              <a:ea typeface="Nunito"/>
              <a:cs typeface="Nunito"/>
              <a:sym typeface="Nunito"/>
            </a:endParaRPr>
          </a:p>
          <a:p>
            <a:pPr marL="381000" marR="381000" lvl="0" indent="0" algn="l" rtl="0">
              <a:lnSpc>
                <a:spcPct val="115000"/>
              </a:lnSpc>
              <a:spcBef>
                <a:spcPts val="1200"/>
              </a:spcBef>
              <a:spcAft>
                <a:spcPts val="0"/>
              </a:spcAft>
              <a:buNone/>
            </a:pPr>
            <a:r>
              <a:rPr lang="en">
                <a:solidFill>
                  <a:schemeClr val="dk1"/>
                </a:solidFill>
                <a:latin typeface="Nunito"/>
                <a:ea typeface="Nunito"/>
                <a:cs typeface="Nunito"/>
                <a:sym typeface="Nunito"/>
              </a:rPr>
              <a:t>“When we center acquisition strategies around Return on Mission, we not only build better contracts—we build better outcomes for the people we serve.”</a:t>
            </a:r>
            <a:endParaRPr>
              <a:solidFill>
                <a:schemeClr val="dk1"/>
              </a:solidFill>
              <a:latin typeface="Nunito"/>
              <a:ea typeface="Nunito"/>
              <a:cs typeface="Nunito"/>
              <a:sym typeface="Nunito"/>
            </a:endParaRPr>
          </a:p>
          <a:p>
            <a:pPr marL="0" lvl="0" indent="0" algn="l" rtl="0">
              <a:spcBef>
                <a:spcPts val="1200"/>
              </a:spcBef>
              <a:spcAft>
                <a:spcPts val="0"/>
              </a:spcAft>
              <a:buSzPts val="1100"/>
              <a:buNone/>
            </a:pPr>
            <a:endParaRPr sz="1000">
              <a:solidFill>
                <a:schemeClr val="dk1"/>
              </a:solidFill>
              <a:latin typeface="Open Sans"/>
              <a:ea typeface="Open Sans"/>
              <a:cs typeface="Open Sans"/>
              <a:sym typeface="Open Sans"/>
            </a:endParaRPr>
          </a:p>
          <a:p>
            <a:pPr marL="0" lvl="0" indent="0" algn="l" rtl="0">
              <a:spcBef>
                <a:spcPts val="1200"/>
              </a:spcBef>
              <a:spcAft>
                <a:spcPts val="0"/>
              </a:spcAft>
              <a:buSzPts val="1100"/>
              <a:buNone/>
            </a:pPr>
            <a:endParaRPr>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sz="1000"/>
          </a:p>
        </p:txBody>
      </p:sp>
      <p:sp>
        <p:nvSpPr>
          <p:cNvPr id="898" name="Google Shape;898;g33d38197d8d_0_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33d38197d8d_0_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33d38197d8d_0_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Nunito"/>
              <a:ea typeface="Nunito"/>
              <a:cs typeface="Nunito"/>
              <a:sym typeface="Nunito"/>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Acq-A-thon is a collaborative, hands-on approach to acquisition planning designed to get everyone aligned early.</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Too often, acquisition planning happens in silos—program offices do their part, contracting does theirs, and only later do gaps, risks, or misunderstandings surface. The Acq-A-thon flips that model.</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It’s inspired by hackathons in the tech world—fast-paced, problem-solving sessions—but instead of writing code, stakeholders come together to clarify needs, explore constraints, and co-create smarter strategies.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While we won’t be running an Acq-A-thon in this course, we want you to know this is a tool you can use back in your agency. I’ll walk you through:</a:t>
            </a:r>
            <a:endParaRPr sz="1200">
              <a:solidFill>
                <a:schemeClr val="dk1"/>
              </a:solidFill>
              <a:latin typeface="Calibri"/>
              <a:ea typeface="Calibri"/>
              <a:cs typeface="Calibri"/>
              <a:sym typeface="Calibri"/>
            </a:endParaRPr>
          </a:p>
          <a:p>
            <a:pPr marL="457200" lvl="0" indent="-298450" algn="l" rtl="0">
              <a:lnSpc>
                <a:spcPct val="115000"/>
              </a:lnSpc>
              <a:spcBef>
                <a:spcPts val="1200"/>
              </a:spcBef>
              <a:spcAft>
                <a:spcPts val="0"/>
              </a:spcAft>
              <a:buClr>
                <a:schemeClr val="dk1"/>
              </a:buClr>
              <a:buSzPts val="1100"/>
              <a:buChar char="●"/>
            </a:pPr>
            <a:r>
              <a:rPr lang="en" sz="1200">
                <a:solidFill>
                  <a:schemeClr val="dk1"/>
                </a:solidFill>
                <a:latin typeface="Calibri"/>
                <a:ea typeface="Calibri"/>
                <a:cs typeface="Calibri"/>
                <a:sym typeface="Calibri"/>
              </a:rPr>
              <a:t>The purpose and goals of an Acq-A-thon</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What typically happens during one</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Who should be involved</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The kinds of outcomes you can expect</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As you listen, think about how you might adapt this model—formally or in a lightweight version—for your own projects. This is about giving you another tool in your acquisition toolbox to help you plan more effectively and collaboratively.</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Clr>
                <a:schemeClr val="dk1"/>
              </a:buClr>
              <a:buSzPts val="1100"/>
              <a:buFont typeface="Arial"/>
              <a:buNone/>
            </a:pPr>
            <a:endParaRPr sz="1200">
              <a:solidFill>
                <a:schemeClr val="dk1"/>
              </a:solidFill>
              <a:latin typeface="Calibri"/>
              <a:ea typeface="Calibri"/>
              <a:cs typeface="Calibri"/>
              <a:sym typeface="Calibri"/>
            </a:endParaRPr>
          </a:p>
        </p:txBody>
      </p:sp>
      <p:sp>
        <p:nvSpPr>
          <p:cNvPr id="907" name="Google Shape;907;g33d38197d8d_0_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33d38197d8d_0_1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33d38197d8d_0_1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Nunito"/>
              <a:ea typeface="Nunito"/>
              <a:cs typeface="Nunito"/>
              <a:sym typeface="Nunito"/>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Acq-A-thon is a collaborative, hands-on approach to acquisition planning designed to get everyone aligned early.</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Too often, acquisition planning happens in silos—program offices do their part, contracting does theirs, and only later do gaps, risks, or misunderstandings surface. The Acq-A-thon flips that model.</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It’s inspired by hackathons in the tech world—fast-paced, problem-solving sessions—but instead of writing code, stakeholders come together to clarify needs, explore constraints, and co-create smarter strategies.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While we won’t be running an Acq-A-thon in this course, we want you to know this is a tool you can use back in your agency. I’ll walk you through:</a:t>
            </a:r>
            <a:endParaRPr sz="1200">
              <a:solidFill>
                <a:schemeClr val="dk1"/>
              </a:solidFill>
              <a:latin typeface="Calibri"/>
              <a:ea typeface="Calibri"/>
              <a:cs typeface="Calibri"/>
              <a:sym typeface="Calibri"/>
            </a:endParaRPr>
          </a:p>
          <a:p>
            <a:pPr marL="457200" lvl="0" indent="-298450" algn="l" rtl="0">
              <a:lnSpc>
                <a:spcPct val="115000"/>
              </a:lnSpc>
              <a:spcBef>
                <a:spcPts val="1200"/>
              </a:spcBef>
              <a:spcAft>
                <a:spcPts val="0"/>
              </a:spcAft>
              <a:buClr>
                <a:schemeClr val="dk1"/>
              </a:buClr>
              <a:buSzPts val="1100"/>
              <a:buChar char="●"/>
            </a:pPr>
            <a:r>
              <a:rPr lang="en" sz="1200">
                <a:solidFill>
                  <a:schemeClr val="dk1"/>
                </a:solidFill>
                <a:latin typeface="Calibri"/>
                <a:ea typeface="Calibri"/>
                <a:cs typeface="Calibri"/>
                <a:sym typeface="Calibri"/>
              </a:rPr>
              <a:t>The purpose and goals of an Acq-A-thon</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What typically happens during one</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Who should be involved</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The kinds of outcomes you can expect</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As you listen, think about how you might adapt this model—formally or in a lightweight version—for your own projects. This is about giving you another tool in your acquisition toolbox to help you plan more effectively and collaboratively.</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915" name="Google Shape;915;g33d38197d8d_0_1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33d38197d8d_0_2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g33d38197d8d_0_2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SzPts val="1100"/>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Nunito"/>
              <a:ea typeface="Nunito"/>
              <a:cs typeface="Nunito"/>
              <a:sym typeface="Nunito"/>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Acq-A-thon is a collaborative, hands-on approach to acquisition planning designed to get everyone aligned early.</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Too often, acquisition planning happens in silos—program offices do their part, contracting does theirs, and only later do gaps, risks, or misunderstandings surface. The Acq-A-thon flips that model.</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It’s inspired by hackathons in the tech world—fast-paced, problem-solving sessions—but instead of writing code, stakeholders come together to clarify needs, explore constraints, and co-create smarter strategies.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While we won’t be running an Acq-A-thon in this course, we want you to know this is a tool you can use back in your agency. I’ll walk you through:</a:t>
            </a:r>
            <a:endParaRPr sz="1200">
              <a:solidFill>
                <a:schemeClr val="dk1"/>
              </a:solidFill>
              <a:latin typeface="Calibri"/>
              <a:ea typeface="Calibri"/>
              <a:cs typeface="Calibri"/>
              <a:sym typeface="Calibri"/>
            </a:endParaRPr>
          </a:p>
          <a:p>
            <a:pPr marL="457200" lvl="0" indent="-298450" algn="l" rtl="0">
              <a:lnSpc>
                <a:spcPct val="115000"/>
              </a:lnSpc>
              <a:spcBef>
                <a:spcPts val="1200"/>
              </a:spcBef>
              <a:spcAft>
                <a:spcPts val="0"/>
              </a:spcAft>
              <a:buClr>
                <a:schemeClr val="dk1"/>
              </a:buClr>
              <a:buSzPts val="1100"/>
              <a:buChar char="●"/>
            </a:pPr>
            <a:r>
              <a:rPr lang="en" sz="1200">
                <a:solidFill>
                  <a:schemeClr val="dk1"/>
                </a:solidFill>
                <a:latin typeface="Calibri"/>
                <a:ea typeface="Calibri"/>
                <a:cs typeface="Calibri"/>
                <a:sym typeface="Calibri"/>
              </a:rPr>
              <a:t>The purpose and goals of an Acq-A-thon</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What typically happens during one</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Who should be involved</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latin typeface="Calibri"/>
                <a:ea typeface="Calibri"/>
                <a:cs typeface="Calibri"/>
                <a:sym typeface="Calibri"/>
              </a:rPr>
              <a:t>The kinds of outcomes you can expect</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As you listen, think about how you might adapt this model—formally or in a lightweight version—for your own projects. This is about giving you another tool in your acquisition toolbox to help you plan more effectively and collaboratively.</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0"/>
              </a:spcAft>
              <a:buSzPts val="1100"/>
              <a:buNone/>
            </a:pPr>
            <a:endParaRPr sz="1200">
              <a:solidFill>
                <a:schemeClr val="dk1"/>
              </a:solidFill>
              <a:latin typeface="Calibri"/>
              <a:ea typeface="Calibri"/>
              <a:cs typeface="Calibri"/>
              <a:sym typeface="Calibri"/>
            </a:endParaRPr>
          </a:p>
          <a:p>
            <a:pPr marL="0" lvl="0" indent="0" algn="l" rtl="0">
              <a:spcBef>
                <a:spcPts val="1200"/>
              </a:spcBef>
              <a:spcAft>
                <a:spcPts val="1200"/>
              </a:spcAft>
              <a:buSzPts val="1100"/>
              <a:buNone/>
            </a:pPr>
            <a:endParaRPr/>
          </a:p>
        </p:txBody>
      </p:sp>
      <p:sp>
        <p:nvSpPr>
          <p:cNvPr id="923" name="Google Shape;923;g33d38197d8d_0_2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33d17db61dd_1_7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g33d17db61dd_1_7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33d38197d8d_0_35: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33d38197d8d_0_3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These are our objectives for today. </a:t>
            </a:r>
            <a:endParaRPr sz="1200">
              <a:solidFill>
                <a:schemeClr val="dk1"/>
              </a:solidFill>
              <a:latin typeface="Calibri"/>
              <a:ea typeface="Calibri"/>
              <a:cs typeface="Calibri"/>
              <a:sym typeface="Calibri"/>
            </a:endParaRPr>
          </a:p>
          <a:p>
            <a:pPr marL="0" lvl="0" indent="0" algn="l" rtl="0">
              <a:spcBef>
                <a:spcPts val="1200"/>
              </a:spcBef>
              <a:spcAft>
                <a:spcPts val="0"/>
              </a:spcAft>
              <a:buNone/>
            </a:pPr>
            <a:endParaRPr/>
          </a:p>
        </p:txBody>
      </p:sp>
      <p:sp>
        <p:nvSpPr>
          <p:cNvPr id="937" name="Google Shape;937;g33d38197d8d_0_3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36c6a56a9d1_0_1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36c6a56a9d1_0_1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Speaker Notes:</a:t>
            </a:r>
            <a:endParaRPr/>
          </a:p>
          <a:p>
            <a:pPr marL="0" lvl="0" indent="0" algn="l" rtl="0">
              <a:spcBef>
                <a:spcPts val="0"/>
              </a:spcBef>
              <a:spcAft>
                <a:spcPts val="0"/>
              </a:spcAft>
              <a:buNone/>
            </a:pPr>
            <a:r>
              <a:rPr lang="en"/>
              <a:t> Many government teams—and their partners—contribute to advancing digital delivery. These groups create resources, prototypes, and momentum for modern practices.</a:t>
            </a:r>
            <a:endParaRPr/>
          </a:p>
        </p:txBody>
      </p:sp>
      <p:sp>
        <p:nvSpPr>
          <p:cNvPr id="949" name="Google Shape;949;g36c6a56a9d1_0_1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f45b699da1_0_0: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Speaker Notes: </a:t>
            </a:r>
            <a:br>
              <a:rPr lang="en" sz="1200">
                <a:solidFill>
                  <a:schemeClr val="dk1"/>
                </a:solidFill>
                <a:latin typeface="Calibri"/>
                <a:ea typeface="Calibri"/>
                <a:cs typeface="Calibri"/>
                <a:sym typeface="Calibri"/>
              </a:rPr>
            </a:br>
            <a:br>
              <a:rPr lang="en" sz="1200">
                <a:solidFill>
                  <a:schemeClr val="dk1"/>
                </a:solidFill>
                <a:latin typeface="Calibri"/>
                <a:ea typeface="Calibri"/>
                <a:cs typeface="Calibri"/>
                <a:sym typeface="Calibri"/>
              </a:rPr>
            </a:br>
            <a:r>
              <a:rPr lang="en" b="1">
                <a:solidFill>
                  <a:schemeClr val="dk1"/>
                </a:solidFill>
              </a:rPr>
              <a:t>Speaker Notes:</a:t>
            </a:r>
            <a:endParaRPr b="1">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Transition from Prior Slide:</a:t>
            </a:r>
            <a:r>
              <a:rPr lang="en">
                <a:solidFill>
                  <a:schemeClr val="dk1"/>
                </a:solidFill>
              </a:rPr>
              <a:t> "Building right off our discussion on modern market methods—whether you choose a Reverse Industry Day, a challenge competition, or a short survey—the single biggest risk we face is falling back into traditional habits the moment we start drafting text."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The SOW Trap:</a:t>
            </a:r>
            <a:r>
              <a:rPr lang="en">
                <a:solidFill>
                  <a:schemeClr val="dk1"/>
                </a:solidFill>
              </a:rPr>
              <a:t> "Too often, what starts as a simple attempt to gauge market capabilities accidentally balloons into a 30-question, prescriptive list that practically tells industry </a:t>
            </a:r>
            <a:r>
              <a:rPr lang="en" i="1">
                <a:solidFill>
                  <a:schemeClr val="dk1"/>
                </a:solidFill>
              </a:rPr>
              <a:t>how</a:t>
            </a:r>
            <a:r>
              <a:rPr lang="en">
                <a:solidFill>
                  <a:schemeClr val="dk1"/>
                </a:solidFill>
              </a:rPr>
              <a:t> to build the system around a favored incumbent instead of focusing on what we actually need. That is the exact 'noise' we need to eliminate."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Policy Context:</a:t>
            </a:r>
            <a:r>
              <a:rPr lang="en">
                <a:solidFill>
                  <a:schemeClr val="dk1"/>
                </a:solidFill>
              </a:rPr>
              <a:t> "This isn't just about efficiency; it's about compliance. OMB Memorandum M-26-12 makes it clear that if we don't thoroughly explore the commercial market, our Senior Procurement Executive (SPE) has to write a detailed compliance justification for a non-commercial award. A tight, clean, outcomes-focused market request is how you avoid that administrative burden entirely and attract modern, agile vendors."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The Breakout Mission:</a:t>
            </a:r>
            <a:r>
              <a:rPr lang="en">
                <a:solidFill>
                  <a:schemeClr val="dk1"/>
                </a:solidFill>
              </a:rPr>
              <a:t> "Before I send you into your breakout rooms for this 30-minute exercise, I want to briefly walk through the 4-step AI workflow you'll be executing as a team. You will be sourcing a live digital service or IT modernization RFI from SAM.gov, and using your approved AI tool as an analytical partner to actively diagnose, strip out the restrictive language, and rebuild it into an effective, commercial-first framework. Let's preview Step 1."</a:t>
            </a:r>
            <a:endParaRPr>
              <a:solidFill>
                <a:schemeClr val="dk1"/>
              </a:solidFill>
            </a:endParaRPr>
          </a:p>
          <a:p>
            <a:pPr marL="0" lvl="0" indent="0" algn="l" rtl="0">
              <a:spcBef>
                <a:spcPts val="120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3f45b699da1_0_10: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a:solidFill>
                  <a:schemeClr val="dk1"/>
                </a:solidFill>
              </a:rPr>
              <a:t>Speaker Notes: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br>
              <a:rPr lang="en" b="1">
                <a:solidFill>
                  <a:schemeClr val="dk1"/>
                </a:solidFill>
              </a:rPr>
            </a:br>
            <a:r>
              <a:rPr lang="en" b="1">
                <a:solidFill>
                  <a:schemeClr val="dk1"/>
                </a:solidFill>
              </a:rPr>
              <a:t>Explaining Step 1:</a:t>
            </a:r>
            <a:r>
              <a:rPr lang="en">
                <a:solidFill>
                  <a:schemeClr val="dk1"/>
                </a:solidFill>
              </a:rPr>
              <a:t> "When you get into your breakout rooms, your first task is to grab an active or recent RFI from SAM.gov and copy its text. Once you paste that text into your AI tool, Prompt 1 will instruct the AI to act as an un-biased, third-party federal acquisition expert."</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b="1">
                <a:solidFill>
                  <a:schemeClr val="dk1"/>
                </a:solidFill>
              </a:rPr>
              <a:t>What to Watch For:</a:t>
            </a:r>
            <a:r>
              <a:rPr lang="en">
                <a:solidFill>
                  <a:schemeClr val="dk1"/>
                </a:solidFill>
              </a:rPr>
              <a:t> "You are setting the AI up to look past the standard boilerplate and identify where the agency is accidentally telling industry </a:t>
            </a:r>
            <a:r>
              <a:rPr lang="en" i="1">
                <a:solidFill>
                  <a:schemeClr val="dk1"/>
                </a:solidFill>
              </a:rPr>
              <a:t>how</a:t>
            </a:r>
            <a:r>
              <a:rPr lang="en">
                <a:solidFill>
                  <a:schemeClr val="dk1"/>
                </a:solidFill>
              </a:rPr>
              <a:t> to build the solution instead of </a:t>
            </a:r>
            <a:r>
              <a:rPr lang="en" i="1">
                <a:solidFill>
                  <a:schemeClr val="dk1"/>
                </a:solidFill>
              </a:rPr>
              <a:t>what</a:t>
            </a:r>
            <a:r>
              <a:rPr lang="en">
                <a:solidFill>
                  <a:schemeClr val="dk1"/>
                </a:solidFill>
              </a:rPr>
              <a:t> problem needs solving. Pay close attention to how the AI isolates hidden solution specifications and incumbent bias so you can see where the original document breaks down."</a:t>
            </a:r>
            <a:endParaRPr>
              <a:solidFill>
                <a:schemeClr val="dk1"/>
              </a:solidFill>
            </a:endParaRPr>
          </a:p>
          <a:p>
            <a:pPr marL="0" lvl="0" indent="0" algn="l" rtl="0">
              <a:spcBef>
                <a:spcPts val="120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3f45b699da1_0_17: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solidFill>
                  <a:schemeClr val="dk1"/>
                </a:solidFill>
              </a:rPr>
              <a:t>Speaker Notes: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Explaining Step 2:</a:t>
            </a:r>
            <a:r>
              <a:rPr lang="en">
                <a:solidFill>
                  <a:schemeClr val="dk1"/>
                </a:solidFill>
              </a:rPr>
              <a:t> "Once the AI diagnoses the flaws, Step 2 is where your group will execute the structural fix on the RFI's background and problem statement section."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The Framing Goal:</a:t>
            </a:r>
            <a:r>
              <a:rPr lang="en">
                <a:solidFill>
                  <a:schemeClr val="dk1"/>
                </a:solidFill>
              </a:rPr>
              <a:t> "Commercial innovators don't want to see a list of mandatory labor categories or a locked-in legacy tech stack before they can even propose a solution. This prompt forces the AI to condense the requirements down to under 400 words, focusing entirely on the end user, the mission gap, and the desired operational outcomes. It ensures a vendor can understand what success looks like without being micromanaged on execution."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200" b="1">
              <a:solidFill>
                <a:schemeClr val="dk1"/>
              </a:solidFill>
              <a:latin typeface="Calibri"/>
              <a:ea typeface="Calibri"/>
              <a:cs typeface="Calibri"/>
              <a:sym typeface="Calibri"/>
            </a:endParaRPr>
          </a:p>
          <a:p>
            <a:pPr marL="0" lvl="0" indent="0" algn="l" rtl="0">
              <a:spcBef>
                <a:spcPts val="120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3f45b699da1_0_25: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solidFill>
                  <a:schemeClr val="dk1"/>
                </a:solidFill>
              </a:rPr>
              <a:t>Speaker Notes: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Explaining Step 3:</a:t>
            </a:r>
            <a:r>
              <a:rPr lang="en">
                <a:solidFill>
                  <a:schemeClr val="dk1"/>
                </a:solidFill>
              </a:rPr>
              <a:t> "In the third step of your breakout workflow, you will replace the typical, bloated multi-question vendor list with just five lean questions."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FAR Alignment:</a:t>
            </a:r>
            <a:r>
              <a:rPr lang="en">
                <a:solidFill>
                  <a:schemeClr val="dk1"/>
                </a:solidFill>
              </a:rPr>
              <a:t> "Instead of bombarding industry with repetitive queries, this prompt anchors your market research directly in FAR 10.001(f) commercial-preference guidelines. Notice question 3 specifically: it asks industry to explicitly audit </a:t>
            </a:r>
            <a:r>
              <a:rPr lang="en" i="1">
                <a:solidFill>
                  <a:schemeClr val="dk1"/>
                </a:solidFill>
              </a:rPr>
              <a:t>us</a:t>
            </a:r>
            <a:r>
              <a:rPr lang="en">
                <a:solidFill>
                  <a:schemeClr val="dk1"/>
                </a:solidFill>
              </a:rPr>
              <a:t> and identify any requirement language that unnecessarily excludes commercial market solutions. This satisfies our statutory market research requirements perfectly while lowering the barrier to entry for modern tech vendors.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200" b="1">
              <a:solidFill>
                <a:schemeClr val="dk1"/>
              </a:solidFill>
              <a:latin typeface="Calibri"/>
              <a:ea typeface="Calibri"/>
              <a:cs typeface="Calibri"/>
              <a:sym typeface="Calibri"/>
            </a:endParaRPr>
          </a:p>
          <a:p>
            <a:pPr marL="0" lvl="0" indent="0" algn="l" rtl="0">
              <a:spcBef>
                <a:spcPts val="120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3f45b699da1_0_32: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Speaker Notes: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Explaining Step 4:</a:t>
            </a:r>
            <a:r>
              <a:rPr lang="en">
                <a:solidFill>
                  <a:schemeClr val="dk1"/>
                </a:solidFill>
              </a:rPr>
              <a:t> "Your final step in the breakout room is the quality assurance check. Prompt 4 forces the AI to critically evaluate its own revisions against commercial standards and SPE compliance metrics."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The Critical Guardrail:</a:t>
            </a:r>
            <a:r>
              <a:rPr lang="en">
                <a:solidFill>
                  <a:schemeClr val="dk1"/>
                </a:solidFill>
              </a:rPr>
              <a:t> "When you review this final output as a team, remember our core rule: the AI is just your drafting partner—you are the decision-makers. Do not just accept what the AI says. Challenge its logic, read the results critically, and document your group's consensus in your workspace worksheet."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Preparing for the Debrief:</a:t>
            </a:r>
            <a:r>
              <a:rPr lang="en">
                <a:solidFill>
                  <a:schemeClr val="dk1"/>
                </a:solidFill>
              </a:rPr>
              <a:t> "Spend the last 5 minutes of your session picking a spokesperson to share your group's primary takeaway when we reconvene. You'll want to highlight the title of your selected RFI, the most critical restriction the AI stripped away, and where your group had to step in with a human edit to ensure it met actual agency standards. I am opening the breakout rooms now—see you back here in 30 minutes for the debrief."</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f5106ef3d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 name="Google Shape;689;g3f5106ef3d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rPr>
              <a:t>Speaker Notes: </a:t>
            </a:r>
            <a:br>
              <a:rPr lang="en" b="1">
                <a:solidFill>
                  <a:schemeClr val="dk1"/>
                </a:solidFill>
              </a:rPr>
            </a:br>
            <a:br>
              <a:rPr lang="en" b="1">
                <a:solidFill>
                  <a:schemeClr val="dk1"/>
                </a:solidFill>
              </a:rPr>
            </a:br>
            <a:r>
              <a:rPr lang="en" b="1">
                <a:solidFill>
                  <a:schemeClr val="dk1"/>
                </a:solidFill>
              </a:rPr>
              <a:t>How to Run This Debrief (15 Minutes):</a:t>
            </a:r>
            <a:r>
              <a:rPr lang="en">
                <a:solidFill>
                  <a:schemeClr val="dk1"/>
                </a:solidFill>
              </a:rPr>
              <a:t> Call on two or three breakout group spokespersons to share a quick, 2-minute response to this dual-part question. </a:t>
            </a:r>
            <a:r>
              <a:rPr lang="en" dirty="0">
                <a:solidFill>
                  <a:schemeClr val="dk1"/>
                </a:solidFill>
              </a:rPr>
              <a:t>Keep the focus on the contrast between the original market noise and the new, lean commercial structure.</a:t>
            </a:r>
            <a:endParaRPr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b="1" dirty="0">
                <a:solidFill>
                  <a:schemeClr val="dk1"/>
                </a:solidFill>
              </a:rPr>
              <a:t>The "Stripped" Reality:</a:t>
            </a:r>
            <a:r>
              <a:rPr lang="en" dirty="0">
                <a:solidFill>
                  <a:schemeClr val="dk1"/>
                </a:solidFill>
              </a:rPr>
              <a:t> Almost every legacy RFI suffers from creeping solution specifications—telling the vendor exactly how to build a digital service rather than what problem needs to be solved. Have groups share the most flagrant examples of incumbent-biased or overly prescriptive language the AI flagged and removed.</a:t>
            </a:r>
            <a:endParaRPr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b="1" dirty="0">
                <a:solidFill>
                  <a:schemeClr val="dk1"/>
                </a:solidFill>
              </a:rPr>
              <a:t>The "Human Edit" Guardrail:</a:t>
            </a:r>
            <a:r>
              <a:rPr lang="en" dirty="0">
                <a:solidFill>
                  <a:schemeClr val="dk1"/>
                </a:solidFill>
              </a:rPr>
              <a:t> Remind learners that this second half of the question highlights the "Human-in-the-Loop" rule. The AI is an excellent drafting partner to establish a clean baseline, but it lacks agency-specific context, nuance, and risk tolerance. Their value as digital acquisition professionals is in the critical editing phase.</a:t>
            </a:r>
            <a:endParaRPr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b="1" dirty="0">
                <a:solidFill>
                  <a:schemeClr val="dk1"/>
                </a:solidFill>
              </a:rPr>
              <a:t>Policy and Strategic Alignment:</a:t>
            </a:r>
            <a:r>
              <a:rPr lang="en" dirty="0">
                <a:solidFill>
                  <a:schemeClr val="dk1"/>
                </a:solidFill>
              </a:rPr>
              <a:t> Rebuilding the problem statement and shifting to five plain-language commercial questions actively protects their program from administrative burdens. A tight, commercially focused RFI gives them the exact market research data needed to satisfy OMB Memorandum M-26-12 and avoid writing exhaustive non-commercial justifications later.</a:t>
            </a:r>
            <a:endParaRPr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b="1" dirty="0">
                <a:solidFill>
                  <a:schemeClr val="dk1"/>
                </a:solidFill>
              </a:rPr>
              <a:t>Connecting to the Greater Arc:</a:t>
            </a:r>
            <a:r>
              <a:rPr lang="en" dirty="0">
                <a:solidFill>
                  <a:schemeClr val="dk1"/>
                </a:solidFill>
              </a:rPr>
              <a:t> Close the activity by linking this output directly to next week. In Module 3, Sprint 1, they will take the clean commercial market data they learned to target today to execute a technical SWOT analysis and map out their comprehensive acquisition strategy</a:t>
            </a:r>
            <a:endParaRPr dirty="0">
              <a:solidFill>
                <a:schemeClr val="dk1"/>
              </a:solidFill>
            </a:endParaRPr>
          </a:p>
          <a:p>
            <a:pPr marL="0" lvl="0" indent="0" algn="l" rtl="0">
              <a:spcBef>
                <a:spcPts val="0"/>
              </a:spcBef>
              <a:spcAft>
                <a:spcPts val="0"/>
              </a:spcAft>
              <a:buNone/>
            </a:pPr>
            <a:endParaRPr b="1" dirty="0">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36a93d0208c_0_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36a93d0208c_0_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8" name="Google Shape;958;g36a93d0208c_0_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36a93d0208c_0_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36a93d0208c_0_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5" name="Google Shape;965;g36a93d0208c_0_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Slide 1_1_1_F">
  <p:cSld name="TITLE_AND_BODY_2_1_1_1_1_1_1_1">
    <p:spTree>
      <p:nvGrpSpPr>
        <p:cNvPr id="1" name="Shape 124"/>
        <p:cNvGrpSpPr/>
        <p:nvPr/>
      </p:nvGrpSpPr>
      <p:grpSpPr>
        <a:xfrm>
          <a:off x="0" y="0"/>
          <a:ext cx="0" cy="0"/>
          <a:chOff x="0" y="0"/>
          <a:chExt cx="0" cy="0"/>
        </a:xfrm>
      </p:grpSpPr>
      <p:sp>
        <p:nvSpPr>
          <p:cNvPr id="125" name="Google Shape;125;p13"/>
          <p:cNvSpPr/>
          <p:nvPr/>
        </p:nvSpPr>
        <p:spPr>
          <a:xfrm>
            <a:off x="228600" y="228600"/>
            <a:ext cx="8686800" cy="4686300"/>
          </a:xfrm>
          <a:prstGeom prst="roundRect">
            <a:avLst>
              <a:gd name="adj" fmla="val 6123"/>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3"/>
          <p:cNvSpPr>
            <a:spLocks noGrp="1"/>
          </p:cNvSpPr>
          <p:nvPr>
            <p:ph type="pic" idx="2"/>
          </p:nvPr>
        </p:nvSpPr>
        <p:spPr>
          <a:xfrm>
            <a:off x="4626864" y="585216"/>
            <a:ext cx="3968400" cy="3968400"/>
          </a:xfrm>
          <a:prstGeom prst="rect">
            <a:avLst/>
          </a:prstGeom>
          <a:noFill/>
          <a:ln>
            <a:noFill/>
          </a:ln>
        </p:spPr>
      </p:sp>
      <p:sp>
        <p:nvSpPr>
          <p:cNvPr id="127" name="Google Shape;127;p13"/>
          <p:cNvSpPr txBox="1">
            <a:spLocks noGrp="1"/>
          </p:cNvSpPr>
          <p:nvPr>
            <p:ph type="title"/>
          </p:nvPr>
        </p:nvSpPr>
        <p:spPr>
          <a:xfrm>
            <a:off x="557784" y="585216"/>
            <a:ext cx="3712500" cy="932700"/>
          </a:xfrm>
          <a:prstGeom prst="rect">
            <a:avLst/>
          </a:prstGeom>
        </p:spPr>
        <p:txBody>
          <a:bodyPr spcFirstLastPara="1" wrap="square" lIns="0" tIns="0" rIns="0" bIns="0"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8" name="Google Shape;128;p13"/>
          <p:cNvSpPr txBox="1">
            <a:spLocks noGrp="1"/>
          </p:cNvSpPr>
          <p:nvPr>
            <p:ph type="body" idx="1"/>
          </p:nvPr>
        </p:nvSpPr>
        <p:spPr>
          <a:xfrm>
            <a:off x="508525" y="1883625"/>
            <a:ext cx="3761700" cy="2670000"/>
          </a:xfrm>
          <a:prstGeom prst="rect">
            <a:avLst/>
          </a:prstGeom>
        </p:spPr>
        <p:txBody>
          <a:bodyPr spcFirstLastPara="1" wrap="square" lIns="0" tIns="0" rIns="0" bIns="0"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351">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Generated Slide 1_1_1_B">
  <p:cSld name="TITLE_AND_BODY_2_1_1_1">
    <p:spTree>
      <p:nvGrpSpPr>
        <p:cNvPr id="1" name="Shape 129"/>
        <p:cNvGrpSpPr/>
        <p:nvPr/>
      </p:nvGrpSpPr>
      <p:grpSpPr>
        <a:xfrm>
          <a:off x="0" y="0"/>
          <a:ext cx="0" cy="0"/>
          <a:chOff x="0" y="0"/>
          <a:chExt cx="0" cy="0"/>
        </a:xfrm>
      </p:grpSpPr>
      <p:sp>
        <p:nvSpPr>
          <p:cNvPr id="130" name="Google Shape;130;p14"/>
          <p:cNvSpPr>
            <a:spLocks noGrp="1"/>
          </p:cNvSpPr>
          <p:nvPr>
            <p:ph type="pic" idx="2"/>
          </p:nvPr>
        </p:nvSpPr>
        <p:spPr>
          <a:xfrm>
            <a:off x="4517136" y="475488"/>
            <a:ext cx="4188000" cy="4188000"/>
          </a:xfrm>
          <a:prstGeom prst="roundRect">
            <a:avLst>
              <a:gd name="adj" fmla="val 8475"/>
            </a:avLst>
          </a:prstGeom>
          <a:noFill/>
          <a:ln>
            <a:noFill/>
          </a:ln>
        </p:spPr>
      </p:sp>
      <p:sp>
        <p:nvSpPr>
          <p:cNvPr id="131" name="Google Shape;131;p14"/>
          <p:cNvSpPr txBox="1">
            <a:spLocks noGrp="1"/>
          </p:cNvSpPr>
          <p:nvPr>
            <p:ph type="title"/>
          </p:nvPr>
        </p:nvSpPr>
        <p:spPr>
          <a:xfrm>
            <a:off x="548650" y="576075"/>
            <a:ext cx="3556800" cy="868800"/>
          </a:xfrm>
          <a:prstGeom prst="rect">
            <a:avLst/>
          </a:prstGeom>
        </p:spPr>
        <p:txBody>
          <a:bodyPr spcFirstLastPara="1" wrap="square" lIns="0" tIns="0" rIns="0" bIns="0"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14"/>
          <p:cNvSpPr txBox="1">
            <a:spLocks noGrp="1"/>
          </p:cNvSpPr>
          <p:nvPr>
            <p:ph type="body" idx="1"/>
          </p:nvPr>
        </p:nvSpPr>
        <p:spPr>
          <a:xfrm>
            <a:off x="438912" y="1655064"/>
            <a:ext cx="3666600" cy="2871300"/>
          </a:xfrm>
          <a:prstGeom prst="rect">
            <a:avLst/>
          </a:prstGeom>
        </p:spPr>
        <p:txBody>
          <a:bodyPr spcFirstLastPara="1" wrap="square" lIns="0" tIns="0" rIns="0" bIns="0" anchor="ctr"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cxnSp>
        <p:nvCxnSpPr>
          <p:cNvPr id="133" name="Google Shape;133;p14"/>
          <p:cNvCxnSpPr/>
          <p:nvPr/>
        </p:nvCxnSpPr>
        <p:spPr>
          <a:xfrm>
            <a:off x="530352" y="402336"/>
            <a:ext cx="1059900" cy="0"/>
          </a:xfrm>
          <a:prstGeom prst="straightConnector1">
            <a:avLst/>
          </a:prstGeom>
          <a:noFill/>
          <a:ln w="9525" cap="flat" cmpd="sng">
            <a:solidFill>
              <a:srgbClr val="595959"/>
            </a:solidFill>
            <a:prstDash val="solid"/>
            <a:round/>
            <a:headEnd type="none" w="sm" len="sm"/>
            <a:tailEnd type="none" w="sm" len="sm"/>
          </a:ln>
        </p:spPr>
      </p:cxnSp>
      <p:cxnSp>
        <p:nvCxnSpPr>
          <p:cNvPr id="134" name="Google Shape;134;p14"/>
          <p:cNvCxnSpPr/>
          <p:nvPr/>
        </p:nvCxnSpPr>
        <p:spPr>
          <a:xfrm>
            <a:off x="530352" y="4745736"/>
            <a:ext cx="1059900" cy="0"/>
          </a:xfrm>
          <a:prstGeom prst="straightConnector1">
            <a:avLst/>
          </a:prstGeom>
          <a:noFill/>
          <a:ln w="9525" cap="flat" cmpd="sng">
            <a:solidFill>
              <a:srgbClr val="595959"/>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Generated Slide 1_1_1_H">
  <p:cSld name="TITLE_AND_BODY_2_1_1_1_1_1_1_1_1_1">
    <p:spTree>
      <p:nvGrpSpPr>
        <p:cNvPr id="1" name="Shape 135"/>
        <p:cNvGrpSpPr/>
        <p:nvPr/>
      </p:nvGrpSpPr>
      <p:grpSpPr>
        <a:xfrm>
          <a:off x="0" y="0"/>
          <a:ext cx="0" cy="0"/>
          <a:chOff x="0" y="0"/>
          <a:chExt cx="0" cy="0"/>
        </a:xfrm>
      </p:grpSpPr>
      <p:sp>
        <p:nvSpPr>
          <p:cNvPr id="136" name="Google Shape;136;p15"/>
          <p:cNvSpPr>
            <a:spLocks noGrp="1"/>
          </p:cNvSpPr>
          <p:nvPr>
            <p:ph type="pic" idx="2"/>
          </p:nvPr>
        </p:nvSpPr>
        <p:spPr>
          <a:xfrm>
            <a:off x="548640" y="1554480"/>
            <a:ext cx="2807100" cy="2807100"/>
          </a:xfrm>
          <a:prstGeom prst="roundRect">
            <a:avLst>
              <a:gd name="adj" fmla="val 8343"/>
            </a:avLst>
          </a:prstGeom>
          <a:noFill/>
          <a:ln>
            <a:noFill/>
          </a:ln>
        </p:spPr>
      </p:sp>
      <p:sp>
        <p:nvSpPr>
          <p:cNvPr id="137" name="Google Shape;137;p15"/>
          <p:cNvSpPr txBox="1">
            <a:spLocks noGrp="1"/>
          </p:cNvSpPr>
          <p:nvPr>
            <p:ph type="title"/>
          </p:nvPr>
        </p:nvSpPr>
        <p:spPr>
          <a:xfrm>
            <a:off x="548675" y="603500"/>
            <a:ext cx="7923900" cy="667500"/>
          </a:xfrm>
          <a:prstGeom prst="rect">
            <a:avLst/>
          </a:prstGeom>
        </p:spPr>
        <p:txBody>
          <a:bodyPr spcFirstLastPara="1" wrap="square" lIns="0" tIns="0" rIns="0" bIns="0"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8" name="Google Shape;138;p15"/>
          <p:cNvSpPr txBox="1">
            <a:spLocks noGrp="1"/>
          </p:cNvSpPr>
          <p:nvPr>
            <p:ph type="body" idx="1"/>
          </p:nvPr>
        </p:nvSpPr>
        <p:spPr>
          <a:xfrm>
            <a:off x="3895344" y="1408176"/>
            <a:ext cx="4782300" cy="3090600"/>
          </a:xfrm>
          <a:prstGeom prst="rect">
            <a:avLst/>
          </a:prstGeom>
        </p:spPr>
        <p:txBody>
          <a:bodyPr spcFirstLastPara="1" wrap="square" lIns="0" tIns="0" rIns="0" bIns="0" anchor="ctr"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cxnSp>
        <p:nvCxnSpPr>
          <p:cNvPr id="139" name="Google Shape;139;p15"/>
          <p:cNvCxnSpPr/>
          <p:nvPr/>
        </p:nvCxnSpPr>
        <p:spPr>
          <a:xfrm>
            <a:off x="544200" y="451125"/>
            <a:ext cx="1059900" cy="0"/>
          </a:xfrm>
          <a:prstGeom prst="straightConnector1">
            <a:avLst/>
          </a:prstGeom>
          <a:noFill/>
          <a:ln w="9525" cap="flat" cmpd="sng">
            <a:solidFill>
              <a:srgbClr val="595959"/>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41"/>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enerated Slide 1_1_1_TITLEANDBULLETS_A">
  <p:cSld name="Generated Slide 1_1_1_TITLEANDBULLETS_A">
    <p:spTree>
      <p:nvGrpSpPr>
        <p:cNvPr id="1" name="Shape 233"/>
        <p:cNvGrpSpPr/>
        <p:nvPr/>
      </p:nvGrpSpPr>
      <p:grpSpPr>
        <a:xfrm>
          <a:off x="0" y="0"/>
          <a:ext cx="0" cy="0"/>
          <a:chOff x="0" y="0"/>
          <a:chExt cx="0" cy="0"/>
        </a:xfrm>
      </p:grpSpPr>
      <p:sp>
        <p:nvSpPr>
          <p:cNvPr id="234" name="Google Shape;234;g388dc7b5e45_0_180"/>
          <p:cNvSpPr>
            <a:spLocks noGrp="1"/>
          </p:cNvSpPr>
          <p:nvPr>
            <p:ph type="pic" idx="2"/>
          </p:nvPr>
        </p:nvSpPr>
        <p:spPr>
          <a:xfrm>
            <a:off x="3996000" y="0"/>
            <a:ext cx="5148000" cy="5143500"/>
          </a:xfrm>
          <a:prstGeom prst="rect">
            <a:avLst/>
          </a:prstGeom>
          <a:noFill/>
          <a:ln>
            <a:noFill/>
          </a:ln>
        </p:spPr>
      </p:sp>
      <p:sp>
        <p:nvSpPr>
          <p:cNvPr id="235" name="Google Shape;235;g388dc7b5e45_0_180"/>
          <p:cNvSpPr txBox="1">
            <a:spLocks noGrp="1"/>
          </p:cNvSpPr>
          <p:nvPr>
            <p:ph type="title"/>
          </p:nvPr>
        </p:nvSpPr>
        <p:spPr>
          <a:xfrm>
            <a:off x="327575" y="340500"/>
            <a:ext cx="3548100" cy="1093500"/>
          </a:xfrm>
          <a:prstGeom prst="rect">
            <a:avLst/>
          </a:prstGeom>
        </p:spPr>
        <p:txBody>
          <a:bodyPr spcFirstLastPara="1" wrap="square" lIns="0" tIns="0" rIns="0" bIns="0"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6" name="Google Shape;236;g388dc7b5e45_0_180"/>
          <p:cNvSpPr txBox="1">
            <a:spLocks noGrp="1"/>
          </p:cNvSpPr>
          <p:nvPr>
            <p:ph type="body" idx="1"/>
          </p:nvPr>
        </p:nvSpPr>
        <p:spPr>
          <a:xfrm>
            <a:off x="327575" y="1616646"/>
            <a:ext cx="3548100" cy="3288300"/>
          </a:xfrm>
          <a:prstGeom prst="rect">
            <a:avLst/>
          </a:prstGeom>
        </p:spPr>
        <p:txBody>
          <a:bodyPr spcFirstLastPara="1" wrap="square" lIns="0" tIns="0" rIns="0" bIns="0" anchor="t" anchorCtr="0">
            <a:normAutofit/>
          </a:bodyPr>
          <a:lstStyle>
            <a:lvl1pPr marL="457200" lvl="0" indent="-381000">
              <a:spcBef>
                <a:spcPts val="0"/>
              </a:spcBef>
              <a:spcAft>
                <a:spcPts val="0"/>
              </a:spcAft>
              <a:buSzPts val="2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extLst>
      <p:ext uri="{BB962C8B-B14F-4D97-AF65-F5344CB8AC3E}">
        <p14:creationId xmlns:p14="http://schemas.microsoft.com/office/powerpoint/2010/main" val="13875249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2" name="Google Shape;22;p26"/>
          <p:cNvSpPr txBox="1">
            <a:spLocks noGrp="1"/>
          </p:cNvSpPr>
          <p:nvPr>
            <p:ph type="title"/>
          </p:nvPr>
        </p:nvSpPr>
        <p:spPr>
          <a:xfrm>
            <a:off x="320709"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2800"/>
              <a:buNone/>
              <a:defRPr>
                <a:solidFill>
                  <a:schemeClr val="dk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6"/>
          <p:cNvSpPr txBox="1">
            <a:spLocks noGrp="1"/>
          </p:cNvSpPr>
          <p:nvPr>
            <p:ph type="body" idx="1"/>
          </p:nvPr>
        </p:nvSpPr>
        <p:spPr>
          <a:xfrm>
            <a:off x="320709" y="1152475"/>
            <a:ext cx="8520600" cy="3416400"/>
          </a:xfrm>
          <a:prstGeom prst="rect">
            <a:avLst/>
          </a:prstGeom>
          <a:noFill/>
          <a:ln>
            <a:noFill/>
          </a:ln>
        </p:spPr>
        <p:txBody>
          <a:bodyPr spcFirstLastPara="1" wrap="square" lIns="91425" tIns="91425" rIns="91425" bIns="91425" anchor="t" anchorCtr="0">
            <a:normAutofit/>
          </a:bodyPr>
          <a:lstStyle>
            <a:lvl1pPr marL="457200" lvl="0" indent="-381000" algn="l">
              <a:lnSpc>
                <a:spcPct val="115000"/>
              </a:lnSpc>
              <a:spcBef>
                <a:spcPts val="0"/>
              </a:spcBef>
              <a:spcAft>
                <a:spcPts val="0"/>
              </a:spcAft>
              <a:buSzPts val="24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4" name="Google Shape;24;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26"/>
          <p:cNvSpPr txBox="1"/>
          <p:nvPr/>
        </p:nvSpPr>
        <p:spPr>
          <a:xfrm>
            <a:off x="3299100" y="4690675"/>
            <a:ext cx="2545800" cy="338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757575"/>
                </a:solidFill>
                <a:latin typeface="Nunito"/>
                <a:ea typeface="Nunito"/>
                <a:cs typeface="Nunito"/>
                <a:sym typeface="Nunito"/>
              </a:rPr>
              <a:t>Balance   |   Openness   |   Care</a:t>
            </a:r>
            <a:endParaRPr sz="1000" b="0" i="0" u="none" strike="noStrike" cap="none">
              <a:solidFill>
                <a:srgbClr val="757575"/>
              </a:solidFill>
              <a:latin typeface="Nunito"/>
              <a:ea typeface="Nunito"/>
              <a:cs typeface="Nunito"/>
              <a:sym typeface="Nunito"/>
            </a:endParaRPr>
          </a:p>
        </p:txBody>
      </p:sp>
    </p:spTree>
    <p:extLst>
      <p:ext uri="{BB962C8B-B14F-4D97-AF65-F5344CB8AC3E}">
        <p14:creationId xmlns:p14="http://schemas.microsoft.com/office/powerpoint/2010/main" val="1103449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146"/>
        <p:cNvGrpSpPr/>
        <p:nvPr/>
      </p:nvGrpSpPr>
      <p:grpSpPr>
        <a:xfrm>
          <a:off x="0" y="0"/>
          <a:ext cx="0" cy="0"/>
          <a:chOff x="0" y="0"/>
          <a:chExt cx="0" cy="0"/>
        </a:xfrm>
      </p:grpSpPr>
      <p:sp>
        <p:nvSpPr>
          <p:cNvPr id="147" name="Google Shape;14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8" name="Google Shape;148;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149" name="Google Shape;14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2" name="Google Shape;15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153"/>
        <p:cNvGrpSpPr/>
        <p:nvPr/>
      </p:nvGrpSpPr>
      <p:grpSpPr>
        <a:xfrm>
          <a:off x="0" y="0"/>
          <a:ext cx="0" cy="0"/>
          <a:chOff x="0" y="0"/>
          <a:chExt cx="0" cy="0"/>
        </a:xfrm>
      </p:grpSpPr>
      <p:sp>
        <p:nvSpPr>
          <p:cNvPr id="154" name="Google Shape;154;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56" name="Google Shape;156;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_1">
    <p:spTree>
      <p:nvGrpSpPr>
        <p:cNvPr id="1" name="Shape 157"/>
        <p:cNvGrpSpPr/>
        <p:nvPr/>
      </p:nvGrpSpPr>
      <p:grpSpPr>
        <a:xfrm>
          <a:off x="0" y="0"/>
          <a:ext cx="0" cy="0"/>
          <a:chOff x="0" y="0"/>
          <a:chExt cx="0" cy="0"/>
        </a:xfrm>
      </p:grpSpPr>
      <p:sp>
        <p:nvSpPr>
          <p:cNvPr id="158" name="Google Shape;158;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2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60" name="Google Shape;160;p2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61" name="Google Shape;16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62"/>
        <p:cNvGrpSpPr/>
        <p:nvPr/>
      </p:nvGrpSpPr>
      <p:grpSpPr>
        <a:xfrm>
          <a:off x="0" y="0"/>
          <a:ext cx="0" cy="0"/>
          <a:chOff x="0" y="0"/>
          <a:chExt cx="0" cy="0"/>
        </a:xfrm>
      </p:grpSpPr>
      <p:sp>
        <p:nvSpPr>
          <p:cNvPr id="163" name="Google Shape;16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4" name="Google Shape;16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165"/>
        <p:cNvGrpSpPr/>
        <p:nvPr/>
      </p:nvGrpSpPr>
      <p:grpSpPr>
        <a:xfrm>
          <a:off x="0" y="0"/>
          <a:ext cx="0" cy="0"/>
          <a:chOff x="0" y="0"/>
          <a:chExt cx="0" cy="0"/>
        </a:xfrm>
      </p:grpSpPr>
      <p:sp>
        <p:nvSpPr>
          <p:cNvPr id="166" name="Google Shape;166;p24"/>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67" name="Google Shape;167;p24"/>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68" name="Google Shape;168;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169"/>
        <p:cNvGrpSpPr/>
        <p:nvPr/>
      </p:nvGrpSpPr>
      <p:grpSpPr>
        <a:xfrm>
          <a:off x="0" y="0"/>
          <a:ext cx="0" cy="0"/>
          <a:chOff x="0" y="0"/>
          <a:chExt cx="0" cy="0"/>
        </a:xfrm>
      </p:grpSpPr>
      <p:sp>
        <p:nvSpPr>
          <p:cNvPr id="170" name="Google Shape;170;p25"/>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71" name="Google Shape;17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172"/>
        <p:cNvGrpSpPr/>
        <p:nvPr/>
      </p:nvGrpSpPr>
      <p:grpSpPr>
        <a:xfrm>
          <a:off x="0" y="0"/>
          <a:ext cx="0" cy="0"/>
          <a:chOff x="0" y="0"/>
          <a:chExt cx="0" cy="0"/>
        </a:xfrm>
      </p:grpSpPr>
      <p:sp>
        <p:nvSpPr>
          <p:cNvPr id="173" name="Google Shape;173;p2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6"/>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5" name="Google Shape;175;p26"/>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176" name="Google Shape;176;p26"/>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23850">
              <a:spcBef>
                <a:spcPts val="0"/>
              </a:spcBef>
              <a:spcAft>
                <a:spcPts val="0"/>
              </a:spcAft>
              <a:buClr>
                <a:schemeClr val="lt1"/>
              </a:buClr>
              <a:buSzPts val="15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1150">
              <a:spcBef>
                <a:spcPts val="0"/>
              </a:spcBef>
              <a:spcAft>
                <a:spcPts val="0"/>
              </a:spcAft>
              <a:buClr>
                <a:schemeClr val="lt1"/>
              </a:buClr>
              <a:buSzPts val="1300"/>
              <a:buChar char="■"/>
              <a:defRPr>
                <a:solidFill>
                  <a:schemeClr val="lt1"/>
                </a:solidFill>
              </a:defRPr>
            </a:lvl3pPr>
            <a:lvl4pPr marL="1828800" lvl="3" indent="-304800">
              <a:spcBef>
                <a:spcPts val="0"/>
              </a:spcBef>
              <a:spcAft>
                <a:spcPts val="0"/>
              </a:spcAft>
              <a:buClr>
                <a:schemeClr val="lt1"/>
              </a:buClr>
              <a:buSzPts val="12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85750">
              <a:spcBef>
                <a:spcPts val="0"/>
              </a:spcBef>
              <a:spcAft>
                <a:spcPts val="0"/>
              </a:spcAft>
              <a:buClr>
                <a:schemeClr val="lt1"/>
              </a:buClr>
              <a:buSzPts val="900"/>
              <a:buChar char="●"/>
              <a:defRPr>
                <a:solidFill>
                  <a:schemeClr val="lt1"/>
                </a:solidFill>
              </a:defRPr>
            </a:lvl7pPr>
            <a:lvl8pPr marL="3657600" lvl="7" indent="-279400">
              <a:spcBef>
                <a:spcPts val="0"/>
              </a:spcBef>
              <a:spcAft>
                <a:spcPts val="0"/>
              </a:spcAft>
              <a:buClr>
                <a:schemeClr val="lt1"/>
              </a:buClr>
              <a:buSzPts val="800"/>
              <a:buChar char="○"/>
              <a:defRPr>
                <a:solidFill>
                  <a:schemeClr val="lt1"/>
                </a:solidFill>
              </a:defRPr>
            </a:lvl8pPr>
            <a:lvl9pPr marL="4114800" lvl="8" indent="-273050">
              <a:spcBef>
                <a:spcPts val="0"/>
              </a:spcBef>
              <a:spcAft>
                <a:spcPts val="0"/>
              </a:spcAft>
              <a:buClr>
                <a:schemeClr val="lt1"/>
              </a:buClr>
              <a:buSzPts val="700"/>
              <a:buChar char="■"/>
              <a:defRPr>
                <a:solidFill>
                  <a:schemeClr val="lt1"/>
                </a:solidFill>
              </a:defRPr>
            </a:lvl9pPr>
          </a:lstStyle>
          <a:p>
            <a:endParaRPr/>
          </a:p>
        </p:txBody>
      </p:sp>
      <p:sp>
        <p:nvSpPr>
          <p:cNvPr id="177" name="Google Shape;177;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178"/>
        <p:cNvGrpSpPr/>
        <p:nvPr/>
      </p:nvGrpSpPr>
      <p:grpSpPr>
        <a:xfrm>
          <a:off x="0" y="0"/>
          <a:ext cx="0" cy="0"/>
          <a:chOff x="0" y="0"/>
          <a:chExt cx="0" cy="0"/>
        </a:xfrm>
      </p:grpSpPr>
      <p:sp>
        <p:nvSpPr>
          <p:cNvPr id="179" name="Google Shape;179;p2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500"/>
              <a:buNone/>
              <a:defRPr/>
            </a:lvl1pPr>
          </a:lstStyle>
          <a:p>
            <a:endParaRPr/>
          </a:p>
        </p:txBody>
      </p:sp>
      <p:sp>
        <p:nvSpPr>
          <p:cNvPr id="180" name="Google Shape;18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181"/>
        <p:cNvGrpSpPr/>
        <p:nvPr/>
      </p:nvGrpSpPr>
      <p:grpSpPr>
        <a:xfrm>
          <a:off x="0" y="0"/>
          <a:ext cx="0" cy="0"/>
          <a:chOff x="0" y="0"/>
          <a:chExt cx="0" cy="0"/>
        </a:xfrm>
      </p:grpSpPr>
      <p:sp>
        <p:nvSpPr>
          <p:cNvPr id="182" name="Google Shape;182;p28"/>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83" name="Google Shape;183;p28"/>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23850" algn="ctr">
              <a:spcBef>
                <a:spcPts val="0"/>
              </a:spcBef>
              <a:spcAft>
                <a:spcPts val="0"/>
              </a:spcAft>
              <a:buSzPts val="1500"/>
              <a:buChar char="●"/>
              <a:defRPr/>
            </a:lvl1pPr>
            <a:lvl2pPr marL="914400" lvl="1" indent="-317500" algn="ctr">
              <a:spcBef>
                <a:spcPts val="0"/>
              </a:spcBef>
              <a:spcAft>
                <a:spcPts val="0"/>
              </a:spcAft>
              <a:buSzPts val="1400"/>
              <a:buChar char="○"/>
              <a:defRPr/>
            </a:lvl2pPr>
            <a:lvl3pPr marL="1371600" lvl="2" indent="-311150" algn="ctr">
              <a:spcBef>
                <a:spcPts val="0"/>
              </a:spcBef>
              <a:spcAft>
                <a:spcPts val="0"/>
              </a:spcAft>
              <a:buSzPts val="1300"/>
              <a:buChar char="■"/>
              <a:defRPr/>
            </a:lvl3pPr>
            <a:lvl4pPr marL="1828800" lvl="3" indent="-304800" algn="ctr">
              <a:spcBef>
                <a:spcPts val="0"/>
              </a:spcBef>
              <a:spcAft>
                <a:spcPts val="0"/>
              </a:spcAft>
              <a:buSzPts val="1200"/>
              <a:buChar char="●"/>
              <a:defRPr/>
            </a:lvl4pPr>
            <a:lvl5pPr marL="2286000" lvl="4" indent="-298450" algn="ctr">
              <a:spcBef>
                <a:spcPts val="0"/>
              </a:spcBef>
              <a:spcAft>
                <a:spcPts val="0"/>
              </a:spcAft>
              <a:buSzPts val="1100"/>
              <a:buChar char="○"/>
              <a:defRPr/>
            </a:lvl5pPr>
            <a:lvl6pPr marL="2743200" lvl="5" indent="-292100" algn="ctr">
              <a:spcBef>
                <a:spcPts val="0"/>
              </a:spcBef>
              <a:spcAft>
                <a:spcPts val="0"/>
              </a:spcAft>
              <a:buSzPts val="1000"/>
              <a:buChar char="■"/>
              <a:defRPr/>
            </a:lvl6pPr>
            <a:lvl7pPr marL="3200400" lvl="6" indent="-285750" algn="ctr">
              <a:spcBef>
                <a:spcPts val="0"/>
              </a:spcBef>
              <a:spcAft>
                <a:spcPts val="0"/>
              </a:spcAft>
              <a:buSzPts val="900"/>
              <a:buChar char="●"/>
              <a:defRPr/>
            </a:lvl7pPr>
            <a:lvl8pPr marL="3657600" lvl="7" indent="-279400" algn="ctr">
              <a:spcBef>
                <a:spcPts val="0"/>
              </a:spcBef>
              <a:spcAft>
                <a:spcPts val="0"/>
              </a:spcAft>
              <a:buSzPts val="800"/>
              <a:buChar char="○"/>
              <a:defRPr/>
            </a:lvl8pPr>
            <a:lvl9pPr marL="4114800" lvl="8" indent="-273050" algn="ctr">
              <a:spcBef>
                <a:spcPts val="0"/>
              </a:spcBef>
              <a:spcAft>
                <a:spcPts val="0"/>
              </a:spcAft>
              <a:buSzPts val="700"/>
              <a:buChar char="■"/>
              <a:defRPr/>
            </a:lvl9pPr>
          </a:lstStyle>
          <a:p>
            <a:endParaRPr/>
          </a:p>
        </p:txBody>
      </p:sp>
      <p:sp>
        <p:nvSpPr>
          <p:cNvPr id="184" name="Google Shape;184;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p:cSld name="BLANK_2">
    <p:spTree>
      <p:nvGrpSpPr>
        <p:cNvPr id="1" name="Shape 185"/>
        <p:cNvGrpSpPr/>
        <p:nvPr/>
      </p:nvGrpSpPr>
      <p:grpSpPr>
        <a:xfrm>
          <a:off x="0" y="0"/>
          <a:ext cx="0" cy="0"/>
          <a:chOff x="0" y="0"/>
          <a:chExt cx="0" cy="0"/>
        </a:xfrm>
      </p:grpSpPr>
      <p:sp>
        <p:nvSpPr>
          <p:cNvPr id="186" name="Google Shape;18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0" name="Google Shape;190;p30"/>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91" name="Google Shape;191;p30"/>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92" name="Google Shape;192;p30"/>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93" name="Google Shape;193;p30"/>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94" name="Google Shape;194;p30"/>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95" name="Google Shape;195;p30"/>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196"/>
        <p:cNvGrpSpPr/>
        <p:nvPr/>
      </p:nvGrpSpPr>
      <p:grpSpPr>
        <a:xfrm>
          <a:off x="0" y="0"/>
          <a:ext cx="0" cy="0"/>
          <a:chOff x="0" y="0"/>
          <a:chExt cx="0" cy="0"/>
        </a:xfrm>
      </p:grpSpPr>
      <p:sp>
        <p:nvSpPr>
          <p:cNvPr id="197" name="Google Shape;197;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31"/>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99" name="Google Shape;199;p31"/>
          <p:cNvSpPr>
            <a:spLocks noGrp="1"/>
          </p:cNvSpPr>
          <p:nvPr>
            <p:ph type="pic" idx="2"/>
          </p:nvPr>
        </p:nvSpPr>
        <p:spPr>
          <a:xfrm>
            <a:off x="4992024" y="1152775"/>
            <a:ext cx="3840300" cy="3416400"/>
          </a:xfrm>
          <a:prstGeom prst="rect">
            <a:avLst/>
          </a:prstGeom>
          <a:noFill/>
          <a:ln>
            <a:noFill/>
          </a:ln>
        </p:spPr>
      </p:sp>
      <p:sp>
        <p:nvSpPr>
          <p:cNvPr id="200" name="Google Shape;200;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big ideas">
  <p:cSld name="CUSTOM_1_1">
    <p:spTree>
      <p:nvGrpSpPr>
        <p:cNvPr id="1" name="Shape 201"/>
        <p:cNvGrpSpPr/>
        <p:nvPr/>
      </p:nvGrpSpPr>
      <p:grpSpPr>
        <a:xfrm>
          <a:off x="0" y="0"/>
          <a:ext cx="0" cy="0"/>
          <a:chOff x="0" y="0"/>
          <a:chExt cx="0" cy="0"/>
        </a:xfrm>
      </p:grpSpPr>
      <p:sp>
        <p:nvSpPr>
          <p:cNvPr id="202" name="Google Shape;202;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03" name="Google Shape;203;p32"/>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204" name="Google Shape;204;p32"/>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205" name="Google Shape;205;p32"/>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206" name="Google Shape;206;p32"/>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07" name="Google Shape;207;p32"/>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208"/>
        <p:cNvGrpSpPr/>
        <p:nvPr/>
      </p:nvGrpSpPr>
      <p:grpSpPr>
        <a:xfrm>
          <a:off x="0" y="0"/>
          <a:ext cx="0" cy="0"/>
          <a:chOff x="0" y="0"/>
          <a:chExt cx="0" cy="0"/>
        </a:xfrm>
      </p:grpSpPr>
      <p:sp>
        <p:nvSpPr>
          <p:cNvPr id="209" name="Google Shape;209;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10" name="Google Shape;210;p33"/>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211" name="Google Shape;211;p33"/>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212" name="Google Shape;212;p33"/>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213" name="Google Shape;213;p33"/>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214" name="Google Shape;214;p33"/>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15" name="Google Shape;215;p33"/>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16" name="Google Shape;216;p33"/>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217"/>
        <p:cNvGrpSpPr/>
        <p:nvPr/>
      </p:nvGrpSpPr>
      <p:grpSpPr>
        <a:xfrm>
          <a:off x="0" y="0"/>
          <a:ext cx="0" cy="0"/>
          <a:chOff x="0" y="0"/>
          <a:chExt cx="0" cy="0"/>
        </a:xfrm>
      </p:grpSpPr>
      <p:sp>
        <p:nvSpPr>
          <p:cNvPr id="218" name="Google Shape;218;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19" name="Google Shape;219;p34"/>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220" name="Google Shape;220;p34"/>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221" name="Google Shape;221;p34"/>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222" name="Google Shape;222;p34"/>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223" name="Google Shape;223;p34"/>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224" name="Google Shape;224;p34"/>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25" name="Google Shape;225;p34"/>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26" name="Google Shape;226;p34"/>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27" name="Google Shape;227;p34"/>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228"/>
        <p:cNvGrpSpPr/>
        <p:nvPr/>
      </p:nvGrpSpPr>
      <p:grpSpPr>
        <a:xfrm>
          <a:off x="0" y="0"/>
          <a:ext cx="0" cy="0"/>
          <a:chOff x="0" y="0"/>
          <a:chExt cx="0" cy="0"/>
        </a:xfrm>
      </p:grpSpPr>
      <p:sp>
        <p:nvSpPr>
          <p:cNvPr id="229" name="Google Shape;229;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 name="Google Shape;230;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31" name="Google Shape;231;p35"/>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232"/>
        <p:cNvGrpSpPr/>
        <p:nvPr/>
      </p:nvGrpSpPr>
      <p:grpSpPr>
        <a:xfrm>
          <a:off x="0" y="0"/>
          <a:ext cx="0" cy="0"/>
          <a:chOff x="0" y="0"/>
          <a:chExt cx="0" cy="0"/>
        </a:xfrm>
      </p:grpSpPr>
      <p:sp>
        <p:nvSpPr>
          <p:cNvPr id="233" name="Google Shape;233;p36"/>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4" name="Google Shape;234;p36"/>
          <p:cNvSpPr>
            <a:spLocks noGrp="1"/>
          </p:cNvSpPr>
          <p:nvPr>
            <p:ph type="pic" idx="2"/>
          </p:nvPr>
        </p:nvSpPr>
        <p:spPr>
          <a:xfrm>
            <a:off x="4804825" y="1133300"/>
            <a:ext cx="4027500" cy="2392800"/>
          </a:xfrm>
          <a:prstGeom prst="rect">
            <a:avLst/>
          </a:prstGeom>
          <a:noFill/>
          <a:ln>
            <a:noFill/>
          </a:ln>
        </p:spPr>
      </p:sp>
      <p:sp>
        <p:nvSpPr>
          <p:cNvPr id="235" name="Google Shape;235;p36"/>
          <p:cNvSpPr>
            <a:spLocks noGrp="1"/>
          </p:cNvSpPr>
          <p:nvPr>
            <p:ph type="pic" idx="3"/>
          </p:nvPr>
        </p:nvSpPr>
        <p:spPr>
          <a:xfrm>
            <a:off x="311725" y="1133300"/>
            <a:ext cx="4027500" cy="2392800"/>
          </a:xfrm>
          <a:prstGeom prst="rect">
            <a:avLst/>
          </a:prstGeom>
          <a:noFill/>
          <a:ln>
            <a:noFill/>
          </a:ln>
        </p:spPr>
      </p:sp>
      <p:sp>
        <p:nvSpPr>
          <p:cNvPr id="236" name="Google Shape;236;p36"/>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7" name="Google Shape;237;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38" name="Google Shape;238;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 name="Google Shape;239;p36"/>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240" name="Google Shape;240;p36"/>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241"/>
        <p:cNvGrpSpPr/>
        <p:nvPr/>
      </p:nvGrpSpPr>
      <p:grpSpPr>
        <a:xfrm>
          <a:off x="0" y="0"/>
          <a:ext cx="0" cy="0"/>
          <a:chOff x="0" y="0"/>
          <a:chExt cx="0" cy="0"/>
        </a:xfrm>
      </p:grpSpPr>
      <p:sp>
        <p:nvSpPr>
          <p:cNvPr id="242" name="Google Shape;242;p37"/>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3" name="Google Shape;243;p37"/>
          <p:cNvSpPr>
            <a:spLocks noGrp="1"/>
          </p:cNvSpPr>
          <p:nvPr>
            <p:ph type="pic" idx="2"/>
          </p:nvPr>
        </p:nvSpPr>
        <p:spPr>
          <a:xfrm>
            <a:off x="6205225" y="1128325"/>
            <a:ext cx="2627100" cy="2273100"/>
          </a:xfrm>
          <a:prstGeom prst="rect">
            <a:avLst/>
          </a:prstGeom>
          <a:noFill/>
          <a:ln>
            <a:noFill/>
          </a:ln>
        </p:spPr>
      </p:sp>
      <p:sp>
        <p:nvSpPr>
          <p:cNvPr id="244" name="Google Shape;244;p37"/>
          <p:cNvSpPr>
            <a:spLocks noGrp="1"/>
          </p:cNvSpPr>
          <p:nvPr>
            <p:ph type="pic" idx="3"/>
          </p:nvPr>
        </p:nvSpPr>
        <p:spPr>
          <a:xfrm>
            <a:off x="311725" y="1128325"/>
            <a:ext cx="2627100" cy="2273100"/>
          </a:xfrm>
          <a:prstGeom prst="rect">
            <a:avLst/>
          </a:prstGeom>
          <a:noFill/>
          <a:ln>
            <a:noFill/>
          </a:ln>
        </p:spPr>
      </p:sp>
      <p:sp>
        <p:nvSpPr>
          <p:cNvPr id="245" name="Google Shape;245;p37"/>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6" name="Google Shape;246;p37"/>
          <p:cNvSpPr>
            <a:spLocks noGrp="1"/>
          </p:cNvSpPr>
          <p:nvPr>
            <p:ph type="pic" idx="5"/>
          </p:nvPr>
        </p:nvSpPr>
        <p:spPr>
          <a:xfrm>
            <a:off x="3255250" y="1128325"/>
            <a:ext cx="2627100" cy="2273100"/>
          </a:xfrm>
          <a:prstGeom prst="rect">
            <a:avLst/>
          </a:prstGeom>
          <a:noFill/>
          <a:ln>
            <a:noFill/>
          </a:ln>
        </p:spPr>
      </p:sp>
      <p:sp>
        <p:nvSpPr>
          <p:cNvPr id="247" name="Google Shape;247;p37"/>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8" name="Google Shape;248;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49" name="Google Shape;249;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37"/>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251" name="Google Shape;251;p37"/>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252" name="Google Shape;252;p37"/>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253"/>
        <p:cNvGrpSpPr/>
        <p:nvPr/>
      </p:nvGrpSpPr>
      <p:grpSpPr>
        <a:xfrm>
          <a:off x="0" y="0"/>
          <a:ext cx="0" cy="0"/>
          <a:chOff x="0" y="0"/>
          <a:chExt cx="0" cy="0"/>
        </a:xfrm>
      </p:grpSpPr>
      <p:sp>
        <p:nvSpPr>
          <p:cNvPr id="254" name="Google Shape;254;p38"/>
          <p:cNvSpPr>
            <a:spLocks noGrp="1"/>
          </p:cNvSpPr>
          <p:nvPr>
            <p:ph type="pic" idx="2"/>
          </p:nvPr>
        </p:nvSpPr>
        <p:spPr>
          <a:xfrm>
            <a:off x="311700" y="445025"/>
            <a:ext cx="8520600" cy="4218300"/>
          </a:xfrm>
          <a:prstGeom prst="rect">
            <a:avLst/>
          </a:prstGeom>
          <a:noFill/>
          <a:ln>
            <a:noFill/>
          </a:ln>
        </p:spPr>
      </p:sp>
      <p:sp>
        <p:nvSpPr>
          <p:cNvPr id="255" name="Google Shape;255;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256"/>
        <p:cNvGrpSpPr/>
        <p:nvPr/>
      </p:nvGrpSpPr>
      <p:grpSpPr>
        <a:xfrm>
          <a:off x="0" y="0"/>
          <a:ext cx="0" cy="0"/>
          <a:chOff x="0" y="0"/>
          <a:chExt cx="0" cy="0"/>
        </a:xfrm>
      </p:grpSpPr>
      <p:sp>
        <p:nvSpPr>
          <p:cNvPr id="257" name="Google Shape;257;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8" name="Google Shape;258;p39"/>
          <p:cNvSpPr>
            <a:spLocks noGrp="1"/>
          </p:cNvSpPr>
          <p:nvPr>
            <p:ph type="pic" idx="2"/>
          </p:nvPr>
        </p:nvSpPr>
        <p:spPr>
          <a:xfrm>
            <a:off x="3389600" y="118913"/>
            <a:ext cx="1643700" cy="1535100"/>
          </a:xfrm>
          <a:prstGeom prst="rect">
            <a:avLst/>
          </a:prstGeom>
          <a:noFill/>
          <a:ln>
            <a:noFill/>
          </a:ln>
        </p:spPr>
      </p:sp>
      <p:sp>
        <p:nvSpPr>
          <p:cNvPr id="259" name="Google Shape;259;p39"/>
          <p:cNvSpPr>
            <a:spLocks noGrp="1"/>
          </p:cNvSpPr>
          <p:nvPr>
            <p:ph type="pic" idx="3"/>
          </p:nvPr>
        </p:nvSpPr>
        <p:spPr>
          <a:xfrm>
            <a:off x="5195935" y="118913"/>
            <a:ext cx="1643700" cy="1535100"/>
          </a:xfrm>
          <a:prstGeom prst="rect">
            <a:avLst/>
          </a:prstGeom>
          <a:noFill/>
          <a:ln>
            <a:noFill/>
          </a:ln>
        </p:spPr>
      </p:sp>
      <p:sp>
        <p:nvSpPr>
          <p:cNvPr id="260" name="Google Shape;260;p39"/>
          <p:cNvSpPr>
            <a:spLocks noGrp="1"/>
          </p:cNvSpPr>
          <p:nvPr>
            <p:ph type="pic" idx="4"/>
          </p:nvPr>
        </p:nvSpPr>
        <p:spPr>
          <a:xfrm>
            <a:off x="7002270" y="118913"/>
            <a:ext cx="1643700" cy="1535100"/>
          </a:xfrm>
          <a:prstGeom prst="rect">
            <a:avLst/>
          </a:prstGeom>
          <a:noFill/>
          <a:ln>
            <a:noFill/>
          </a:ln>
        </p:spPr>
      </p:sp>
      <p:sp>
        <p:nvSpPr>
          <p:cNvPr id="261" name="Google Shape;261;p39"/>
          <p:cNvSpPr>
            <a:spLocks noGrp="1"/>
          </p:cNvSpPr>
          <p:nvPr>
            <p:ph type="pic" idx="5"/>
          </p:nvPr>
        </p:nvSpPr>
        <p:spPr>
          <a:xfrm>
            <a:off x="3389588" y="1804212"/>
            <a:ext cx="1643700" cy="1535100"/>
          </a:xfrm>
          <a:prstGeom prst="rect">
            <a:avLst/>
          </a:prstGeom>
          <a:noFill/>
          <a:ln>
            <a:noFill/>
          </a:ln>
        </p:spPr>
      </p:sp>
      <p:sp>
        <p:nvSpPr>
          <p:cNvPr id="262" name="Google Shape;262;p39"/>
          <p:cNvSpPr>
            <a:spLocks noGrp="1"/>
          </p:cNvSpPr>
          <p:nvPr>
            <p:ph type="pic" idx="6"/>
          </p:nvPr>
        </p:nvSpPr>
        <p:spPr>
          <a:xfrm>
            <a:off x="5195922" y="1804212"/>
            <a:ext cx="1643700" cy="1535100"/>
          </a:xfrm>
          <a:prstGeom prst="rect">
            <a:avLst/>
          </a:prstGeom>
          <a:noFill/>
          <a:ln>
            <a:noFill/>
          </a:ln>
        </p:spPr>
      </p:sp>
      <p:sp>
        <p:nvSpPr>
          <p:cNvPr id="263" name="Google Shape;263;p39"/>
          <p:cNvSpPr>
            <a:spLocks noGrp="1"/>
          </p:cNvSpPr>
          <p:nvPr>
            <p:ph type="pic" idx="7"/>
          </p:nvPr>
        </p:nvSpPr>
        <p:spPr>
          <a:xfrm>
            <a:off x="7002257" y="1804212"/>
            <a:ext cx="1643700" cy="1535100"/>
          </a:xfrm>
          <a:prstGeom prst="rect">
            <a:avLst/>
          </a:prstGeom>
          <a:noFill/>
          <a:ln>
            <a:noFill/>
          </a:ln>
        </p:spPr>
      </p:sp>
      <p:sp>
        <p:nvSpPr>
          <p:cNvPr id="264" name="Google Shape;264;p39"/>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5" name="Google Shape;265;p39"/>
          <p:cNvSpPr>
            <a:spLocks noGrp="1"/>
          </p:cNvSpPr>
          <p:nvPr>
            <p:ph type="pic" idx="8"/>
          </p:nvPr>
        </p:nvSpPr>
        <p:spPr>
          <a:xfrm>
            <a:off x="3389588" y="3489487"/>
            <a:ext cx="1643700" cy="1535100"/>
          </a:xfrm>
          <a:prstGeom prst="rect">
            <a:avLst/>
          </a:prstGeom>
          <a:noFill/>
          <a:ln>
            <a:noFill/>
          </a:ln>
        </p:spPr>
      </p:sp>
      <p:sp>
        <p:nvSpPr>
          <p:cNvPr id="266" name="Google Shape;266;p39"/>
          <p:cNvSpPr>
            <a:spLocks noGrp="1"/>
          </p:cNvSpPr>
          <p:nvPr>
            <p:ph type="pic" idx="9"/>
          </p:nvPr>
        </p:nvSpPr>
        <p:spPr>
          <a:xfrm>
            <a:off x="5195922" y="3489487"/>
            <a:ext cx="1643700" cy="1535100"/>
          </a:xfrm>
          <a:prstGeom prst="rect">
            <a:avLst/>
          </a:prstGeom>
          <a:noFill/>
          <a:ln>
            <a:noFill/>
          </a:ln>
        </p:spPr>
      </p:sp>
      <p:sp>
        <p:nvSpPr>
          <p:cNvPr id="267" name="Google Shape;267;p39"/>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Header">
  <p:cSld name="BLANK_1">
    <p:spTree>
      <p:nvGrpSpPr>
        <p:cNvPr id="1" name="Shape 268"/>
        <p:cNvGrpSpPr/>
        <p:nvPr/>
      </p:nvGrpSpPr>
      <p:grpSpPr>
        <a:xfrm>
          <a:off x="0" y="0"/>
          <a:ext cx="0" cy="0"/>
          <a:chOff x="0" y="0"/>
          <a:chExt cx="0" cy="0"/>
        </a:xfrm>
      </p:grpSpPr>
      <p:sp>
        <p:nvSpPr>
          <p:cNvPr id="269" name="Google Shape;269;p40"/>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a:endParaRPr/>
          </a:p>
        </p:txBody>
      </p:sp>
      <p:sp>
        <p:nvSpPr>
          <p:cNvPr id="270" name="Google Shape;270;p40"/>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a:endParaRPr/>
          </a:p>
        </p:txBody>
      </p:sp>
      <p:sp>
        <p:nvSpPr>
          <p:cNvPr id="271" name="Google Shape;271;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37">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Slide" type="secHead">
  <p:cSld name="SECTION_HEADER">
    <p:spTree>
      <p:nvGrpSpPr>
        <p:cNvPr id="1" name="Shape 272"/>
        <p:cNvGrpSpPr/>
        <p:nvPr/>
      </p:nvGrpSpPr>
      <p:grpSpPr>
        <a:xfrm>
          <a:off x="0" y="0"/>
          <a:ext cx="0" cy="0"/>
          <a:chOff x="0" y="0"/>
          <a:chExt cx="0" cy="0"/>
        </a:xfrm>
      </p:grpSpPr>
      <p:sp>
        <p:nvSpPr>
          <p:cNvPr id="273" name="Google Shape;273;p41"/>
          <p:cNvSpPr txBox="1">
            <a:spLocks noGrp="1"/>
          </p:cNvSpPr>
          <p:nvPr>
            <p:ph type="title"/>
          </p:nvPr>
        </p:nvSpPr>
        <p:spPr>
          <a:xfrm>
            <a:off x="632850" y="1124700"/>
            <a:ext cx="7878300" cy="1741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41"/>
          <p:cNvSpPr txBox="1">
            <a:spLocks noGrp="1"/>
          </p:cNvSpPr>
          <p:nvPr>
            <p:ph type="body" idx="1"/>
          </p:nvPr>
        </p:nvSpPr>
        <p:spPr>
          <a:xfrm>
            <a:off x="4064100" y="4335200"/>
            <a:ext cx="1015800" cy="266100"/>
          </a:xfrm>
          <a:prstGeom prst="rect">
            <a:avLst/>
          </a:prstGeom>
          <a:ln w="9525" cap="flat" cmpd="sng">
            <a:solidFill>
              <a:schemeClr val="dk1"/>
            </a:solidFill>
            <a:prstDash val="solid"/>
            <a:round/>
            <a:headEnd type="none" w="sm" len="sm"/>
            <a:tailEnd type="none" w="sm" len="sm"/>
          </a:ln>
        </p:spPr>
        <p:txBody>
          <a:bodyPr spcFirstLastPara="1" wrap="square" lIns="0" tIns="0" rIns="0" bIns="0" anchor="ctr" anchorCtr="0">
            <a:noAutofit/>
          </a:bodyPr>
          <a:lstStyle>
            <a:lvl1pPr marL="457200" lvl="0" indent="-298450">
              <a:spcBef>
                <a:spcPts val="0"/>
              </a:spcBef>
              <a:spcAft>
                <a:spcPts val="0"/>
              </a:spcAft>
              <a:buSzPts val="1100"/>
              <a:buFont typeface="Barlow Medium"/>
              <a:buChar char="●"/>
              <a:defRPr sz="1100">
                <a:latin typeface="Barlow Medium"/>
                <a:ea typeface="Barlow Medium"/>
                <a:cs typeface="Barlow Medium"/>
                <a:sym typeface="Barlow Medium"/>
              </a:defRPr>
            </a:lvl1pPr>
            <a:lvl2pPr marL="914400" lvl="1" indent="-298450">
              <a:spcBef>
                <a:spcPts val="0"/>
              </a:spcBef>
              <a:spcAft>
                <a:spcPts val="0"/>
              </a:spcAft>
              <a:buSzPts val="1100"/>
              <a:buFont typeface="Barlow Medium"/>
              <a:buChar char="○"/>
              <a:defRPr sz="1100">
                <a:latin typeface="Barlow Medium"/>
                <a:ea typeface="Barlow Medium"/>
                <a:cs typeface="Barlow Medium"/>
                <a:sym typeface="Barlow Medium"/>
              </a:defRPr>
            </a:lvl2pPr>
            <a:lvl3pPr marL="1371600" lvl="2" indent="-298450">
              <a:spcBef>
                <a:spcPts val="0"/>
              </a:spcBef>
              <a:spcAft>
                <a:spcPts val="0"/>
              </a:spcAft>
              <a:buSzPts val="1100"/>
              <a:buFont typeface="Barlow Medium"/>
              <a:buChar char="■"/>
              <a:defRPr sz="1100">
                <a:latin typeface="Barlow Medium"/>
                <a:ea typeface="Barlow Medium"/>
                <a:cs typeface="Barlow Medium"/>
                <a:sym typeface="Barlow Medium"/>
              </a:defRPr>
            </a:lvl3pPr>
            <a:lvl4pPr marL="1828800" lvl="3" indent="-298450">
              <a:spcBef>
                <a:spcPts val="0"/>
              </a:spcBef>
              <a:spcAft>
                <a:spcPts val="0"/>
              </a:spcAft>
              <a:buSzPts val="1100"/>
              <a:buFont typeface="Barlow Medium"/>
              <a:buChar char="●"/>
              <a:defRPr sz="1100">
                <a:latin typeface="Barlow Medium"/>
                <a:ea typeface="Barlow Medium"/>
                <a:cs typeface="Barlow Medium"/>
                <a:sym typeface="Barlow Medium"/>
              </a:defRPr>
            </a:lvl4pPr>
            <a:lvl5pPr marL="2286000" lvl="4" indent="-298450">
              <a:spcBef>
                <a:spcPts val="0"/>
              </a:spcBef>
              <a:spcAft>
                <a:spcPts val="0"/>
              </a:spcAft>
              <a:buSzPts val="1100"/>
              <a:buFont typeface="Barlow Medium"/>
              <a:buChar char="○"/>
              <a:defRPr>
                <a:latin typeface="Barlow Medium"/>
                <a:ea typeface="Barlow Medium"/>
                <a:cs typeface="Barlow Medium"/>
                <a:sym typeface="Barlow Medium"/>
              </a:defRPr>
            </a:lvl5pPr>
            <a:lvl6pPr marL="2743200" lvl="5" indent="-298450">
              <a:spcBef>
                <a:spcPts val="0"/>
              </a:spcBef>
              <a:spcAft>
                <a:spcPts val="0"/>
              </a:spcAft>
              <a:buSzPts val="1100"/>
              <a:buFont typeface="Barlow Medium"/>
              <a:buChar char="■"/>
              <a:defRPr sz="1100">
                <a:latin typeface="Barlow Medium"/>
                <a:ea typeface="Barlow Medium"/>
                <a:cs typeface="Barlow Medium"/>
                <a:sym typeface="Barlow Medium"/>
              </a:defRPr>
            </a:lvl6pPr>
            <a:lvl7pPr marL="3200400" lvl="6" indent="-298450">
              <a:spcBef>
                <a:spcPts val="0"/>
              </a:spcBef>
              <a:spcAft>
                <a:spcPts val="0"/>
              </a:spcAft>
              <a:buSzPts val="1100"/>
              <a:buFont typeface="Barlow Medium"/>
              <a:buChar char="●"/>
              <a:defRPr sz="1100">
                <a:latin typeface="Barlow Medium"/>
                <a:ea typeface="Barlow Medium"/>
                <a:cs typeface="Barlow Medium"/>
                <a:sym typeface="Barlow Medium"/>
              </a:defRPr>
            </a:lvl7pPr>
            <a:lvl8pPr marL="3657600" lvl="7" indent="-298450">
              <a:spcBef>
                <a:spcPts val="0"/>
              </a:spcBef>
              <a:spcAft>
                <a:spcPts val="0"/>
              </a:spcAft>
              <a:buSzPts val="1100"/>
              <a:buFont typeface="Barlow Medium"/>
              <a:buChar char="○"/>
              <a:defRPr sz="1100">
                <a:latin typeface="Barlow Medium"/>
                <a:ea typeface="Barlow Medium"/>
                <a:cs typeface="Barlow Medium"/>
                <a:sym typeface="Barlow Medium"/>
              </a:defRPr>
            </a:lvl8pPr>
            <a:lvl9pPr marL="4114800" lvl="8" indent="-298450">
              <a:spcBef>
                <a:spcPts val="0"/>
              </a:spcBef>
              <a:spcAft>
                <a:spcPts val="0"/>
              </a:spcAft>
              <a:buSzPts val="1100"/>
              <a:buFont typeface="Barlow Medium"/>
              <a:buChar char="■"/>
              <a:defRPr sz="1100">
                <a:latin typeface="Barlow Medium"/>
                <a:ea typeface="Barlow Medium"/>
                <a:cs typeface="Barlow Medium"/>
                <a:sym typeface="Barlow Medium"/>
              </a:defRPr>
            </a:lvl9pPr>
          </a:lstStyle>
          <a:p>
            <a:endParaRPr/>
          </a:p>
        </p:txBody>
      </p:sp>
      <p:sp>
        <p:nvSpPr>
          <p:cNvPr id="275" name="Google Shape;275;p41"/>
          <p:cNvSpPr txBox="1">
            <a:spLocks noGrp="1"/>
          </p:cNvSpPr>
          <p:nvPr>
            <p:ph type="subTitle" idx="2"/>
          </p:nvPr>
        </p:nvSpPr>
        <p:spPr>
          <a:xfrm>
            <a:off x="2857500" y="2902000"/>
            <a:ext cx="3765600" cy="9348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a:endParaRPr/>
          </a:p>
        </p:txBody>
      </p:sp>
      <p:sp>
        <p:nvSpPr>
          <p:cNvPr id="276" name="Google Shape;276;p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Agenda / Content" type="tx">
  <p:cSld name="TITLE_AND_BODY">
    <p:bg>
      <p:bgPr>
        <a:solidFill>
          <a:schemeClr val="accent4"/>
        </a:solidFill>
        <a:effectLst/>
      </p:bgPr>
    </p:bg>
    <p:spTree>
      <p:nvGrpSpPr>
        <p:cNvPr id="1" name="Shape 277"/>
        <p:cNvGrpSpPr/>
        <p:nvPr/>
      </p:nvGrpSpPr>
      <p:grpSpPr>
        <a:xfrm>
          <a:off x="0" y="0"/>
          <a:ext cx="0" cy="0"/>
          <a:chOff x="0" y="0"/>
          <a:chExt cx="0" cy="0"/>
        </a:xfrm>
      </p:grpSpPr>
      <p:sp>
        <p:nvSpPr>
          <p:cNvPr id="278" name="Google Shape;278;p42"/>
          <p:cNvSpPr txBox="1">
            <a:spLocks noGrp="1"/>
          </p:cNvSpPr>
          <p:nvPr>
            <p:ph type="subTitle" idx="1"/>
          </p:nvPr>
        </p:nvSpPr>
        <p:spPr>
          <a:xfrm>
            <a:off x="475075" y="309225"/>
            <a:ext cx="3655200" cy="35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a:endParaRPr/>
          </a:p>
        </p:txBody>
      </p:sp>
      <p:sp>
        <p:nvSpPr>
          <p:cNvPr id="279" name="Google Shape;279;p42"/>
          <p:cNvSpPr txBox="1">
            <a:spLocks noGrp="1"/>
          </p:cNvSpPr>
          <p:nvPr>
            <p:ph type="body" idx="2"/>
          </p:nvPr>
        </p:nvSpPr>
        <p:spPr>
          <a:xfrm>
            <a:off x="711097" y="980554"/>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80" name="Google Shape;280;p42"/>
          <p:cNvSpPr txBox="1">
            <a:spLocks noGrp="1"/>
          </p:cNvSpPr>
          <p:nvPr>
            <p:ph type="subTitle" idx="3"/>
          </p:nvPr>
        </p:nvSpPr>
        <p:spPr>
          <a:xfrm>
            <a:off x="1699221" y="980279"/>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81" name="Google Shape;281;p42"/>
          <p:cNvSpPr txBox="1">
            <a:spLocks noGrp="1"/>
          </p:cNvSpPr>
          <p:nvPr>
            <p:ph type="body" idx="4"/>
          </p:nvPr>
        </p:nvSpPr>
        <p:spPr>
          <a:xfrm>
            <a:off x="2285797" y="1226054"/>
            <a:ext cx="1775700" cy="11085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82" name="Google Shape;282;p42"/>
          <p:cNvSpPr txBox="1">
            <a:spLocks noGrp="1"/>
          </p:cNvSpPr>
          <p:nvPr>
            <p:ph type="body" idx="5"/>
          </p:nvPr>
        </p:nvSpPr>
        <p:spPr>
          <a:xfrm>
            <a:off x="711097" y="2222666"/>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83" name="Google Shape;283;p42"/>
          <p:cNvSpPr txBox="1">
            <a:spLocks noGrp="1"/>
          </p:cNvSpPr>
          <p:nvPr>
            <p:ph type="subTitle" idx="6"/>
          </p:nvPr>
        </p:nvSpPr>
        <p:spPr>
          <a:xfrm>
            <a:off x="1699221" y="2222391"/>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84" name="Google Shape;284;p42"/>
          <p:cNvSpPr txBox="1">
            <a:spLocks noGrp="1"/>
          </p:cNvSpPr>
          <p:nvPr>
            <p:ph type="body" idx="7"/>
          </p:nvPr>
        </p:nvSpPr>
        <p:spPr>
          <a:xfrm>
            <a:off x="2285797" y="2468166"/>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85" name="Google Shape;285;p42"/>
          <p:cNvSpPr txBox="1">
            <a:spLocks noGrp="1"/>
          </p:cNvSpPr>
          <p:nvPr>
            <p:ph type="body" idx="8"/>
          </p:nvPr>
        </p:nvSpPr>
        <p:spPr>
          <a:xfrm>
            <a:off x="711097" y="3219093"/>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86" name="Google Shape;286;p42"/>
          <p:cNvSpPr txBox="1">
            <a:spLocks noGrp="1"/>
          </p:cNvSpPr>
          <p:nvPr>
            <p:ph type="subTitle" idx="9"/>
          </p:nvPr>
        </p:nvSpPr>
        <p:spPr>
          <a:xfrm>
            <a:off x="1699221" y="3218818"/>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87" name="Google Shape;287;p42"/>
          <p:cNvSpPr txBox="1">
            <a:spLocks noGrp="1"/>
          </p:cNvSpPr>
          <p:nvPr>
            <p:ph type="body" idx="13"/>
          </p:nvPr>
        </p:nvSpPr>
        <p:spPr>
          <a:xfrm>
            <a:off x="2285797" y="3464593"/>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88" name="Google Shape;288;p42"/>
          <p:cNvSpPr txBox="1">
            <a:spLocks noGrp="1"/>
          </p:cNvSpPr>
          <p:nvPr>
            <p:ph type="body" idx="14"/>
          </p:nvPr>
        </p:nvSpPr>
        <p:spPr>
          <a:xfrm>
            <a:off x="4746581" y="980554"/>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89" name="Google Shape;289;p42"/>
          <p:cNvSpPr txBox="1">
            <a:spLocks noGrp="1"/>
          </p:cNvSpPr>
          <p:nvPr>
            <p:ph type="subTitle" idx="15"/>
          </p:nvPr>
        </p:nvSpPr>
        <p:spPr>
          <a:xfrm>
            <a:off x="5734705" y="980279"/>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90" name="Google Shape;290;p42"/>
          <p:cNvSpPr txBox="1">
            <a:spLocks noGrp="1"/>
          </p:cNvSpPr>
          <p:nvPr>
            <p:ph type="body" idx="16"/>
          </p:nvPr>
        </p:nvSpPr>
        <p:spPr>
          <a:xfrm>
            <a:off x="6321281" y="1226054"/>
            <a:ext cx="1775700" cy="11085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91" name="Google Shape;291;p42"/>
          <p:cNvSpPr txBox="1">
            <a:spLocks noGrp="1"/>
          </p:cNvSpPr>
          <p:nvPr>
            <p:ph type="body" idx="17"/>
          </p:nvPr>
        </p:nvSpPr>
        <p:spPr>
          <a:xfrm>
            <a:off x="4746581" y="2222666"/>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92" name="Google Shape;292;p42"/>
          <p:cNvSpPr txBox="1">
            <a:spLocks noGrp="1"/>
          </p:cNvSpPr>
          <p:nvPr>
            <p:ph type="subTitle" idx="18"/>
          </p:nvPr>
        </p:nvSpPr>
        <p:spPr>
          <a:xfrm>
            <a:off x="5734705" y="2222391"/>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93" name="Google Shape;293;p42"/>
          <p:cNvSpPr txBox="1">
            <a:spLocks noGrp="1"/>
          </p:cNvSpPr>
          <p:nvPr>
            <p:ph type="body" idx="19"/>
          </p:nvPr>
        </p:nvSpPr>
        <p:spPr>
          <a:xfrm>
            <a:off x="6321281" y="2468166"/>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94" name="Google Shape;294;p42"/>
          <p:cNvSpPr txBox="1">
            <a:spLocks noGrp="1"/>
          </p:cNvSpPr>
          <p:nvPr>
            <p:ph type="body" idx="20"/>
          </p:nvPr>
        </p:nvSpPr>
        <p:spPr>
          <a:xfrm>
            <a:off x="4746581" y="3219093"/>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95" name="Google Shape;295;p42"/>
          <p:cNvSpPr txBox="1">
            <a:spLocks noGrp="1"/>
          </p:cNvSpPr>
          <p:nvPr>
            <p:ph type="subTitle" idx="21"/>
          </p:nvPr>
        </p:nvSpPr>
        <p:spPr>
          <a:xfrm>
            <a:off x="5734705" y="3218818"/>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96" name="Google Shape;296;p42"/>
          <p:cNvSpPr txBox="1">
            <a:spLocks noGrp="1"/>
          </p:cNvSpPr>
          <p:nvPr>
            <p:ph type="body" idx="22"/>
          </p:nvPr>
        </p:nvSpPr>
        <p:spPr>
          <a:xfrm>
            <a:off x="6321281" y="3464593"/>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97" name="Google Shape;297;p42"/>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ext + Image" type="twoColTx">
  <p:cSld name="TITLE_AND_TWO_COLUMNS">
    <p:bg>
      <p:bgPr>
        <a:solidFill>
          <a:schemeClr val="dk1"/>
        </a:solidFill>
        <a:effectLst/>
      </p:bgPr>
    </p:bg>
    <p:spTree>
      <p:nvGrpSpPr>
        <p:cNvPr id="1" name="Shape 298"/>
        <p:cNvGrpSpPr/>
        <p:nvPr/>
      </p:nvGrpSpPr>
      <p:grpSpPr>
        <a:xfrm>
          <a:off x="0" y="0"/>
          <a:ext cx="0" cy="0"/>
          <a:chOff x="0" y="0"/>
          <a:chExt cx="0" cy="0"/>
        </a:xfrm>
      </p:grpSpPr>
      <p:sp>
        <p:nvSpPr>
          <p:cNvPr id="299" name="Google Shape;299;p43"/>
          <p:cNvSpPr/>
          <p:nvPr/>
        </p:nvSpPr>
        <p:spPr>
          <a:xfrm>
            <a:off x="0" y="0"/>
            <a:ext cx="9144000" cy="1631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3"/>
          <p:cNvSpPr txBox="1"/>
          <p:nvPr/>
        </p:nvSpPr>
        <p:spPr>
          <a:xfrm>
            <a:off x="6262625" y="1205946"/>
            <a:ext cx="2155500" cy="3231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700" i="1">
                <a:solidFill>
                  <a:schemeClr val="lt1"/>
                </a:solidFill>
                <a:latin typeface="Barlow Medium"/>
                <a:ea typeface="Barlow Medium"/>
                <a:cs typeface="Barlow Medium"/>
                <a:sym typeface="Barlow Medium"/>
              </a:rPr>
              <a:t>Lorem ipsum dolor sit amet, consectetur adipiscing elit.</a:t>
            </a:r>
            <a:endParaRPr sz="700" i="1">
              <a:solidFill>
                <a:schemeClr val="lt1"/>
              </a:solidFill>
              <a:latin typeface="Barlow Medium"/>
              <a:ea typeface="Barlow Medium"/>
              <a:cs typeface="Barlow Medium"/>
              <a:sym typeface="Barlow Medium"/>
            </a:endParaRPr>
          </a:p>
        </p:txBody>
      </p:sp>
      <p:sp>
        <p:nvSpPr>
          <p:cNvPr id="301" name="Google Shape;301;p43"/>
          <p:cNvSpPr>
            <a:spLocks noGrp="1"/>
          </p:cNvSpPr>
          <p:nvPr>
            <p:ph type="pic" idx="2"/>
          </p:nvPr>
        </p:nvSpPr>
        <p:spPr>
          <a:xfrm>
            <a:off x="3915225" y="1631250"/>
            <a:ext cx="4441200" cy="3009900"/>
          </a:xfrm>
          <a:prstGeom prst="roundRect">
            <a:avLst>
              <a:gd name="adj" fmla="val 16667"/>
            </a:avLst>
          </a:prstGeom>
          <a:noFill/>
          <a:ln>
            <a:noFill/>
          </a:ln>
        </p:spPr>
      </p:sp>
      <p:sp>
        <p:nvSpPr>
          <p:cNvPr id="302" name="Google Shape;302;p43"/>
          <p:cNvSpPr txBox="1">
            <a:spLocks noGrp="1"/>
          </p:cNvSpPr>
          <p:nvPr>
            <p:ph type="body" idx="1"/>
          </p:nvPr>
        </p:nvSpPr>
        <p:spPr>
          <a:xfrm>
            <a:off x="791150" y="1835400"/>
            <a:ext cx="2094000" cy="846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03" name="Google Shape;303;p43"/>
          <p:cNvSpPr txBox="1">
            <a:spLocks noGrp="1"/>
          </p:cNvSpPr>
          <p:nvPr>
            <p:ph type="subTitle" idx="3"/>
          </p:nvPr>
        </p:nvSpPr>
        <p:spPr>
          <a:xfrm>
            <a:off x="791150" y="522625"/>
            <a:ext cx="3918300" cy="10065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304" name="Google Shape;304;p43"/>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 1 column text">
  <p:cSld name="TITLE_AND_TWO_COLUMNS_1">
    <p:bg>
      <p:bgPr>
        <a:solidFill>
          <a:schemeClr val="dk1"/>
        </a:solidFill>
        <a:effectLst/>
      </p:bgPr>
    </p:bg>
    <p:spTree>
      <p:nvGrpSpPr>
        <p:cNvPr id="1" name="Shape 305"/>
        <p:cNvGrpSpPr/>
        <p:nvPr/>
      </p:nvGrpSpPr>
      <p:grpSpPr>
        <a:xfrm>
          <a:off x="0" y="0"/>
          <a:ext cx="0" cy="0"/>
          <a:chOff x="0" y="0"/>
          <a:chExt cx="0" cy="0"/>
        </a:xfrm>
      </p:grpSpPr>
      <p:sp>
        <p:nvSpPr>
          <p:cNvPr id="306" name="Google Shape;306;p44"/>
          <p:cNvSpPr/>
          <p:nvPr/>
        </p:nvSpPr>
        <p:spPr>
          <a:xfrm>
            <a:off x="0" y="0"/>
            <a:ext cx="9144000" cy="1631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4"/>
          <p:cNvSpPr txBox="1">
            <a:spLocks noGrp="1"/>
          </p:cNvSpPr>
          <p:nvPr>
            <p:ph type="subTitle" idx="1"/>
          </p:nvPr>
        </p:nvSpPr>
        <p:spPr>
          <a:xfrm>
            <a:off x="791150" y="522625"/>
            <a:ext cx="5173200" cy="9765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308" name="Google Shape;308;p44"/>
          <p:cNvSpPr txBox="1">
            <a:spLocks noGrp="1"/>
          </p:cNvSpPr>
          <p:nvPr>
            <p:ph type="body" idx="2"/>
          </p:nvPr>
        </p:nvSpPr>
        <p:spPr>
          <a:xfrm>
            <a:off x="685450" y="2180950"/>
            <a:ext cx="3579600" cy="23856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Char char="●"/>
              <a:defRPr sz="1100">
                <a:solidFill>
                  <a:schemeClr val="lt1"/>
                </a:solidFill>
              </a:defRPr>
            </a:lvl1pPr>
            <a:lvl2pPr marL="914400" lvl="1" indent="-298450">
              <a:spcBef>
                <a:spcPts val="0"/>
              </a:spcBef>
              <a:spcAft>
                <a:spcPts val="0"/>
              </a:spcAft>
              <a:buClr>
                <a:schemeClr val="lt1"/>
              </a:buClr>
              <a:buSzPts val="1100"/>
              <a:buChar char="○"/>
              <a:defRPr sz="1100">
                <a:solidFill>
                  <a:schemeClr val="lt1"/>
                </a:solidFill>
              </a:defRPr>
            </a:lvl2pPr>
            <a:lvl3pPr marL="1371600" lvl="2" indent="-298450">
              <a:spcBef>
                <a:spcPts val="0"/>
              </a:spcBef>
              <a:spcAft>
                <a:spcPts val="0"/>
              </a:spcAft>
              <a:buClr>
                <a:schemeClr val="lt1"/>
              </a:buClr>
              <a:buSzPts val="1100"/>
              <a:buChar char="■"/>
              <a:defRPr sz="1100">
                <a:solidFill>
                  <a:schemeClr val="lt1"/>
                </a:solidFill>
              </a:defRPr>
            </a:lvl3pPr>
            <a:lvl4pPr marL="1828800" lvl="3" indent="-298450">
              <a:spcBef>
                <a:spcPts val="0"/>
              </a:spcBef>
              <a:spcAft>
                <a:spcPts val="0"/>
              </a:spcAft>
              <a:buClr>
                <a:schemeClr val="lt1"/>
              </a:buClr>
              <a:buSzPts val="1100"/>
              <a:buChar char="●"/>
              <a:defRPr sz="1100">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sz="1100">
                <a:solidFill>
                  <a:schemeClr val="lt1"/>
                </a:solidFill>
              </a:defRPr>
            </a:lvl6pPr>
            <a:lvl7pPr marL="3200400" lvl="6" indent="-298450">
              <a:spcBef>
                <a:spcPts val="0"/>
              </a:spcBef>
              <a:spcAft>
                <a:spcPts val="0"/>
              </a:spcAft>
              <a:buClr>
                <a:schemeClr val="lt1"/>
              </a:buClr>
              <a:buSzPts val="1100"/>
              <a:buChar char="●"/>
              <a:defRPr sz="1100">
                <a:solidFill>
                  <a:schemeClr val="lt1"/>
                </a:solidFill>
              </a:defRPr>
            </a:lvl7pPr>
            <a:lvl8pPr marL="3657600" lvl="7" indent="-298450">
              <a:spcBef>
                <a:spcPts val="0"/>
              </a:spcBef>
              <a:spcAft>
                <a:spcPts val="0"/>
              </a:spcAft>
              <a:buClr>
                <a:schemeClr val="lt1"/>
              </a:buClr>
              <a:buSzPts val="1100"/>
              <a:buChar char="○"/>
              <a:defRPr sz="1100">
                <a:solidFill>
                  <a:schemeClr val="lt1"/>
                </a:solidFill>
              </a:defRPr>
            </a:lvl8pPr>
            <a:lvl9pPr marL="4114800" lvl="8" indent="-298450">
              <a:spcBef>
                <a:spcPts val="0"/>
              </a:spcBef>
              <a:spcAft>
                <a:spcPts val="0"/>
              </a:spcAft>
              <a:buClr>
                <a:schemeClr val="lt1"/>
              </a:buClr>
              <a:buSzPts val="1100"/>
              <a:buChar char="■"/>
              <a:defRPr sz="1100">
                <a:solidFill>
                  <a:schemeClr val="lt1"/>
                </a:solidFill>
              </a:defRPr>
            </a:lvl9pPr>
          </a:lstStyle>
          <a:p>
            <a:endParaRPr/>
          </a:p>
        </p:txBody>
      </p:sp>
      <p:sp>
        <p:nvSpPr>
          <p:cNvPr id="309" name="Google Shape;309;p44"/>
          <p:cNvSpPr txBox="1">
            <a:spLocks noGrp="1"/>
          </p:cNvSpPr>
          <p:nvPr>
            <p:ph type="body" idx="3"/>
          </p:nvPr>
        </p:nvSpPr>
        <p:spPr>
          <a:xfrm>
            <a:off x="4601077" y="2180950"/>
            <a:ext cx="3579600" cy="23856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Char char="●"/>
              <a:defRPr sz="1100">
                <a:solidFill>
                  <a:schemeClr val="lt1"/>
                </a:solidFill>
              </a:defRPr>
            </a:lvl1pPr>
            <a:lvl2pPr marL="914400" lvl="1" indent="-298450">
              <a:spcBef>
                <a:spcPts val="0"/>
              </a:spcBef>
              <a:spcAft>
                <a:spcPts val="0"/>
              </a:spcAft>
              <a:buClr>
                <a:schemeClr val="lt1"/>
              </a:buClr>
              <a:buSzPts val="1100"/>
              <a:buChar char="○"/>
              <a:defRPr sz="1100">
                <a:solidFill>
                  <a:schemeClr val="lt1"/>
                </a:solidFill>
              </a:defRPr>
            </a:lvl2pPr>
            <a:lvl3pPr marL="1371600" lvl="2" indent="-298450">
              <a:spcBef>
                <a:spcPts val="0"/>
              </a:spcBef>
              <a:spcAft>
                <a:spcPts val="0"/>
              </a:spcAft>
              <a:buClr>
                <a:schemeClr val="lt1"/>
              </a:buClr>
              <a:buSzPts val="1100"/>
              <a:buChar char="■"/>
              <a:defRPr sz="1100">
                <a:solidFill>
                  <a:schemeClr val="lt1"/>
                </a:solidFill>
              </a:defRPr>
            </a:lvl3pPr>
            <a:lvl4pPr marL="1828800" lvl="3" indent="-298450">
              <a:spcBef>
                <a:spcPts val="0"/>
              </a:spcBef>
              <a:spcAft>
                <a:spcPts val="0"/>
              </a:spcAft>
              <a:buClr>
                <a:schemeClr val="lt1"/>
              </a:buClr>
              <a:buSzPts val="1100"/>
              <a:buChar char="●"/>
              <a:defRPr sz="1100">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sz="1100">
                <a:solidFill>
                  <a:schemeClr val="lt1"/>
                </a:solidFill>
              </a:defRPr>
            </a:lvl6pPr>
            <a:lvl7pPr marL="3200400" lvl="6" indent="-298450">
              <a:spcBef>
                <a:spcPts val="0"/>
              </a:spcBef>
              <a:spcAft>
                <a:spcPts val="0"/>
              </a:spcAft>
              <a:buClr>
                <a:schemeClr val="lt1"/>
              </a:buClr>
              <a:buSzPts val="1100"/>
              <a:buChar char="●"/>
              <a:defRPr sz="1100">
                <a:solidFill>
                  <a:schemeClr val="lt1"/>
                </a:solidFill>
              </a:defRPr>
            </a:lvl7pPr>
            <a:lvl8pPr marL="3657600" lvl="7" indent="-298450">
              <a:spcBef>
                <a:spcPts val="0"/>
              </a:spcBef>
              <a:spcAft>
                <a:spcPts val="0"/>
              </a:spcAft>
              <a:buClr>
                <a:schemeClr val="lt1"/>
              </a:buClr>
              <a:buSzPts val="1100"/>
              <a:buChar char="○"/>
              <a:defRPr sz="1100">
                <a:solidFill>
                  <a:schemeClr val="lt1"/>
                </a:solidFill>
              </a:defRPr>
            </a:lvl8pPr>
            <a:lvl9pPr marL="4114800" lvl="8" indent="-298450">
              <a:spcBef>
                <a:spcPts val="0"/>
              </a:spcBef>
              <a:spcAft>
                <a:spcPts val="0"/>
              </a:spcAft>
              <a:buClr>
                <a:schemeClr val="lt1"/>
              </a:buClr>
              <a:buSzPts val="1100"/>
              <a:buChar char="■"/>
              <a:defRPr sz="1100">
                <a:solidFill>
                  <a:schemeClr val="lt1"/>
                </a:solidFill>
              </a:defRPr>
            </a:lvl9pPr>
          </a:lstStyle>
          <a:p>
            <a:endParaRPr/>
          </a:p>
        </p:txBody>
      </p:sp>
      <p:sp>
        <p:nvSpPr>
          <p:cNvPr id="310" name="Google Shape;310;p44"/>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eam / Company Overview" type="titleOnly">
  <p:cSld name="TITLE_ONLY">
    <p:bg>
      <p:bgPr>
        <a:solidFill>
          <a:schemeClr val="accent4"/>
        </a:solidFill>
        <a:effectLst/>
      </p:bgPr>
    </p:bg>
    <p:spTree>
      <p:nvGrpSpPr>
        <p:cNvPr id="1" name="Shape 311"/>
        <p:cNvGrpSpPr/>
        <p:nvPr/>
      </p:nvGrpSpPr>
      <p:grpSpPr>
        <a:xfrm>
          <a:off x="0" y="0"/>
          <a:ext cx="0" cy="0"/>
          <a:chOff x="0" y="0"/>
          <a:chExt cx="0" cy="0"/>
        </a:xfrm>
      </p:grpSpPr>
      <p:sp>
        <p:nvSpPr>
          <p:cNvPr id="312" name="Google Shape;312;p45"/>
          <p:cNvSpPr>
            <a:spLocks noGrp="1"/>
          </p:cNvSpPr>
          <p:nvPr>
            <p:ph type="pic" idx="2"/>
          </p:nvPr>
        </p:nvSpPr>
        <p:spPr>
          <a:xfrm>
            <a:off x="791150" y="522900"/>
            <a:ext cx="1294800" cy="1918500"/>
          </a:xfrm>
          <a:prstGeom prst="rect">
            <a:avLst/>
          </a:prstGeom>
          <a:noFill/>
          <a:ln>
            <a:noFill/>
          </a:ln>
        </p:spPr>
      </p:sp>
      <p:sp>
        <p:nvSpPr>
          <p:cNvPr id="313" name="Google Shape;313;p45"/>
          <p:cNvSpPr>
            <a:spLocks noGrp="1"/>
          </p:cNvSpPr>
          <p:nvPr>
            <p:ph type="pic" idx="3"/>
          </p:nvPr>
        </p:nvSpPr>
        <p:spPr>
          <a:xfrm>
            <a:off x="2355375" y="522900"/>
            <a:ext cx="1294800" cy="1918500"/>
          </a:xfrm>
          <a:prstGeom prst="rect">
            <a:avLst/>
          </a:prstGeom>
          <a:noFill/>
          <a:ln>
            <a:noFill/>
          </a:ln>
        </p:spPr>
      </p:sp>
      <p:sp>
        <p:nvSpPr>
          <p:cNvPr id="314" name="Google Shape;314;p45"/>
          <p:cNvSpPr>
            <a:spLocks noGrp="1"/>
          </p:cNvSpPr>
          <p:nvPr>
            <p:ph type="pic" idx="4"/>
          </p:nvPr>
        </p:nvSpPr>
        <p:spPr>
          <a:xfrm>
            <a:off x="3921313" y="522900"/>
            <a:ext cx="1294800" cy="1918500"/>
          </a:xfrm>
          <a:prstGeom prst="rect">
            <a:avLst/>
          </a:prstGeom>
          <a:noFill/>
          <a:ln>
            <a:noFill/>
          </a:ln>
        </p:spPr>
      </p:sp>
      <p:sp>
        <p:nvSpPr>
          <p:cNvPr id="315" name="Google Shape;315;p45"/>
          <p:cNvSpPr>
            <a:spLocks noGrp="1"/>
          </p:cNvSpPr>
          <p:nvPr>
            <p:ph type="pic" idx="5"/>
          </p:nvPr>
        </p:nvSpPr>
        <p:spPr>
          <a:xfrm>
            <a:off x="5491588" y="522900"/>
            <a:ext cx="1294800" cy="1918500"/>
          </a:xfrm>
          <a:prstGeom prst="rect">
            <a:avLst/>
          </a:prstGeom>
          <a:noFill/>
          <a:ln>
            <a:noFill/>
          </a:ln>
        </p:spPr>
      </p:sp>
      <p:sp>
        <p:nvSpPr>
          <p:cNvPr id="316" name="Google Shape;316;p45"/>
          <p:cNvSpPr txBox="1">
            <a:spLocks noGrp="1"/>
          </p:cNvSpPr>
          <p:nvPr>
            <p:ph type="body" idx="1"/>
          </p:nvPr>
        </p:nvSpPr>
        <p:spPr>
          <a:xfrm>
            <a:off x="680850" y="3443850"/>
            <a:ext cx="3074700" cy="1031700"/>
          </a:xfrm>
          <a:prstGeom prst="rect">
            <a:avLst/>
          </a:prstGeom>
        </p:spPr>
        <p:txBody>
          <a:bodyPr spcFirstLastPara="1" wrap="square" lIns="91425" tIns="91425" rIns="91425" bIns="91425" anchor="t" anchorCtr="0">
            <a:noAutofit/>
          </a:bodyPr>
          <a:lstStyle>
            <a:lvl1pPr marL="457200" lvl="0"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marL="1371600" lvl="2"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marL="1828800" lvl="3"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marL="2286000" lvl="4"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marL="2743200" lvl="5"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marL="3200400" lvl="6"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marL="3657600" lvl="7"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marL="4114800" lvl="8"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a:endParaRPr/>
          </a:p>
        </p:txBody>
      </p:sp>
      <p:sp>
        <p:nvSpPr>
          <p:cNvPr id="317" name="Google Shape;317;p45"/>
          <p:cNvSpPr txBox="1">
            <a:spLocks noGrp="1"/>
          </p:cNvSpPr>
          <p:nvPr>
            <p:ph type="body" idx="6"/>
          </p:nvPr>
        </p:nvSpPr>
        <p:spPr>
          <a:xfrm>
            <a:off x="4123900" y="3443850"/>
            <a:ext cx="4030200" cy="11652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18" name="Google Shape;318;p45"/>
          <p:cNvSpPr txBox="1">
            <a:spLocks noGrp="1"/>
          </p:cNvSpPr>
          <p:nvPr>
            <p:ph type="body" idx="7"/>
          </p:nvPr>
        </p:nvSpPr>
        <p:spPr>
          <a:xfrm>
            <a:off x="705088"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19" name="Google Shape;319;p45"/>
          <p:cNvSpPr txBox="1">
            <a:spLocks noGrp="1"/>
          </p:cNvSpPr>
          <p:nvPr>
            <p:ph type="body" idx="8"/>
          </p:nvPr>
        </p:nvSpPr>
        <p:spPr>
          <a:xfrm>
            <a:off x="2258888"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20" name="Google Shape;320;p45"/>
          <p:cNvSpPr txBox="1">
            <a:spLocks noGrp="1"/>
          </p:cNvSpPr>
          <p:nvPr>
            <p:ph type="body" idx="9"/>
          </p:nvPr>
        </p:nvSpPr>
        <p:spPr>
          <a:xfrm>
            <a:off x="3827513"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21" name="Google Shape;321;p45"/>
          <p:cNvSpPr txBox="1">
            <a:spLocks noGrp="1"/>
          </p:cNvSpPr>
          <p:nvPr>
            <p:ph type="body" idx="13"/>
          </p:nvPr>
        </p:nvSpPr>
        <p:spPr>
          <a:xfrm>
            <a:off x="5395113"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22" name="Google Shape;322;p45"/>
          <p:cNvSpPr txBox="1">
            <a:spLocks noGrp="1"/>
          </p:cNvSpPr>
          <p:nvPr>
            <p:ph type="body" idx="14"/>
          </p:nvPr>
        </p:nvSpPr>
        <p:spPr>
          <a:xfrm>
            <a:off x="705091"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323" name="Google Shape;323;p45"/>
          <p:cNvSpPr txBox="1">
            <a:spLocks noGrp="1"/>
          </p:cNvSpPr>
          <p:nvPr>
            <p:ph type="body" idx="15"/>
          </p:nvPr>
        </p:nvSpPr>
        <p:spPr>
          <a:xfrm>
            <a:off x="2258891"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324" name="Google Shape;324;p45"/>
          <p:cNvSpPr txBox="1">
            <a:spLocks noGrp="1"/>
          </p:cNvSpPr>
          <p:nvPr>
            <p:ph type="body" idx="16"/>
          </p:nvPr>
        </p:nvSpPr>
        <p:spPr>
          <a:xfrm>
            <a:off x="3827003"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325" name="Google Shape;325;p45"/>
          <p:cNvSpPr txBox="1">
            <a:spLocks noGrp="1"/>
          </p:cNvSpPr>
          <p:nvPr>
            <p:ph type="body" idx="17"/>
          </p:nvPr>
        </p:nvSpPr>
        <p:spPr>
          <a:xfrm>
            <a:off x="5396128"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326" name="Google Shape;326;p45"/>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mpetitive Landscape">
  <p:cSld name="ONE_COLUMN_TEXT">
    <p:bg>
      <p:bgPr>
        <a:solidFill>
          <a:schemeClr val="dk1"/>
        </a:solidFill>
        <a:effectLst/>
      </p:bgPr>
    </p:bg>
    <p:spTree>
      <p:nvGrpSpPr>
        <p:cNvPr id="1" name="Shape 327"/>
        <p:cNvGrpSpPr/>
        <p:nvPr/>
      </p:nvGrpSpPr>
      <p:grpSpPr>
        <a:xfrm>
          <a:off x="0" y="0"/>
          <a:ext cx="0" cy="0"/>
          <a:chOff x="0" y="0"/>
          <a:chExt cx="0" cy="0"/>
        </a:xfrm>
      </p:grpSpPr>
      <p:sp>
        <p:nvSpPr>
          <p:cNvPr id="328" name="Google Shape;328;p46"/>
          <p:cNvSpPr txBox="1">
            <a:spLocks noGrp="1"/>
          </p:cNvSpPr>
          <p:nvPr>
            <p:ph type="body" idx="1"/>
          </p:nvPr>
        </p:nvSpPr>
        <p:spPr>
          <a:xfrm>
            <a:off x="791150" y="738025"/>
            <a:ext cx="3918300" cy="2232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Font typeface="Barlow"/>
              <a:buChar char="●"/>
              <a:defRPr sz="1100">
                <a:latin typeface="Barlow"/>
                <a:ea typeface="Barlow"/>
                <a:cs typeface="Barlow"/>
                <a:sym typeface="Barlow"/>
              </a:defRPr>
            </a:lvl1pPr>
            <a:lvl2pPr marL="914400" lvl="1" indent="-298450">
              <a:spcBef>
                <a:spcPts val="0"/>
              </a:spcBef>
              <a:spcAft>
                <a:spcPts val="0"/>
              </a:spcAft>
              <a:buSzPts val="1100"/>
              <a:buFont typeface="Barlow"/>
              <a:buChar char="○"/>
              <a:defRPr sz="1100">
                <a:latin typeface="Barlow"/>
                <a:ea typeface="Barlow"/>
                <a:cs typeface="Barlow"/>
                <a:sym typeface="Barlow"/>
              </a:defRPr>
            </a:lvl2pPr>
            <a:lvl3pPr marL="1371600" lvl="2" indent="-298450">
              <a:spcBef>
                <a:spcPts val="0"/>
              </a:spcBef>
              <a:spcAft>
                <a:spcPts val="0"/>
              </a:spcAft>
              <a:buSzPts val="1100"/>
              <a:buFont typeface="Barlow"/>
              <a:buChar char="■"/>
              <a:defRPr sz="1100">
                <a:latin typeface="Barlow"/>
                <a:ea typeface="Barlow"/>
                <a:cs typeface="Barlow"/>
                <a:sym typeface="Barlow"/>
              </a:defRPr>
            </a:lvl3pPr>
            <a:lvl4pPr marL="1828800" lvl="3" indent="-298450">
              <a:spcBef>
                <a:spcPts val="0"/>
              </a:spcBef>
              <a:spcAft>
                <a:spcPts val="0"/>
              </a:spcAft>
              <a:buSzPts val="1100"/>
              <a:buFont typeface="Barlow"/>
              <a:buChar char="●"/>
              <a:defRPr sz="1100">
                <a:latin typeface="Barlow"/>
                <a:ea typeface="Barlow"/>
                <a:cs typeface="Barlow"/>
                <a:sym typeface="Barlow"/>
              </a:defRPr>
            </a:lvl4pPr>
            <a:lvl5pPr marL="2286000" lvl="4" indent="-298450">
              <a:spcBef>
                <a:spcPts val="0"/>
              </a:spcBef>
              <a:spcAft>
                <a:spcPts val="0"/>
              </a:spcAft>
              <a:buSzPts val="1100"/>
              <a:buFont typeface="Barlow"/>
              <a:buChar char="○"/>
              <a:defRPr>
                <a:latin typeface="Barlow"/>
                <a:ea typeface="Barlow"/>
                <a:cs typeface="Barlow"/>
                <a:sym typeface="Barlow"/>
              </a:defRPr>
            </a:lvl5pPr>
            <a:lvl6pPr marL="2743200" lvl="5" indent="-298450">
              <a:spcBef>
                <a:spcPts val="0"/>
              </a:spcBef>
              <a:spcAft>
                <a:spcPts val="0"/>
              </a:spcAft>
              <a:buSzPts val="1100"/>
              <a:buFont typeface="Barlow"/>
              <a:buChar char="■"/>
              <a:defRPr sz="1100">
                <a:latin typeface="Barlow"/>
                <a:ea typeface="Barlow"/>
                <a:cs typeface="Barlow"/>
                <a:sym typeface="Barlow"/>
              </a:defRPr>
            </a:lvl6pPr>
            <a:lvl7pPr marL="3200400" lvl="6" indent="-298450">
              <a:spcBef>
                <a:spcPts val="0"/>
              </a:spcBef>
              <a:spcAft>
                <a:spcPts val="0"/>
              </a:spcAft>
              <a:buSzPts val="1100"/>
              <a:buFont typeface="Barlow"/>
              <a:buChar char="●"/>
              <a:defRPr sz="1100">
                <a:latin typeface="Barlow"/>
                <a:ea typeface="Barlow"/>
                <a:cs typeface="Barlow"/>
                <a:sym typeface="Barlow"/>
              </a:defRPr>
            </a:lvl7pPr>
            <a:lvl8pPr marL="3657600" lvl="7" indent="-298450">
              <a:spcBef>
                <a:spcPts val="0"/>
              </a:spcBef>
              <a:spcAft>
                <a:spcPts val="0"/>
              </a:spcAft>
              <a:buSzPts val="1100"/>
              <a:buFont typeface="Barlow"/>
              <a:buChar char="○"/>
              <a:defRPr sz="1100">
                <a:latin typeface="Barlow"/>
                <a:ea typeface="Barlow"/>
                <a:cs typeface="Barlow"/>
                <a:sym typeface="Barlow"/>
              </a:defRPr>
            </a:lvl8pPr>
            <a:lvl9pPr marL="4114800" lvl="8" indent="-298450">
              <a:spcBef>
                <a:spcPts val="0"/>
              </a:spcBef>
              <a:spcAft>
                <a:spcPts val="0"/>
              </a:spcAft>
              <a:buSzPts val="1100"/>
              <a:buFont typeface="Barlow"/>
              <a:buChar char="■"/>
              <a:defRPr sz="1100">
                <a:latin typeface="Barlow"/>
                <a:ea typeface="Barlow"/>
                <a:cs typeface="Barlow"/>
                <a:sym typeface="Barlow"/>
              </a:defRPr>
            </a:lvl9pPr>
          </a:lstStyle>
          <a:p>
            <a:endParaRPr/>
          </a:p>
        </p:txBody>
      </p:sp>
      <p:sp>
        <p:nvSpPr>
          <p:cNvPr id="329" name="Google Shape;329;p46"/>
          <p:cNvSpPr txBox="1">
            <a:spLocks noGrp="1"/>
          </p:cNvSpPr>
          <p:nvPr>
            <p:ph type="subTitle" idx="2"/>
          </p:nvPr>
        </p:nvSpPr>
        <p:spPr>
          <a:xfrm>
            <a:off x="791150" y="522625"/>
            <a:ext cx="3918300" cy="2154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330" name="Google Shape;330;p46"/>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Market Trends + Data">
  <p:cSld name="MAIN_POINT">
    <p:bg>
      <p:bgPr>
        <a:solidFill>
          <a:schemeClr val="dk1"/>
        </a:solidFill>
        <a:effectLst/>
      </p:bgPr>
    </p:bg>
    <p:spTree>
      <p:nvGrpSpPr>
        <p:cNvPr id="1" name="Shape 331"/>
        <p:cNvGrpSpPr/>
        <p:nvPr/>
      </p:nvGrpSpPr>
      <p:grpSpPr>
        <a:xfrm>
          <a:off x="0" y="0"/>
          <a:ext cx="0" cy="0"/>
          <a:chOff x="0" y="0"/>
          <a:chExt cx="0" cy="0"/>
        </a:xfrm>
      </p:grpSpPr>
      <p:sp>
        <p:nvSpPr>
          <p:cNvPr id="332" name="Google Shape;332;p47"/>
          <p:cNvSpPr txBox="1">
            <a:spLocks noGrp="1"/>
          </p:cNvSpPr>
          <p:nvPr>
            <p:ph type="subTitle" idx="1"/>
          </p:nvPr>
        </p:nvSpPr>
        <p:spPr>
          <a:xfrm>
            <a:off x="690250" y="415625"/>
            <a:ext cx="1261800" cy="27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a:endParaRPr/>
          </a:p>
        </p:txBody>
      </p:sp>
      <p:sp>
        <p:nvSpPr>
          <p:cNvPr id="333" name="Google Shape;333;p47"/>
          <p:cNvSpPr txBox="1">
            <a:spLocks noGrp="1"/>
          </p:cNvSpPr>
          <p:nvPr>
            <p:ph type="subTitle" idx="2"/>
          </p:nvPr>
        </p:nvSpPr>
        <p:spPr>
          <a:xfrm>
            <a:off x="480420" y="290626"/>
            <a:ext cx="3592200" cy="337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a:endParaRPr/>
          </a:p>
        </p:txBody>
      </p:sp>
      <p:sp>
        <p:nvSpPr>
          <p:cNvPr id="334" name="Google Shape;334;p47"/>
          <p:cNvSpPr txBox="1">
            <a:spLocks noGrp="1"/>
          </p:cNvSpPr>
          <p:nvPr>
            <p:ph type="body" idx="3"/>
          </p:nvPr>
        </p:nvSpPr>
        <p:spPr>
          <a:xfrm>
            <a:off x="480425" y="534275"/>
            <a:ext cx="4878300" cy="19176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35" name="Google Shape;335;p47"/>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latin typeface="Barlow"/>
                <a:ea typeface="Barlow"/>
                <a:cs typeface="Barlow"/>
                <a:sym typeface="Barlow"/>
              </a:defRPr>
            </a:lvl1pPr>
            <a:lvl2pPr lvl="1">
              <a:buNone/>
              <a:defRPr sz="1100">
                <a:solidFill>
                  <a:schemeClr val="accent3"/>
                </a:solidFill>
                <a:latin typeface="Barlow"/>
                <a:ea typeface="Barlow"/>
                <a:cs typeface="Barlow"/>
                <a:sym typeface="Barlow"/>
              </a:defRPr>
            </a:lvl2pPr>
            <a:lvl3pPr lvl="2">
              <a:buNone/>
              <a:defRPr sz="1100">
                <a:solidFill>
                  <a:schemeClr val="accent3"/>
                </a:solidFill>
                <a:latin typeface="Barlow"/>
                <a:ea typeface="Barlow"/>
                <a:cs typeface="Barlow"/>
                <a:sym typeface="Barlow"/>
              </a:defRPr>
            </a:lvl3pPr>
            <a:lvl4pPr lvl="3">
              <a:buNone/>
              <a:defRPr sz="1100">
                <a:solidFill>
                  <a:schemeClr val="accent3"/>
                </a:solidFill>
                <a:latin typeface="Barlow"/>
                <a:ea typeface="Barlow"/>
                <a:cs typeface="Barlow"/>
                <a:sym typeface="Barlow"/>
              </a:defRPr>
            </a:lvl4pPr>
            <a:lvl5pPr lvl="4">
              <a:buNone/>
              <a:defRPr sz="1100">
                <a:solidFill>
                  <a:schemeClr val="accent3"/>
                </a:solidFill>
                <a:latin typeface="Barlow"/>
                <a:ea typeface="Barlow"/>
                <a:cs typeface="Barlow"/>
                <a:sym typeface="Barlow"/>
              </a:defRPr>
            </a:lvl5pPr>
            <a:lvl6pPr lvl="5">
              <a:buNone/>
              <a:defRPr sz="1100">
                <a:solidFill>
                  <a:schemeClr val="accent3"/>
                </a:solidFill>
                <a:latin typeface="Barlow"/>
                <a:ea typeface="Barlow"/>
                <a:cs typeface="Barlow"/>
                <a:sym typeface="Barlow"/>
              </a:defRPr>
            </a:lvl6pPr>
            <a:lvl7pPr lvl="6">
              <a:buNone/>
              <a:defRPr sz="1100">
                <a:solidFill>
                  <a:schemeClr val="accent3"/>
                </a:solidFill>
                <a:latin typeface="Barlow"/>
                <a:ea typeface="Barlow"/>
                <a:cs typeface="Barlow"/>
                <a:sym typeface="Barlow"/>
              </a:defRPr>
            </a:lvl7pPr>
            <a:lvl8pPr lvl="7">
              <a:buNone/>
              <a:defRPr sz="1100">
                <a:solidFill>
                  <a:schemeClr val="accent3"/>
                </a:solidFill>
                <a:latin typeface="Barlow"/>
                <a:ea typeface="Barlow"/>
                <a:cs typeface="Barlow"/>
                <a:sym typeface="Barlow"/>
              </a:defRPr>
            </a:lvl8pPr>
            <a:lvl9pPr lvl="8">
              <a:buNone/>
              <a:defRPr sz="1100">
                <a:solidFill>
                  <a:schemeClr val="accent3"/>
                </a:solidFill>
                <a:latin typeface="Barlow"/>
                <a:ea typeface="Barlow"/>
                <a:cs typeface="Barlow"/>
                <a:sym typeface="Barl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60">
          <p15:clr>
            <a:srgbClr val="E46962"/>
          </p15:clr>
        </p15:guide>
        <p15:guide id="2" orient="horz" pos="347">
          <p15:clr>
            <a:srgbClr val="E46962"/>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WOT Analysis">
  <p:cSld name="CUSTOM_14">
    <p:bg>
      <p:bgPr>
        <a:solidFill>
          <a:schemeClr val="dk1"/>
        </a:solidFill>
        <a:effectLst/>
      </p:bgPr>
    </p:bg>
    <p:spTree>
      <p:nvGrpSpPr>
        <p:cNvPr id="1" name="Shape 336"/>
        <p:cNvGrpSpPr/>
        <p:nvPr/>
      </p:nvGrpSpPr>
      <p:grpSpPr>
        <a:xfrm>
          <a:off x="0" y="0"/>
          <a:ext cx="0" cy="0"/>
          <a:chOff x="0" y="0"/>
          <a:chExt cx="0" cy="0"/>
        </a:xfrm>
      </p:grpSpPr>
      <p:sp>
        <p:nvSpPr>
          <p:cNvPr id="337" name="Google Shape;337;p48"/>
          <p:cNvSpPr txBox="1">
            <a:spLocks noGrp="1"/>
          </p:cNvSpPr>
          <p:nvPr>
            <p:ph type="title"/>
          </p:nvPr>
        </p:nvSpPr>
        <p:spPr>
          <a:xfrm>
            <a:off x="723861" y="1584738"/>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338" name="Google Shape;338;p48"/>
          <p:cNvSpPr txBox="1">
            <a:spLocks noGrp="1"/>
          </p:cNvSpPr>
          <p:nvPr>
            <p:ph type="title" idx="2"/>
          </p:nvPr>
        </p:nvSpPr>
        <p:spPr>
          <a:xfrm>
            <a:off x="723861" y="2390981"/>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339" name="Google Shape;339;p48"/>
          <p:cNvSpPr txBox="1">
            <a:spLocks noGrp="1"/>
          </p:cNvSpPr>
          <p:nvPr>
            <p:ph type="title" idx="3"/>
          </p:nvPr>
        </p:nvSpPr>
        <p:spPr>
          <a:xfrm>
            <a:off x="723861" y="3157931"/>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340" name="Google Shape;340;p48"/>
          <p:cNvSpPr txBox="1">
            <a:spLocks noGrp="1"/>
          </p:cNvSpPr>
          <p:nvPr>
            <p:ph type="title" idx="4"/>
          </p:nvPr>
        </p:nvSpPr>
        <p:spPr>
          <a:xfrm>
            <a:off x="723861" y="3954905"/>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341" name="Google Shape;341;p48"/>
          <p:cNvSpPr txBox="1">
            <a:spLocks noGrp="1"/>
          </p:cNvSpPr>
          <p:nvPr>
            <p:ph type="subTitle" idx="1"/>
          </p:nvPr>
        </p:nvSpPr>
        <p:spPr>
          <a:xfrm>
            <a:off x="480420" y="290626"/>
            <a:ext cx="3592200" cy="337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a:endParaRPr/>
          </a:p>
        </p:txBody>
      </p:sp>
      <p:sp>
        <p:nvSpPr>
          <p:cNvPr id="342" name="Google Shape;342;p48"/>
          <p:cNvSpPr txBox="1">
            <a:spLocks noGrp="1"/>
          </p:cNvSpPr>
          <p:nvPr>
            <p:ph type="body" idx="5"/>
          </p:nvPr>
        </p:nvSpPr>
        <p:spPr>
          <a:xfrm>
            <a:off x="480425" y="610475"/>
            <a:ext cx="4878300" cy="3768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3175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marL="1371600" lvl="2" indent="-31115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marL="1828800" lvl="3" indent="-304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21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marL="3200400" lvl="6" indent="-28575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marL="3657600" lvl="7" indent="-2794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marL="4114800" lvl="8" indent="-27305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a:endParaRPr/>
          </a:p>
        </p:txBody>
      </p:sp>
      <p:sp>
        <p:nvSpPr>
          <p:cNvPr id="343" name="Google Shape;343;p48"/>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losing / Thank You">
  <p:cSld name="CUSTOM_13">
    <p:bg>
      <p:bgPr>
        <a:solidFill>
          <a:schemeClr val="lt1"/>
        </a:solidFill>
        <a:effectLst/>
      </p:bgPr>
    </p:bg>
    <p:spTree>
      <p:nvGrpSpPr>
        <p:cNvPr id="1" name="Shape 344"/>
        <p:cNvGrpSpPr/>
        <p:nvPr/>
      </p:nvGrpSpPr>
      <p:grpSpPr>
        <a:xfrm>
          <a:off x="0" y="0"/>
          <a:ext cx="0" cy="0"/>
          <a:chOff x="0" y="0"/>
          <a:chExt cx="0" cy="0"/>
        </a:xfrm>
      </p:grpSpPr>
      <p:sp>
        <p:nvSpPr>
          <p:cNvPr id="345" name="Google Shape;345;p49"/>
          <p:cNvSpPr txBox="1">
            <a:spLocks noGrp="1"/>
          </p:cNvSpPr>
          <p:nvPr>
            <p:ph type="title"/>
          </p:nvPr>
        </p:nvSpPr>
        <p:spPr>
          <a:xfrm>
            <a:off x="455221" y="1321125"/>
            <a:ext cx="5094600" cy="1749900"/>
          </a:xfrm>
          <a:prstGeom prst="rect">
            <a:avLst/>
          </a:prstGeom>
          <a:noFill/>
        </p:spPr>
        <p:txBody>
          <a:bodyPr spcFirstLastPara="1" wrap="square" lIns="91425" tIns="91425" rIns="91425" bIns="91425" anchor="t" anchorCtr="0">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a:endParaRPr/>
          </a:p>
        </p:txBody>
      </p:sp>
      <p:sp>
        <p:nvSpPr>
          <p:cNvPr id="346" name="Google Shape;346;p49"/>
          <p:cNvSpPr txBox="1">
            <a:spLocks noGrp="1"/>
          </p:cNvSpPr>
          <p:nvPr>
            <p:ph type="body" idx="1"/>
          </p:nvPr>
        </p:nvSpPr>
        <p:spPr>
          <a:xfrm>
            <a:off x="567029" y="4500404"/>
            <a:ext cx="1015800" cy="266100"/>
          </a:xfrm>
          <a:prstGeom prst="rect">
            <a:avLst/>
          </a:prstGeom>
          <a:ln w="9525" cap="flat" cmpd="sng">
            <a:solidFill>
              <a:schemeClr val="dk1"/>
            </a:solidFill>
            <a:prstDash val="solid"/>
            <a:round/>
            <a:headEnd type="none" w="sm" len="sm"/>
            <a:tailEnd type="none" w="sm" len="sm"/>
          </a:ln>
        </p:spPr>
        <p:txBody>
          <a:bodyPr spcFirstLastPara="1" wrap="square" lIns="0" tIns="0" rIns="0" bIns="0" anchor="t" anchorCtr="0">
            <a:spAutoFit/>
          </a:bodyPr>
          <a:lstStyle>
            <a:lvl1pPr marL="457200" lvl="0" indent="-298450">
              <a:spcBef>
                <a:spcPts val="0"/>
              </a:spcBef>
              <a:spcAft>
                <a:spcPts val="0"/>
              </a:spcAft>
              <a:buSzPts val="1100"/>
              <a:buFont typeface="Barlow Medium"/>
              <a:buChar char="●"/>
              <a:defRPr sz="1100">
                <a:latin typeface="Barlow Medium"/>
                <a:ea typeface="Barlow Medium"/>
                <a:cs typeface="Barlow Medium"/>
                <a:sym typeface="Barlow Medium"/>
              </a:defRPr>
            </a:lvl1pPr>
            <a:lvl2pPr marL="914400" lvl="1" indent="-298450">
              <a:spcBef>
                <a:spcPts val="0"/>
              </a:spcBef>
              <a:spcAft>
                <a:spcPts val="0"/>
              </a:spcAft>
              <a:buSzPts val="1100"/>
              <a:buFont typeface="Barlow Medium"/>
              <a:buChar char="○"/>
              <a:defRPr sz="1100">
                <a:latin typeface="Barlow Medium"/>
                <a:ea typeface="Barlow Medium"/>
                <a:cs typeface="Barlow Medium"/>
                <a:sym typeface="Barlow Medium"/>
              </a:defRPr>
            </a:lvl2pPr>
            <a:lvl3pPr marL="1371600" lvl="2" indent="-298450">
              <a:spcBef>
                <a:spcPts val="0"/>
              </a:spcBef>
              <a:spcAft>
                <a:spcPts val="0"/>
              </a:spcAft>
              <a:buSzPts val="1100"/>
              <a:buFont typeface="Barlow Medium"/>
              <a:buChar char="■"/>
              <a:defRPr sz="1100">
                <a:latin typeface="Barlow Medium"/>
                <a:ea typeface="Barlow Medium"/>
                <a:cs typeface="Barlow Medium"/>
                <a:sym typeface="Barlow Medium"/>
              </a:defRPr>
            </a:lvl3pPr>
            <a:lvl4pPr marL="1828800" lvl="3" indent="-298450">
              <a:spcBef>
                <a:spcPts val="0"/>
              </a:spcBef>
              <a:spcAft>
                <a:spcPts val="0"/>
              </a:spcAft>
              <a:buSzPts val="1100"/>
              <a:buFont typeface="Barlow Medium"/>
              <a:buChar char="●"/>
              <a:defRPr sz="1100">
                <a:latin typeface="Barlow Medium"/>
                <a:ea typeface="Barlow Medium"/>
                <a:cs typeface="Barlow Medium"/>
                <a:sym typeface="Barlow Medium"/>
              </a:defRPr>
            </a:lvl4pPr>
            <a:lvl5pPr marL="2286000" lvl="4" indent="-298450">
              <a:spcBef>
                <a:spcPts val="0"/>
              </a:spcBef>
              <a:spcAft>
                <a:spcPts val="0"/>
              </a:spcAft>
              <a:buSzPts val="1100"/>
              <a:buFont typeface="Barlow Medium"/>
              <a:buChar char="○"/>
              <a:defRPr>
                <a:latin typeface="Barlow Medium"/>
                <a:ea typeface="Barlow Medium"/>
                <a:cs typeface="Barlow Medium"/>
                <a:sym typeface="Barlow Medium"/>
              </a:defRPr>
            </a:lvl5pPr>
            <a:lvl6pPr marL="2743200" lvl="5" indent="-298450">
              <a:spcBef>
                <a:spcPts val="0"/>
              </a:spcBef>
              <a:spcAft>
                <a:spcPts val="0"/>
              </a:spcAft>
              <a:buSzPts val="1100"/>
              <a:buFont typeface="Barlow Medium"/>
              <a:buChar char="■"/>
              <a:defRPr sz="1100">
                <a:latin typeface="Barlow Medium"/>
                <a:ea typeface="Barlow Medium"/>
                <a:cs typeface="Barlow Medium"/>
                <a:sym typeface="Barlow Medium"/>
              </a:defRPr>
            </a:lvl6pPr>
            <a:lvl7pPr marL="3200400" lvl="6" indent="-298450">
              <a:spcBef>
                <a:spcPts val="0"/>
              </a:spcBef>
              <a:spcAft>
                <a:spcPts val="0"/>
              </a:spcAft>
              <a:buSzPts val="1100"/>
              <a:buFont typeface="Barlow Medium"/>
              <a:buChar char="●"/>
              <a:defRPr sz="1100">
                <a:latin typeface="Barlow Medium"/>
                <a:ea typeface="Barlow Medium"/>
                <a:cs typeface="Barlow Medium"/>
                <a:sym typeface="Barlow Medium"/>
              </a:defRPr>
            </a:lvl7pPr>
            <a:lvl8pPr marL="3657600" lvl="7" indent="-298450">
              <a:spcBef>
                <a:spcPts val="0"/>
              </a:spcBef>
              <a:spcAft>
                <a:spcPts val="0"/>
              </a:spcAft>
              <a:buSzPts val="1100"/>
              <a:buFont typeface="Barlow Medium"/>
              <a:buChar char="○"/>
              <a:defRPr sz="1100">
                <a:latin typeface="Barlow Medium"/>
                <a:ea typeface="Barlow Medium"/>
                <a:cs typeface="Barlow Medium"/>
                <a:sym typeface="Barlow Medium"/>
              </a:defRPr>
            </a:lvl8pPr>
            <a:lvl9pPr marL="4114800" lvl="8" indent="-298450">
              <a:spcBef>
                <a:spcPts val="0"/>
              </a:spcBef>
              <a:spcAft>
                <a:spcPts val="0"/>
              </a:spcAft>
              <a:buSzPts val="1100"/>
              <a:buFont typeface="Barlow Medium"/>
              <a:buChar char="■"/>
              <a:defRPr sz="1100">
                <a:latin typeface="Barlow Medium"/>
                <a:ea typeface="Barlow Medium"/>
                <a:cs typeface="Barlow Medium"/>
                <a:sym typeface="Barlow Medium"/>
              </a:defRPr>
            </a:lvl9pPr>
          </a:lstStyle>
          <a:p>
            <a:endParaRPr/>
          </a:p>
        </p:txBody>
      </p:sp>
      <p:sp>
        <p:nvSpPr>
          <p:cNvPr id="347" name="Google Shape;347;p4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ection Header">
  <p:cSld name="SECTION_TITLE_AND_DESCRIPTION">
    <p:spTree>
      <p:nvGrpSpPr>
        <p:cNvPr id="1" name="Shape 348"/>
        <p:cNvGrpSpPr/>
        <p:nvPr/>
      </p:nvGrpSpPr>
      <p:grpSpPr>
        <a:xfrm>
          <a:off x="0" y="0"/>
          <a:ext cx="0" cy="0"/>
          <a:chOff x="0" y="0"/>
          <a:chExt cx="0" cy="0"/>
        </a:xfrm>
      </p:grpSpPr>
      <p:sp>
        <p:nvSpPr>
          <p:cNvPr id="349" name="Google Shape;349;p50"/>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a:endParaRPr/>
          </a:p>
        </p:txBody>
      </p:sp>
      <p:sp>
        <p:nvSpPr>
          <p:cNvPr id="350" name="Google Shape;350;p50"/>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a:endParaRPr/>
          </a:p>
        </p:txBody>
      </p:sp>
      <p:sp>
        <p:nvSpPr>
          <p:cNvPr id="351" name="Google Shape;351;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Market Size / Pie Graph">
  <p:cSld name="CAPTION_ONLY">
    <p:bg>
      <p:bgPr>
        <a:solidFill>
          <a:schemeClr val="dk1"/>
        </a:solidFill>
        <a:effectLst/>
      </p:bgPr>
    </p:bg>
    <p:spTree>
      <p:nvGrpSpPr>
        <p:cNvPr id="1" name="Shape 352"/>
        <p:cNvGrpSpPr/>
        <p:nvPr/>
      </p:nvGrpSpPr>
      <p:grpSpPr>
        <a:xfrm>
          <a:off x="0" y="0"/>
          <a:ext cx="0" cy="0"/>
          <a:chOff x="0" y="0"/>
          <a:chExt cx="0" cy="0"/>
        </a:xfrm>
      </p:grpSpPr>
      <p:sp>
        <p:nvSpPr>
          <p:cNvPr id="353" name="Google Shape;353;p51"/>
          <p:cNvSpPr/>
          <p:nvPr/>
        </p:nvSpPr>
        <p:spPr>
          <a:xfrm>
            <a:off x="0" y="0"/>
            <a:ext cx="9144000" cy="16311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1"/>
          <p:cNvSpPr txBox="1">
            <a:spLocks noGrp="1"/>
          </p:cNvSpPr>
          <p:nvPr>
            <p:ph type="subTitle" idx="1"/>
          </p:nvPr>
        </p:nvSpPr>
        <p:spPr>
          <a:xfrm>
            <a:off x="791150" y="522625"/>
            <a:ext cx="4977300" cy="11082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355" name="Google Shape;355;p51"/>
          <p:cNvSpPr txBox="1">
            <a:spLocks noGrp="1"/>
          </p:cNvSpPr>
          <p:nvPr>
            <p:ph type="body" idx="2"/>
          </p:nvPr>
        </p:nvSpPr>
        <p:spPr>
          <a:xfrm>
            <a:off x="714950" y="1989025"/>
            <a:ext cx="2792400" cy="28041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Clr>
                <a:schemeClr val="lt1"/>
              </a:buClr>
              <a:buSzPts val="1500"/>
              <a:buChar char="●"/>
              <a:defRPr>
                <a:solidFill>
                  <a:schemeClr val="lt1"/>
                </a:solidFill>
              </a:defRPr>
            </a:lvl1pPr>
            <a:lvl2pPr marL="914400" lvl="1" indent="-323850">
              <a:spcBef>
                <a:spcPts val="0"/>
              </a:spcBef>
              <a:spcAft>
                <a:spcPts val="0"/>
              </a:spcAft>
              <a:buClr>
                <a:schemeClr val="lt1"/>
              </a:buClr>
              <a:buSzPts val="1500"/>
              <a:buChar char="○"/>
              <a:defRPr sz="1500">
                <a:solidFill>
                  <a:schemeClr val="lt1"/>
                </a:solidFill>
              </a:defRPr>
            </a:lvl2pPr>
            <a:lvl3pPr marL="1371600" lvl="2" indent="-323850">
              <a:spcBef>
                <a:spcPts val="0"/>
              </a:spcBef>
              <a:spcAft>
                <a:spcPts val="0"/>
              </a:spcAft>
              <a:buClr>
                <a:schemeClr val="lt1"/>
              </a:buClr>
              <a:buSzPts val="1500"/>
              <a:buChar char="■"/>
              <a:defRPr sz="1500">
                <a:solidFill>
                  <a:schemeClr val="lt1"/>
                </a:solidFill>
              </a:defRPr>
            </a:lvl3pPr>
            <a:lvl4pPr marL="1828800" lvl="3" indent="-323850">
              <a:spcBef>
                <a:spcPts val="0"/>
              </a:spcBef>
              <a:spcAft>
                <a:spcPts val="0"/>
              </a:spcAft>
              <a:buClr>
                <a:schemeClr val="lt1"/>
              </a:buClr>
              <a:buSzPts val="1500"/>
              <a:buChar char="●"/>
              <a:defRPr sz="1500">
                <a:solidFill>
                  <a:schemeClr val="lt1"/>
                </a:solidFill>
              </a:defRPr>
            </a:lvl4pPr>
            <a:lvl5pPr marL="2286000" lvl="4" indent="-323850">
              <a:spcBef>
                <a:spcPts val="0"/>
              </a:spcBef>
              <a:spcAft>
                <a:spcPts val="0"/>
              </a:spcAft>
              <a:buClr>
                <a:schemeClr val="lt1"/>
              </a:buClr>
              <a:buSzPts val="1500"/>
              <a:buChar char="○"/>
              <a:defRPr sz="1500">
                <a:solidFill>
                  <a:schemeClr val="lt1"/>
                </a:solidFill>
              </a:defRPr>
            </a:lvl5pPr>
            <a:lvl6pPr marL="2743200" lvl="5" indent="-323850">
              <a:spcBef>
                <a:spcPts val="0"/>
              </a:spcBef>
              <a:spcAft>
                <a:spcPts val="0"/>
              </a:spcAft>
              <a:buClr>
                <a:schemeClr val="lt1"/>
              </a:buClr>
              <a:buSzPts val="1500"/>
              <a:buChar char="■"/>
              <a:defRPr sz="1500">
                <a:solidFill>
                  <a:schemeClr val="lt1"/>
                </a:solidFill>
              </a:defRPr>
            </a:lvl6pPr>
            <a:lvl7pPr marL="3200400" lvl="6" indent="-323850">
              <a:spcBef>
                <a:spcPts val="0"/>
              </a:spcBef>
              <a:spcAft>
                <a:spcPts val="0"/>
              </a:spcAft>
              <a:buClr>
                <a:schemeClr val="lt1"/>
              </a:buClr>
              <a:buSzPts val="1500"/>
              <a:buChar char="●"/>
              <a:defRPr sz="1500">
                <a:solidFill>
                  <a:schemeClr val="lt1"/>
                </a:solidFill>
              </a:defRPr>
            </a:lvl7pPr>
            <a:lvl8pPr marL="3657600" lvl="7" indent="-323850">
              <a:spcBef>
                <a:spcPts val="0"/>
              </a:spcBef>
              <a:spcAft>
                <a:spcPts val="0"/>
              </a:spcAft>
              <a:buClr>
                <a:schemeClr val="lt1"/>
              </a:buClr>
              <a:buSzPts val="1500"/>
              <a:buChar char="○"/>
              <a:defRPr sz="1500">
                <a:solidFill>
                  <a:schemeClr val="lt1"/>
                </a:solidFill>
              </a:defRPr>
            </a:lvl8pPr>
            <a:lvl9pPr marL="4114800" lvl="8" indent="-323850">
              <a:spcBef>
                <a:spcPts val="0"/>
              </a:spcBef>
              <a:spcAft>
                <a:spcPts val="0"/>
              </a:spcAft>
              <a:buClr>
                <a:schemeClr val="lt1"/>
              </a:buClr>
              <a:buSzPts val="1500"/>
              <a:buChar char="■"/>
              <a:defRPr sz="1500">
                <a:solidFill>
                  <a:schemeClr val="lt1"/>
                </a:solidFill>
              </a:defRPr>
            </a:lvl9pPr>
          </a:lstStyle>
          <a:p>
            <a:endParaRPr/>
          </a:p>
        </p:txBody>
      </p:sp>
      <p:sp>
        <p:nvSpPr>
          <p:cNvPr id="356" name="Google Shape;356;p51"/>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dk2"/>
                </a:solidFill>
              </a:defRPr>
            </a:lvl1pPr>
            <a:lvl2pPr lvl="1">
              <a:buNone/>
              <a:defRPr sz="1100">
                <a:solidFill>
                  <a:schemeClr val="dk2"/>
                </a:solidFill>
              </a:defRPr>
            </a:lvl2pPr>
            <a:lvl3pPr lvl="2">
              <a:buNone/>
              <a:defRPr sz="1100">
                <a:solidFill>
                  <a:schemeClr val="dk2"/>
                </a:solidFill>
              </a:defRPr>
            </a:lvl3pPr>
            <a:lvl4pPr lvl="3">
              <a:buNone/>
              <a:defRPr sz="1100">
                <a:solidFill>
                  <a:schemeClr val="dk2"/>
                </a:solidFill>
              </a:defRPr>
            </a:lvl4pPr>
            <a:lvl5pPr lvl="4">
              <a:buNone/>
              <a:defRPr sz="1100">
                <a:solidFill>
                  <a:schemeClr val="dk2"/>
                </a:solidFill>
              </a:defRPr>
            </a:lvl5pPr>
            <a:lvl6pPr lvl="5">
              <a:buNone/>
              <a:defRPr sz="1100">
                <a:solidFill>
                  <a:schemeClr val="dk2"/>
                </a:solidFill>
              </a:defRPr>
            </a:lvl6pPr>
            <a:lvl7pPr lvl="6">
              <a:buNone/>
              <a:defRPr sz="1100">
                <a:solidFill>
                  <a:schemeClr val="dk2"/>
                </a:solidFill>
              </a:defRPr>
            </a:lvl7pPr>
            <a:lvl8pPr lvl="7">
              <a:buNone/>
              <a:defRPr sz="1100">
                <a:solidFill>
                  <a:schemeClr val="dk2"/>
                </a:solidFill>
              </a:defRPr>
            </a:lvl8pPr>
            <a:lvl9pPr lvl="8">
              <a:buNone/>
              <a:defRPr sz="11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357" name="Google Shape;357;p51"/>
          <p:cNvSpPr/>
          <p:nvPr/>
        </p:nvSpPr>
        <p:spPr>
          <a:xfrm>
            <a:off x="4416275" y="1976923"/>
            <a:ext cx="4045200" cy="28713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1"/>
          <p:cNvSpPr/>
          <p:nvPr/>
        </p:nvSpPr>
        <p:spPr>
          <a:xfrm rot="444408">
            <a:off x="5636457" y="2500588"/>
            <a:ext cx="1505663" cy="1505327"/>
          </a:xfrm>
          <a:prstGeom prst="pie">
            <a:avLst>
              <a:gd name="adj1" fmla="val 8241844"/>
              <a:gd name="adj2" fmla="val 12554936"/>
            </a:avLst>
          </a:prstGeom>
          <a:solidFill>
            <a:schemeClr val="lt1"/>
          </a:solidFill>
          <a:ln>
            <a:noFill/>
          </a:ln>
        </p:spPr>
        <p:txBody>
          <a:bodyPr spcFirstLastPara="1" wrap="square" lIns="68575" tIns="68575" rIns="68575" bIns="68575" anchor="ctr" anchorCtr="0">
            <a:noAutofit/>
          </a:bodyPr>
          <a:lstStyle/>
          <a:p>
            <a:pPr marL="0" lvl="0" indent="0" algn="l" rtl="0">
              <a:spcBef>
                <a:spcPts val="0"/>
              </a:spcBef>
              <a:spcAft>
                <a:spcPts val="0"/>
              </a:spcAft>
              <a:buSzPts val="1100"/>
              <a:buNone/>
            </a:pPr>
            <a:endParaRPr sz="110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Differentiators / 4 column text">
  <p:cSld name="BIG_NUMBER">
    <p:bg>
      <p:bgPr>
        <a:solidFill>
          <a:schemeClr val="dk1"/>
        </a:solidFill>
        <a:effectLst/>
      </p:bgPr>
    </p:bg>
    <p:spTree>
      <p:nvGrpSpPr>
        <p:cNvPr id="1" name="Shape 359"/>
        <p:cNvGrpSpPr/>
        <p:nvPr/>
      </p:nvGrpSpPr>
      <p:grpSpPr>
        <a:xfrm>
          <a:off x="0" y="0"/>
          <a:ext cx="0" cy="0"/>
          <a:chOff x="0" y="0"/>
          <a:chExt cx="0" cy="0"/>
        </a:xfrm>
      </p:grpSpPr>
      <p:sp>
        <p:nvSpPr>
          <p:cNvPr id="360" name="Google Shape;360;p52"/>
          <p:cNvSpPr/>
          <p:nvPr/>
        </p:nvSpPr>
        <p:spPr>
          <a:xfrm>
            <a:off x="0" y="1324925"/>
            <a:ext cx="4572000" cy="1910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361" name="Google Shape;361;p52"/>
          <p:cNvSpPr/>
          <p:nvPr/>
        </p:nvSpPr>
        <p:spPr>
          <a:xfrm>
            <a:off x="0" y="3235076"/>
            <a:ext cx="4572000" cy="191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chemeClr val="dk2"/>
              </a:solidFill>
            </a:endParaRPr>
          </a:p>
        </p:txBody>
      </p:sp>
      <p:sp>
        <p:nvSpPr>
          <p:cNvPr id="362" name="Google Shape;362;p52"/>
          <p:cNvSpPr/>
          <p:nvPr/>
        </p:nvSpPr>
        <p:spPr>
          <a:xfrm>
            <a:off x="4571892" y="3235076"/>
            <a:ext cx="4572000" cy="191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chemeClr val="lt1"/>
              </a:solidFill>
            </a:endParaRPr>
          </a:p>
        </p:txBody>
      </p:sp>
      <p:sp>
        <p:nvSpPr>
          <p:cNvPr id="363" name="Google Shape;363;p52"/>
          <p:cNvSpPr/>
          <p:nvPr/>
        </p:nvSpPr>
        <p:spPr>
          <a:xfrm>
            <a:off x="4571892" y="1324925"/>
            <a:ext cx="4572000" cy="1910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chemeClr val="accent5"/>
              </a:solidFill>
            </a:endParaRPr>
          </a:p>
        </p:txBody>
      </p:sp>
      <p:sp>
        <p:nvSpPr>
          <p:cNvPr id="364" name="Google Shape;364;p52"/>
          <p:cNvSpPr txBox="1">
            <a:spLocks noGrp="1"/>
          </p:cNvSpPr>
          <p:nvPr>
            <p:ph type="subTitle" idx="1"/>
          </p:nvPr>
        </p:nvSpPr>
        <p:spPr>
          <a:xfrm>
            <a:off x="480420" y="290626"/>
            <a:ext cx="3592200" cy="337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365" name="Google Shape;365;p52"/>
          <p:cNvSpPr txBox="1">
            <a:spLocks noGrp="1"/>
          </p:cNvSpPr>
          <p:nvPr>
            <p:ph type="body" idx="2"/>
          </p:nvPr>
        </p:nvSpPr>
        <p:spPr>
          <a:xfrm>
            <a:off x="480425" y="610475"/>
            <a:ext cx="4878300" cy="6003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66" name="Google Shape;366;p52"/>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dk2"/>
                </a:solidFill>
              </a:defRPr>
            </a:lvl1pPr>
            <a:lvl2pPr lvl="1">
              <a:buNone/>
              <a:defRPr sz="1100">
                <a:solidFill>
                  <a:schemeClr val="dk2"/>
                </a:solidFill>
              </a:defRPr>
            </a:lvl2pPr>
            <a:lvl3pPr lvl="2">
              <a:buNone/>
              <a:defRPr sz="1100">
                <a:solidFill>
                  <a:schemeClr val="dk2"/>
                </a:solidFill>
              </a:defRPr>
            </a:lvl3pPr>
            <a:lvl4pPr lvl="3">
              <a:buNone/>
              <a:defRPr sz="1100">
                <a:solidFill>
                  <a:schemeClr val="dk2"/>
                </a:solidFill>
              </a:defRPr>
            </a:lvl4pPr>
            <a:lvl5pPr lvl="4">
              <a:buNone/>
              <a:defRPr sz="1100">
                <a:solidFill>
                  <a:schemeClr val="dk2"/>
                </a:solidFill>
              </a:defRPr>
            </a:lvl5pPr>
            <a:lvl6pPr lvl="5">
              <a:buNone/>
              <a:defRPr sz="1100">
                <a:solidFill>
                  <a:schemeClr val="dk2"/>
                </a:solidFill>
              </a:defRPr>
            </a:lvl6pPr>
            <a:lvl7pPr lvl="6">
              <a:buNone/>
              <a:defRPr sz="1100">
                <a:solidFill>
                  <a:schemeClr val="dk2"/>
                </a:solidFill>
              </a:defRPr>
            </a:lvl7pPr>
            <a:lvl8pPr lvl="7">
              <a:buNone/>
              <a:defRPr sz="1100">
                <a:solidFill>
                  <a:schemeClr val="dk2"/>
                </a:solidFill>
              </a:defRPr>
            </a:lvl8pPr>
            <a:lvl9pPr lvl="8">
              <a:buNone/>
              <a:defRPr sz="11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ection Header" type="blank">
  <p:cSld name="BLANK">
    <p:spTree>
      <p:nvGrpSpPr>
        <p:cNvPr id="1" name="Shape 367"/>
        <p:cNvGrpSpPr/>
        <p:nvPr/>
      </p:nvGrpSpPr>
      <p:grpSpPr>
        <a:xfrm>
          <a:off x="0" y="0"/>
          <a:ext cx="0" cy="0"/>
          <a:chOff x="0" y="0"/>
          <a:chExt cx="0" cy="0"/>
        </a:xfrm>
      </p:grpSpPr>
      <p:sp>
        <p:nvSpPr>
          <p:cNvPr id="368" name="Google Shape;368;p53"/>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a:endParaRPr/>
          </a:p>
        </p:txBody>
      </p:sp>
      <p:sp>
        <p:nvSpPr>
          <p:cNvPr id="369" name="Google Shape;369;p53"/>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a:endParaRPr/>
          </a:p>
        </p:txBody>
      </p:sp>
      <p:sp>
        <p:nvSpPr>
          <p:cNvPr id="370" name="Google Shape;370;p5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 1 column text">
  <p:cSld name="TITLE_1">
    <p:bg>
      <p:bgPr>
        <a:solidFill>
          <a:schemeClr val="dk1"/>
        </a:solidFill>
        <a:effectLst/>
      </p:bgPr>
    </p:bg>
    <p:spTree>
      <p:nvGrpSpPr>
        <p:cNvPr id="1" name="Shape 371"/>
        <p:cNvGrpSpPr/>
        <p:nvPr/>
      </p:nvGrpSpPr>
      <p:grpSpPr>
        <a:xfrm>
          <a:off x="0" y="0"/>
          <a:ext cx="0" cy="0"/>
          <a:chOff x="0" y="0"/>
          <a:chExt cx="0" cy="0"/>
        </a:xfrm>
      </p:grpSpPr>
      <p:sp>
        <p:nvSpPr>
          <p:cNvPr id="372" name="Google Shape;372;p54"/>
          <p:cNvSpPr/>
          <p:nvPr/>
        </p:nvSpPr>
        <p:spPr>
          <a:xfrm>
            <a:off x="0" y="0"/>
            <a:ext cx="9144000" cy="1631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4"/>
          <p:cNvSpPr txBox="1">
            <a:spLocks noGrp="1"/>
          </p:cNvSpPr>
          <p:nvPr>
            <p:ph type="subTitle" idx="1"/>
          </p:nvPr>
        </p:nvSpPr>
        <p:spPr>
          <a:xfrm>
            <a:off x="791150" y="522625"/>
            <a:ext cx="5938800" cy="11082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a:endParaRPr/>
          </a:p>
        </p:txBody>
      </p:sp>
      <p:sp>
        <p:nvSpPr>
          <p:cNvPr id="374" name="Google Shape;374;p54"/>
          <p:cNvSpPr txBox="1">
            <a:spLocks noGrp="1"/>
          </p:cNvSpPr>
          <p:nvPr>
            <p:ph type="body" idx="2"/>
          </p:nvPr>
        </p:nvSpPr>
        <p:spPr>
          <a:xfrm>
            <a:off x="810075" y="2065225"/>
            <a:ext cx="7539900" cy="2777400"/>
          </a:xfrm>
          <a:prstGeom prst="rect">
            <a:avLst/>
          </a:prstGeom>
        </p:spPr>
        <p:txBody>
          <a:bodyPr spcFirstLastPara="1" wrap="square" lIns="91425" tIns="91425" rIns="91425" bIns="91425" anchor="t" anchorCtr="0">
            <a:noAutofit/>
          </a:bodyPr>
          <a:lstStyle>
            <a:lvl1pPr marL="457200" lvl="0" indent="-406400">
              <a:spcBef>
                <a:spcPts val="0"/>
              </a:spcBef>
              <a:spcAft>
                <a:spcPts val="0"/>
              </a:spcAft>
              <a:buClr>
                <a:schemeClr val="lt1"/>
              </a:buClr>
              <a:buSzPts val="2800"/>
              <a:buChar char="●"/>
              <a:defRPr sz="2800">
                <a:solidFill>
                  <a:schemeClr val="lt1"/>
                </a:solidFill>
              </a:defRPr>
            </a:lvl1pPr>
            <a:lvl2pPr marL="914400" lvl="1" indent="-406400">
              <a:spcBef>
                <a:spcPts val="0"/>
              </a:spcBef>
              <a:spcAft>
                <a:spcPts val="0"/>
              </a:spcAft>
              <a:buClr>
                <a:schemeClr val="lt1"/>
              </a:buClr>
              <a:buSzPts val="2800"/>
              <a:buChar char="○"/>
              <a:defRPr sz="2800">
                <a:solidFill>
                  <a:schemeClr val="lt1"/>
                </a:solidFill>
              </a:defRPr>
            </a:lvl2pPr>
            <a:lvl3pPr marL="1371600" lvl="2" indent="-406400">
              <a:spcBef>
                <a:spcPts val="0"/>
              </a:spcBef>
              <a:spcAft>
                <a:spcPts val="0"/>
              </a:spcAft>
              <a:buClr>
                <a:schemeClr val="lt1"/>
              </a:buClr>
              <a:buSzPts val="2800"/>
              <a:buChar char="■"/>
              <a:defRPr sz="2800">
                <a:solidFill>
                  <a:schemeClr val="lt1"/>
                </a:solidFill>
              </a:defRPr>
            </a:lvl3pPr>
            <a:lvl4pPr marL="1828800" lvl="3" indent="-406400">
              <a:spcBef>
                <a:spcPts val="0"/>
              </a:spcBef>
              <a:spcAft>
                <a:spcPts val="0"/>
              </a:spcAft>
              <a:buClr>
                <a:schemeClr val="lt1"/>
              </a:buClr>
              <a:buSzPts val="2800"/>
              <a:buChar char="●"/>
              <a:defRPr sz="2800">
                <a:solidFill>
                  <a:schemeClr val="lt1"/>
                </a:solidFill>
              </a:defRPr>
            </a:lvl4pPr>
            <a:lvl5pPr marL="2286000" lvl="4" indent="-406400">
              <a:spcBef>
                <a:spcPts val="0"/>
              </a:spcBef>
              <a:spcAft>
                <a:spcPts val="0"/>
              </a:spcAft>
              <a:buClr>
                <a:schemeClr val="lt1"/>
              </a:buClr>
              <a:buSzPts val="2800"/>
              <a:buChar char="○"/>
              <a:defRPr sz="2800">
                <a:solidFill>
                  <a:schemeClr val="lt1"/>
                </a:solidFill>
              </a:defRPr>
            </a:lvl5pPr>
            <a:lvl6pPr marL="2743200" lvl="5" indent="-406400">
              <a:spcBef>
                <a:spcPts val="0"/>
              </a:spcBef>
              <a:spcAft>
                <a:spcPts val="0"/>
              </a:spcAft>
              <a:buClr>
                <a:schemeClr val="lt1"/>
              </a:buClr>
              <a:buSzPts val="2800"/>
              <a:buChar char="■"/>
              <a:defRPr sz="2800">
                <a:solidFill>
                  <a:schemeClr val="lt1"/>
                </a:solidFill>
              </a:defRPr>
            </a:lvl6pPr>
            <a:lvl7pPr marL="3200400" lvl="6" indent="-406400">
              <a:spcBef>
                <a:spcPts val="0"/>
              </a:spcBef>
              <a:spcAft>
                <a:spcPts val="0"/>
              </a:spcAft>
              <a:buClr>
                <a:schemeClr val="lt1"/>
              </a:buClr>
              <a:buSzPts val="2800"/>
              <a:buChar char="●"/>
              <a:defRPr sz="2800">
                <a:solidFill>
                  <a:schemeClr val="lt1"/>
                </a:solidFill>
              </a:defRPr>
            </a:lvl7pPr>
            <a:lvl8pPr marL="3657600" lvl="7" indent="-406400">
              <a:spcBef>
                <a:spcPts val="0"/>
              </a:spcBef>
              <a:spcAft>
                <a:spcPts val="0"/>
              </a:spcAft>
              <a:buClr>
                <a:schemeClr val="lt1"/>
              </a:buClr>
              <a:buSzPts val="2800"/>
              <a:buChar char="○"/>
              <a:defRPr sz="2800">
                <a:solidFill>
                  <a:schemeClr val="lt1"/>
                </a:solidFill>
              </a:defRPr>
            </a:lvl8pPr>
            <a:lvl9pPr marL="4114800" lvl="8" indent="-406400">
              <a:spcBef>
                <a:spcPts val="0"/>
              </a:spcBef>
              <a:spcAft>
                <a:spcPts val="0"/>
              </a:spcAft>
              <a:buClr>
                <a:schemeClr val="lt1"/>
              </a:buClr>
              <a:buSzPts val="2800"/>
              <a:buChar char="■"/>
              <a:defRPr sz="2800">
                <a:solidFill>
                  <a:schemeClr val="lt1"/>
                </a:solidFill>
              </a:defRPr>
            </a:lvl9pPr>
          </a:lstStyle>
          <a:p>
            <a:endParaRPr/>
          </a:p>
        </p:txBody>
      </p:sp>
      <p:sp>
        <p:nvSpPr>
          <p:cNvPr id="375" name="Google Shape;375;p54"/>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1 Background Image + Text">
  <p:cSld name="CUSTOM">
    <p:spTree>
      <p:nvGrpSpPr>
        <p:cNvPr id="1" name="Shape 376"/>
        <p:cNvGrpSpPr/>
        <p:nvPr/>
      </p:nvGrpSpPr>
      <p:grpSpPr>
        <a:xfrm>
          <a:off x="0" y="0"/>
          <a:ext cx="0" cy="0"/>
          <a:chOff x="0" y="0"/>
          <a:chExt cx="0" cy="0"/>
        </a:xfrm>
      </p:grpSpPr>
      <p:sp>
        <p:nvSpPr>
          <p:cNvPr id="377" name="Google Shape;377;p55"/>
          <p:cNvSpPr>
            <a:spLocks noGrp="1"/>
          </p:cNvSpPr>
          <p:nvPr>
            <p:ph type="pic" idx="2"/>
          </p:nvPr>
        </p:nvSpPr>
        <p:spPr>
          <a:xfrm>
            <a:off x="0" y="0"/>
            <a:ext cx="9144000" cy="5143500"/>
          </a:xfrm>
          <a:prstGeom prst="rect">
            <a:avLst/>
          </a:prstGeom>
          <a:noFill/>
          <a:ln>
            <a:noFill/>
          </a:ln>
        </p:spPr>
      </p:sp>
      <p:sp>
        <p:nvSpPr>
          <p:cNvPr id="378" name="Google Shape;378;p55"/>
          <p:cNvSpPr txBox="1">
            <a:spLocks noGrp="1"/>
          </p:cNvSpPr>
          <p:nvPr>
            <p:ph type="body" idx="1"/>
          </p:nvPr>
        </p:nvSpPr>
        <p:spPr>
          <a:xfrm>
            <a:off x="4655675" y="956675"/>
            <a:ext cx="3965400" cy="775200"/>
          </a:xfrm>
          <a:prstGeom prst="rect">
            <a:avLst/>
          </a:prstGeom>
          <a:solidFill>
            <a:schemeClr val="lt1"/>
          </a:solidFill>
        </p:spPr>
        <p:txBody>
          <a:bodyPr spcFirstLastPara="1" wrap="square" lIns="274300" tIns="0" rIns="274300" bIns="274300" anchor="t" anchorCtr="0">
            <a:noAutofit/>
          </a:bodyPr>
          <a:lstStyle>
            <a:lvl1pPr marL="457200" lvl="0" indent="-298450">
              <a:spcBef>
                <a:spcPts val="0"/>
              </a:spcBef>
              <a:spcAft>
                <a:spcPts val="0"/>
              </a:spcAft>
              <a:buClr>
                <a:schemeClr val="dk1"/>
              </a:buClr>
              <a:buSzPts val="1100"/>
              <a:buFont typeface="Barlow"/>
              <a:buChar char="●"/>
              <a:defRPr sz="1100">
                <a:latin typeface="Barlow"/>
                <a:ea typeface="Barlow"/>
                <a:cs typeface="Barlow"/>
                <a:sym typeface="Barlow"/>
              </a:defRPr>
            </a:lvl1pPr>
            <a:lvl2pPr marL="914400" lvl="1" indent="-298450">
              <a:spcBef>
                <a:spcPts val="0"/>
              </a:spcBef>
              <a:spcAft>
                <a:spcPts val="0"/>
              </a:spcAft>
              <a:buClr>
                <a:schemeClr val="dk1"/>
              </a:buClr>
              <a:buSzPts val="1100"/>
              <a:buFont typeface="Barlow"/>
              <a:buChar char="○"/>
              <a:defRPr sz="1100">
                <a:latin typeface="Barlow"/>
                <a:ea typeface="Barlow"/>
                <a:cs typeface="Barlow"/>
                <a:sym typeface="Barlow"/>
              </a:defRPr>
            </a:lvl2pPr>
            <a:lvl3pPr marL="1371600" lvl="2" indent="-298450">
              <a:spcBef>
                <a:spcPts val="0"/>
              </a:spcBef>
              <a:spcAft>
                <a:spcPts val="0"/>
              </a:spcAft>
              <a:buClr>
                <a:schemeClr val="dk1"/>
              </a:buClr>
              <a:buSzPts val="1100"/>
              <a:buFont typeface="Barlow"/>
              <a:buChar char="■"/>
              <a:defRPr sz="1100">
                <a:latin typeface="Barlow"/>
                <a:ea typeface="Barlow"/>
                <a:cs typeface="Barlow"/>
                <a:sym typeface="Barlow"/>
              </a:defRPr>
            </a:lvl3pPr>
            <a:lvl4pPr marL="1828800" lvl="3" indent="-298450">
              <a:spcBef>
                <a:spcPts val="0"/>
              </a:spcBef>
              <a:spcAft>
                <a:spcPts val="0"/>
              </a:spcAft>
              <a:buClr>
                <a:schemeClr val="dk1"/>
              </a:buClr>
              <a:buSzPts val="1100"/>
              <a:buFont typeface="Barlow"/>
              <a:buChar char="●"/>
              <a:defRPr sz="1100">
                <a:latin typeface="Barlow"/>
                <a:ea typeface="Barlow"/>
                <a:cs typeface="Barlow"/>
                <a:sym typeface="Barlow"/>
              </a:defRPr>
            </a:lvl4pPr>
            <a:lvl5pPr marL="2286000" lvl="4" indent="-298450">
              <a:spcBef>
                <a:spcPts val="0"/>
              </a:spcBef>
              <a:spcAft>
                <a:spcPts val="0"/>
              </a:spcAft>
              <a:buClr>
                <a:schemeClr val="dk1"/>
              </a:buClr>
              <a:buSzPts val="1100"/>
              <a:buFont typeface="Barlow"/>
              <a:buChar char="○"/>
              <a:defRPr>
                <a:latin typeface="Barlow"/>
                <a:ea typeface="Barlow"/>
                <a:cs typeface="Barlow"/>
                <a:sym typeface="Barlow"/>
              </a:defRPr>
            </a:lvl5pPr>
            <a:lvl6pPr marL="2743200" lvl="5" indent="-298450">
              <a:spcBef>
                <a:spcPts val="0"/>
              </a:spcBef>
              <a:spcAft>
                <a:spcPts val="0"/>
              </a:spcAft>
              <a:buClr>
                <a:schemeClr val="dk1"/>
              </a:buClr>
              <a:buSzPts val="1100"/>
              <a:buFont typeface="Barlow"/>
              <a:buChar char="■"/>
              <a:defRPr sz="1100">
                <a:latin typeface="Barlow"/>
                <a:ea typeface="Barlow"/>
                <a:cs typeface="Barlow"/>
                <a:sym typeface="Barlow"/>
              </a:defRPr>
            </a:lvl6pPr>
            <a:lvl7pPr marL="3200400" lvl="6" indent="-298450">
              <a:spcBef>
                <a:spcPts val="0"/>
              </a:spcBef>
              <a:spcAft>
                <a:spcPts val="0"/>
              </a:spcAft>
              <a:buClr>
                <a:schemeClr val="dk1"/>
              </a:buClr>
              <a:buSzPts val="1100"/>
              <a:buFont typeface="Barlow"/>
              <a:buChar char="●"/>
              <a:defRPr sz="1100">
                <a:latin typeface="Barlow"/>
                <a:ea typeface="Barlow"/>
                <a:cs typeface="Barlow"/>
                <a:sym typeface="Barlow"/>
              </a:defRPr>
            </a:lvl7pPr>
            <a:lvl8pPr marL="3657600" lvl="7" indent="-298450">
              <a:spcBef>
                <a:spcPts val="0"/>
              </a:spcBef>
              <a:spcAft>
                <a:spcPts val="0"/>
              </a:spcAft>
              <a:buClr>
                <a:schemeClr val="dk1"/>
              </a:buClr>
              <a:buSzPts val="1100"/>
              <a:buFont typeface="Barlow"/>
              <a:buChar char="○"/>
              <a:defRPr sz="1100">
                <a:latin typeface="Barlow"/>
                <a:ea typeface="Barlow"/>
                <a:cs typeface="Barlow"/>
                <a:sym typeface="Barlow"/>
              </a:defRPr>
            </a:lvl8pPr>
            <a:lvl9pPr marL="4114800" lvl="8" indent="-298450">
              <a:spcBef>
                <a:spcPts val="0"/>
              </a:spcBef>
              <a:spcAft>
                <a:spcPts val="0"/>
              </a:spcAft>
              <a:buClr>
                <a:schemeClr val="dk1"/>
              </a:buClr>
              <a:buSzPts val="1100"/>
              <a:buFont typeface="Barlow"/>
              <a:buChar char="■"/>
              <a:defRPr sz="1100">
                <a:latin typeface="Barlow"/>
                <a:ea typeface="Barlow"/>
                <a:cs typeface="Barlow"/>
                <a:sym typeface="Barlow"/>
              </a:defRPr>
            </a:lvl9pPr>
          </a:lstStyle>
          <a:p>
            <a:endParaRPr/>
          </a:p>
        </p:txBody>
      </p:sp>
      <p:sp>
        <p:nvSpPr>
          <p:cNvPr id="379" name="Google Shape;379;p55"/>
          <p:cNvSpPr txBox="1">
            <a:spLocks noGrp="1"/>
          </p:cNvSpPr>
          <p:nvPr>
            <p:ph type="subTitle" idx="3"/>
          </p:nvPr>
        </p:nvSpPr>
        <p:spPr>
          <a:xfrm>
            <a:off x="4655675" y="522900"/>
            <a:ext cx="3965400" cy="442800"/>
          </a:xfrm>
          <a:prstGeom prst="rect">
            <a:avLst/>
          </a:prstGeom>
          <a:solidFill>
            <a:schemeClr val="lt1"/>
          </a:solidFill>
        </p:spPr>
        <p:txBody>
          <a:bodyPr spcFirstLastPara="1" wrap="square" lIns="274300" tIns="274300" rIns="274300" bIns="0" anchor="b" anchorCtr="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a:endParaRPr/>
          </a:p>
        </p:txBody>
      </p:sp>
      <p:sp>
        <p:nvSpPr>
          <p:cNvPr id="380" name="Google Shape;380;p55"/>
          <p:cNvSpPr txBox="1">
            <a:spLocks noGrp="1"/>
          </p:cNvSpPr>
          <p:nvPr>
            <p:ph type="body" idx="4"/>
          </p:nvPr>
        </p:nvSpPr>
        <p:spPr>
          <a:xfrm>
            <a:off x="524350" y="4144800"/>
            <a:ext cx="1558800" cy="475800"/>
          </a:xfrm>
          <a:prstGeom prst="rect">
            <a:avLst/>
          </a:prstGeom>
          <a:solidFill>
            <a:schemeClr val="lt1"/>
          </a:solidFill>
        </p:spPr>
        <p:txBody>
          <a:bodyPr spcFirstLastPara="1" wrap="square" lIns="137150" tIns="137150" rIns="137150" bIns="137150" anchor="t" anchorCtr="0">
            <a:noAutofit/>
          </a:bodyPr>
          <a:lstStyle>
            <a:lvl1pPr marL="457200" lvl="0" indent="-273050">
              <a:spcBef>
                <a:spcPts val="0"/>
              </a:spcBef>
              <a:spcAft>
                <a:spcPts val="0"/>
              </a:spcAft>
              <a:buClr>
                <a:schemeClr val="dk1"/>
              </a:buClr>
              <a:buSzPts val="700"/>
              <a:buFont typeface="Barlow"/>
              <a:buChar char="●"/>
              <a:defRPr sz="700">
                <a:latin typeface="Barlow"/>
                <a:ea typeface="Barlow"/>
                <a:cs typeface="Barlow"/>
                <a:sym typeface="Barlow"/>
              </a:defRPr>
            </a:lvl1pPr>
            <a:lvl2pPr marL="914400" lvl="1" indent="-273050">
              <a:spcBef>
                <a:spcPts val="0"/>
              </a:spcBef>
              <a:spcAft>
                <a:spcPts val="0"/>
              </a:spcAft>
              <a:buClr>
                <a:schemeClr val="dk1"/>
              </a:buClr>
              <a:buSzPts val="700"/>
              <a:buFont typeface="Barlow"/>
              <a:buChar char="○"/>
              <a:defRPr sz="700">
                <a:latin typeface="Barlow"/>
                <a:ea typeface="Barlow"/>
                <a:cs typeface="Barlow"/>
                <a:sym typeface="Barlow"/>
              </a:defRPr>
            </a:lvl2pPr>
            <a:lvl3pPr marL="1371600" lvl="2" indent="-273050">
              <a:spcBef>
                <a:spcPts val="0"/>
              </a:spcBef>
              <a:spcAft>
                <a:spcPts val="0"/>
              </a:spcAft>
              <a:buClr>
                <a:schemeClr val="dk1"/>
              </a:buClr>
              <a:buSzPts val="700"/>
              <a:buFont typeface="Barlow"/>
              <a:buChar char="■"/>
              <a:defRPr sz="700">
                <a:latin typeface="Barlow"/>
                <a:ea typeface="Barlow"/>
                <a:cs typeface="Barlow"/>
                <a:sym typeface="Barlow"/>
              </a:defRPr>
            </a:lvl3pPr>
            <a:lvl4pPr marL="1828800" lvl="3" indent="-273050">
              <a:spcBef>
                <a:spcPts val="0"/>
              </a:spcBef>
              <a:spcAft>
                <a:spcPts val="0"/>
              </a:spcAft>
              <a:buClr>
                <a:schemeClr val="dk1"/>
              </a:buClr>
              <a:buSzPts val="700"/>
              <a:buFont typeface="Barlow"/>
              <a:buChar char="●"/>
              <a:defRPr sz="700">
                <a:latin typeface="Barlow"/>
                <a:ea typeface="Barlow"/>
                <a:cs typeface="Barlow"/>
                <a:sym typeface="Barlow"/>
              </a:defRPr>
            </a:lvl4pPr>
            <a:lvl5pPr marL="2286000" lvl="4" indent="-273050">
              <a:spcBef>
                <a:spcPts val="0"/>
              </a:spcBef>
              <a:spcAft>
                <a:spcPts val="0"/>
              </a:spcAft>
              <a:buClr>
                <a:schemeClr val="dk1"/>
              </a:buClr>
              <a:buSzPts val="700"/>
              <a:buFont typeface="Barlow"/>
              <a:buChar char="○"/>
              <a:defRPr sz="700">
                <a:latin typeface="Barlow"/>
                <a:ea typeface="Barlow"/>
                <a:cs typeface="Barlow"/>
                <a:sym typeface="Barlow"/>
              </a:defRPr>
            </a:lvl5pPr>
            <a:lvl6pPr marL="2743200" lvl="5" indent="-273050">
              <a:spcBef>
                <a:spcPts val="0"/>
              </a:spcBef>
              <a:spcAft>
                <a:spcPts val="0"/>
              </a:spcAft>
              <a:buClr>
                <a:schemeClr val="dk1"/>
              </a:buClr>
              <a:buSzPts val="700"/>
              <a:buFont typeface="Barlow"/>
              <a:buChar char="■"/>
              <a:defRPr sz="700">
                <a:latin typeface="Barlow"/>
                <a:ea typeface="Barlow"/>
                <a:cs typeface="Barlow"/>
                <a:sym typeface="Barlow"/>
              </a:defRPr>
            </a:lvl6pPr>
            <a:lvl7pPr marL="3200400" lvl="6" indent="-273050">
              <a:spcBef>
                <a:spcPts val="0"/>
              </a:spcBef>
              <a:spcAft>
                <a:spcPts val="0"/>
              </a:spcAft>
              <a:buClr>
                <a:schemeClr val="dk1"/>
              </a:buClr>
              <a:buSzPts val="700"/>
              <a:buFont typeface="Barlow"/>
              <a:buChar char="●"/>
              <a:defRPr sz="700">
                <a:latin typeface="Barlow"/>
                <a:ea typeface="Barlow"/>
                <a:cs typeface="Barlow"/>
                <a:sym typeface="Barlow"/>
              </a:defRPr>
            </a:lvl7pPr>
            <a:lvl8pPr marL="3657600" lvl="7" indent="-273050">
              <a:spcBef>
                <a:spcPts val="0"/>
              </a:spcBef>
              <a:spcAft>
                <a:spcPts val="0"/>
              </a:spcAft>
              <a:buClr>
                <a:schemeClr val="dk1"/>
              </a:buClr>
              <a:buSzPts val="700"/>
              <a:buFont typeface="Barlow"/>
              <a:buChar char="○"/>
              <a:defRPr sz="700">
                <a:latin typeface="Barlow"/>
                <a:ea typeface="Barlow"/>
                <a:cs typeface="Barlow"/>
                <a:sym typeface="Barlow"/>
              </a:defRPr>
            </a:lvl8pPr>
            <a:lvl9pPr marL="4114800" lvl="8" indent="-273050">
              <a:spcBef>
                <a:spcPts val="0"/>
              </a:spcBef>
              <a:spcAft>
                <a:spcPts val="0"/>
              </a:spcAft>
              <a:buClr>
                <a:schemeClr val="dk1"/>
              </a:buClr>
              <a:buSzPts val="700"/>
              <a:buFont typeface="Barlow"/>
              <a:buChar char="■"/>
              <a:defRPr sz="700">
                <a:latin typeface="Barlow"/>
                <a:ea typeface="Barlow"/>
                <a:cs typeface="Barlow"/>
                <a:sym typeface="Barlow"/>
              </a:defRPr>
            </a:lvl9pPr>
          </a:lstStyle>
          <a:p>
            <a:endParaRPr/>
          </a:p>
        </p:txBody>
      </p:sp>
      <p:sp>
        <p:nvSpPr>
          <p:cNvPr id="381" name="Google Shape;381;p5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Quote + Image">
  <p:cSld name="CUSTOM_1">
    <p:bg>
      <p:bgPr>
        <a:solidFill>
          <a:schemeClr val="lt2"/>
        </a:solidFill>
        <a:effectLst/>
      </p:bgPr>
    </p:bg>
    <p:spTree>
      <p:nvGrpSpPr>
        <p:cNvPr id="1" name="Shape 382"/>
        <p:cNvGrpSpPr/>
        <p:nvPr/>
      </p:nvGrpSpPr>
      <p:grpSpPr>
        <a:xfrm>
          <a:off x="0" y="0"/>
          <a:ext cx="0" cy="0"/>
          <a:chOff x="0" y="0"/>
          <a:chExt cx="0" cy="0"/>
        </a:xfrm>
      </p:grpSpPr>
      <p:sp>
        <p:nvSpPr>
          <p:cNvPr id="383" name="Google Shape;383;p56"/>
          <p:cNvSpPr>
            <a:spLocks noGrp="1"/>
          </p:cNvSpPr>
          <p:nvPr>
            <p:ph type="pic" idx="2"/>
          </p:nvPr>
        </p:nvSpPr>
        <p:spPr>
          <a:xfrm>
            <a:off x="5485725" y="523025"/>
            <a:ext cx="3135300" cy="4097700"/>
          </a:xfrm>
          <a:prstGeom prst="roundRect">
            <a:avLst>
              <a:gd name="adj" fmla="val 16667"/>
            </a:avLst>
          </a:prstGeom>
          <a:noFill/>
          <a:ln>
            <a:noFill/>
          </a:ln>
        </p:spPr>
      </p:sp>
      <p:sp>
        <p:nvSpPr>
          <p:cNvPr id="384" name="Google Shape;384;p56"/>
          <p:cNvSpPr txBox="1">
            <a:spLocks noGrp="1"/>
          </p:cNvSpPr>
          <p:nvPr>
            <p:ph type="title"/>
          </p:nvPr>
        </p:nvSpPr>
        <p:spPr>
          <a:xfrm>
            <a:off x="591441" y="391675"/>
            <a:ext cx="4397400" cy="3178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385" name="Google Shape;385;p56"/>
          <p:cNvSpPr txBox="1">
            <a:spLocks noGrp="1"/>
          </p:cNvSpPr>
          <p:nvPr>
            <p:ph type="body" idx="1"/>
          </p:nvPr>
        </p:nvSpPr>
        <p:spPr>
          <a:xfrm>
            <a:off x="638750" y="4413181"/>
            <a:ext cx="5537100" cy="310500"/>
          </a:xfrm>
          <a:prstGeom prst="rect">
            <a:avLst/>
          </a:prstGeom>
        </p:spPr>
        <p:txBody>
          <a:bodyPr spcFirstLastPara="1" wrap="square" lIns="91425" tIns="91425" rIns="91425" bIns="91425" anchor="b" anchorCtr="0">
            <a:noAutofit/>
          </a:bodyPr>
          <a:lstStyle>
            <a:lvl1pPr marL="457200" lvl="0"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marL="914400" lvl="1"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marL="1371600" lvl="2"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marL="1828800" lvl="3"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marL="2286000" lvl="4" indent="-29845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marL="2743200" lvl="5"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marL="3200400" lvl="6"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marL="3657600" lvl="7"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marL="4114800" lvl="8"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a:endParaRPr/>
          </a:p>
        </p:txBody>
      </p:sp>
      <p:sp>
        <p:nvSpPr>
          <p:cNvPr id="386" name="Google Shape;386;p56"/>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Goals + 5 Images">
  <p:cSld name="CUSTOM_2">
    <p:bg>
      <p:bgPr>
        <a:solidFill>
          <a:schemeClr val="dk1"/>
        </a:solidFill>
        <a:effectLst/>
      </p:bgPr>
    </p:bg>
    <p:spTree>
      <p:nvGrpSpPr>
        <p:cNvPr id="1" name="Shape 387"/>
        <p:cNvGrpSpPr/>
        <p:nvPr/>
      </p:nvGrpSpPr>
      <p:grpSpPr>
        <a:xfrm>
          <a:off x="0" y="0"/>
          <a:ext cx="0" cy="0"/>
          <a:chOff x="0" y="0"/>
          <a:chExt cx="0" cy="0"/>
        </a:xfrm>
      </p:grpSpPr>
      <p:sp>
        <p:nvSpPr>
          <p:cNvPr id="388" name="Google Shape;388;p57"/>
          <p:cNvSpPr txBox="1">
            <a:spLocks noGrp="1"/>
          </p:cNvSpPr>
          <p:nvPr>
            <p:ph type="body" idx="1"/>
          </p:nvPr>
        </p:nvSpPr>
        <p:spPr>
          <a:xfrm>
            <a:off x="5481425" y="271557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89" name="Google Shape;389;p57"/>
          <p:cNvSpPr txBox="1">
            <a:spLocks noGrp="1"/>
          </p:cNvSpPr>
          <p:nvPr>
            <p:ph type="body" idx="2"/>
          </p:nvPr>
        </p:nvSpPr>
        <p:spPr>
          <a:xfrm>
            <a:off x="3918400" y="271572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90" name="Google Shape;390;p57"/>
          <p:cNvSpPr txBox="1">
            <a:spLocks noGrp="1"/>
          </p:cNvSpPr>
          <p:nvPr>
            <p:ph type="body" idx="3"/>
          </p:nvPr>
        </p:nvSpPr>
        <p:spPr>
          <a:xfrm>
            <a:off x="2349550" y="271557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91" name="Google Shape;391;p57"/>
          <p:cNvSpPr txBox="1">
            <a:spLocks noGrp="1"/>
          </p:cNvSpPr>
          <p:nvPr>
            <p:ph type="body" idx="4"/>
          </p:nvPr>
        </p:nvSpPr>
        <p:spPr>
          <a:xfrm>
            <a:off x="79115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92" name="Google Shape;392;p57"/>
          <p:cNvSpPr txBox="1">
            <a:spLocks noGrp="1"/>
          </p:cNvSpPr>
          <p:nvPr>
            <p:ph type="body" idx="5"/>
          </p:nvPr>
        </p:nvSpPr>
        <p:spPr>
          <a:xfrm>
            <a:off x="7911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93" name="Google Shape;393;p57"/>
          <p:cNvSpPr txBox="1">
            <a:spLocks noGrp="1"/>
          </p:cNvSpPr>
          <p:nvPr>
            <p:ph type="body" idx="6"/>
          </p:nvPr>
        </p:nvSpPr>
        <p:spPr>
          <a:xfrm>
            <a:off x="70444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cxnSp>
        <p:nvCxnSpPr>
          <p:cNvPr id="394" name="Google Shape;394;p57"/>
          <p:cNvCxnSpPr/>
          <p:nvPr/>
        </p:nvCxnSpPr>
        <p:spPr>
          <a:xfrm rot="10800000">
            <a:off x="827250" y="1481375"/>
            <a:ext cx="7489500" cy="0"/>
          </a:xfrm>
          <a:prstGeom prst="straightConnector1">
            <a:avLst/>
          </a:prstGeom>
          <a:noFill/>
          <a:ln w="19050" cap="flat" cmpd="sng">
            <a:solidFill>
              <a:schemeClr val="accent1"/>
            </a:solidFill>
            <a:prstDash val="solid"/>
            <a:round/>
            <a:headEnd type="none" w="med" len="med"/>
            <a:tailEnd type="none" w="med" len="med"/>
          </a:ln>
        </p:spPr>
      </p:cxnSp>
      <p:sp>
        <p:nvSpPr>
          <p:cNvPr id="395" name="Google Shape;395;p57"/>
          <p:cNvSpPr>
            <a:spLocks noGrp="1"/>
          </p:cNvSpPr>
          <p:nvPr>
            <p:ph type="pic" idx="7"/>
          </p:nvPr>
        </p:nvSpPr>
        <p:spPr>
          <a:xfrm>
            <a:off x="7049625" y="523025"/>
            <a:ext cx="1305900" cy="1918500"/>
          </a:xfrm>
          <a:prstGeom prst="roundRect">
            <a:avLst>
              <a:gd name="adj" fmla="val 16667"/>
            </a:avLst>
          </a:prstGeom>
          <a:noFill/>
          <a:ln>
            <a:noFill/>
          </a:ln>
        </p:spPr>
      </p:sp>
      <p:sp>
        <p:nvSpPr>
          <p:cNvPr id="396" name="Google Shape;396;p57"/>
          <p:cNvSpPr>
            <a:spLocks noGrp="1"/>
          </p:cNvSpPr>
          <p:nvPr>
            <p:ph type="pic" idx="8"/>
          </p:nvPr>
        </p:nvSpPr>
        <p:spPr>
          <a:xfrm>
            <a:off x="784775" y="522100"/>
            <a:ext cx="1305900" cy="1918500"/>
          </a:xfrm>
          <a:prstGeom prst="roundRect">
            <a:avLst>
              <a:gd name="adj" fmla="val 16667"/>
            </a:avLst>
          </a:prstGeom>
          <a:noFill/>
          <a:ln>
            <a:noFill/>
          </a:ln>
        </p:spPr>
      </p:sp>
      <p:sp>
        <p:nvSpPr>
          <p:cNvPr id="397" name="Google Shape;397;p57"/>
          <p:cNvSpPr>
            <a:spLocks noGrp="1"/>
          </p:cNvSpPr>
          <p:nvPr>
            <p:ph type="pic" idx="9"/>
          </p:nvPr>
        </p:nvSpPr>
        <p:spPr>
          <a:xfrm>
            <a:off x="2343950" y="523500"/>
            <a:ext cx="1305900" cy="1918500"/>
          </a:xfrm>
          <a:prstGeom prst="roundRect">
            <a:avLst>
              <a:gd name="adj" fmla="val 16667"/>
            </a:avLst>
          </a:prstGeom>
          <a:noFill/>
          <a:ln>
            <a:noFill/>
          </a:ln>
        </p:spPr>
      </p:sp>
      <p:sp>
        <p:nvSpPr>
          <p:cNvPr id="398" name="Google Shape;398;p57"/>
          <p:cNvSpPr>
            <a:spLocks noGrp="1"/>
          </p:cNvSpPr>
          <p:nvPr>
            <p:ph type="pic" idx="13"/>
          </p:nvPr>
        </p:nvSpPr>
        <p:spPr>
          <a:xfrm>
            <a:off x="3915213" y="523500"/>
            <a:ext cx="1305900" cy="1918500"/>
          </a:xfrm>
          <a:prstGeom prst="roundRect">
            <a:avLst>
              <a:gd name="adj" fmla="val 16667"/>
            </a:avLst>
          </a:prstGeom>
          <a:noFill/>
          <a:ln>
            <a:noFill/>
          </a:ln>
        </p:spPr>
      </p:sp>
      <p:sp>
        <p:nvSpPr>
          <p:cNvPr id="399" name="Google Shape;399;p57"/>
          <p:cNvSpPr>
            <a:spLocks noGrp="1"/>
          </p:cNvSpPr>
          <p:nvPr>
            <p:ph type="pic" idx="14"/>
          </p:nvPr>
        </p:nvSpPr>
        <p:spPr>
          <a:xfrm>
            <a:off x="5490975" y="523500"/>
            <a:ext cx="1305900" cy="1918500"/>
          </a:xfrm>
          <a:prstGeom prst="roundRect">
            <a:avLst>
              <a:gd name="adj" fmla="val 16667"/>
            </a:avLst>
          </a:prstGeom>
          <a:noFill/>
          <a:ln>
            <a:noFill/>
          </a:ln>
        </p:spPr>
      </p:sp>
      <p:sp>
        <p:nvSpPr>
          <p:cNvPr id="400" name="Google Shape;400;p57"/>
          <p:cNvSpPr txBox="1">
            <a:spLocks noGrp="1"/>
          </p:cNvSpPr>
          <p:nvPr>
            <p:ph type="body" idx="15"/>
          </p:nvPr>
        </p:nvSpPr>
        <p:spPr>
          <a:xfrm>
            <a:off x="5481425" y="4112700"/>
            <a:ext cx="28776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401" name="Google Shape;401;p57"/>
          <p:cNvSpPr txBox="1">
            <a:spLocks noGrp="1"/>
          </p:cNvSpPr>
          <p:nvPr>
            <p:ph type="subTitle" idx="16"/>
          </p:nvPr>
        </p:nvSpPr>
        <p:spPr>
          <a:xfrm>
            <a:off x="5481425" y="3897300"/>
            <a:ext cx="2877600" cy="2154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a:endParaRPr/>
          </a:p>
        </p:txBody>
      </p:sp>
      <p:sp>
        <p:nvSpPr>
          <p:cNvPr id="402" name="Google Shape;402;p57"/>
          <p:cNvSpPr txBox="1">
            <a:spLocks noGrp="1"/>
          </p:cNvSpPr>
          <p:nvPr>
            <p:ph type="body" idx="17"/>
          </p:nvPr>
        </p:nvSpPr>
        <p:spPr>
          <a:xfrm>
            <a:off x="234950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403" name="Google Shape;403;p57"/>
          <p:cNvSpPr txBox="1">
            <a:spLocks noGrp="1"/>
          </p:cNvSpPr>
          <p:nvPr>
            <p:ph type="body" idx="18"/>
          </p:nvPr>
        </p:nvSpPr>
        <p:spPr>
          <a:xfrm>
            <a:off x="3915488"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404" name="Google Shape;404;p57"/>
          <p:cNvSpPr txBox="1">
            <a:spLocks noGrp="1"/>
          </p:cNvSpPr>
          <p:nvPr>
            <p:ph type="body" idx="19"/>
          </p:nvPr>
        </p:nvSpPr>
        <p:spPr>
          <a:xfrm>
            <a:off x="5479963"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405" name="Google Shape;405;p57"/>
          <p:cNvSpPr txBox="1">
            <a:spLocks noGrp="1"/>
          </p:cNvSpPr>
          <p:nvPr>
            <p:ph type="body" idx="20"/>
          </p:nvPr>
        </p:nvSpPr>
        <p:spPr>
          <a:xfrm>
            <a:off x="7047338"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406" name="Google Shape;406;p57"/>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trategy Canvas / Line Graph">
  <p:cSld name="CUSTOM_3">
    <p:bg>
      <p:bgPr>
        <a:solidFill>
          <a:schemeClr val="dk1"/>
        </a:solidFill>
        <a:effectLst/>
      </p:bgPr>
    </p:bg>
    <p:spTree>
      <p:nvGrpSpPr>
        <p:cNvPr id="1" name="Shape 407"/>
        <p:cNvGrpSpPr/>
        <p:nvPr/>
      </p:nvGrpSpPr>
      <p:grpSpPr>
        <a:xfrm>
          <a:off x="0" y="0"/>
          <a:ext cx="0" cy="0"/>
          <a:chOff x="0" y="0"/>
          <a:chExt cx="0" cy="0"/>
        </a:xfrm>
      </p:grpSpPr>
      <p:sp>
        <p:nvSpPr>
          <p:cNvPr id="408" name="Google Shape;408;p58"/>
          <p:cNvSpPr txBox="1">
            <a:spLocks noGrp="1"/>
          </p:cNvSpPr>
          <p:nvPr>
            <p:ph type="body" idx="1"/>
          </p:nvPr>
        </p:nvSpPr>
        <p:spPr>
          <a:xfrm>
            <a:off x="3917825" y="4024920"/>
            <a:ext cx="44412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409" name="Google Shape;409;p58"/>
          <p:cNvSpPr txBox="1">
            <a:spLocks noGrp="1"/>
          </p:cNvSpPr>
          <p:nvPr>
            <p:ph type="subTitle" idx="2"/>
          </p:nvPr>
        </p:nvSpPr>
        <p:spPr>
          <a:xfrm>
            <a:off x="783675" y="3967895"/>
            <a:ext cx="2877600" cy="4311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a:endParaRPr/>
          </a:p>
        </p:txBody>
      </p:sp>
      <p:sp>
        <p:nvSpPr>
          <p:cNvPr id="410" name="Google Shape;410;p58"/>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ection Header">
  <p:cSld name="CUSTOM_4">
    <p:spTree>
      <p:nvGrpSpPr>
        <p:cNvPr id="1" name="Shape 411"/>
        <p:cNvGrpSpPr/>
        <p:nvPr/>
      </p:nvGrpSpPr>
      <p:grpSpPr>
        <a:xfrm>
          <a:off x="0" y="0"/>
          <a:ext cx="0" cy="0"/>
          <a:chOff x="0" y="0"/>
          <a:chExt cx="0" cy="0"/>
        </a:xfrm>
      </p:grpSpPr>
      <p:sp>
        <p:nvSpPr>
          <p:cNvPr id="412" name="Google Shape;412;p59"/>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a:endParaRPr/>
          </a:p>
        </p:txBody>
      </p:sp>
      <p:sp>
        <p:nvSpPr>
          <p:cNvPr id="413" name="Google Shape;413;p59"/>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a:endParaRPr/>
          </a:p>
        </p:txBody>
      </p:sp>
      <p:sp>
        <p:nvSpPr>
          <p:cNvPr id="414" name="Google Shape;414;p5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KPIs / Objectives">
  <p:cSld name="CUSTOM_5">
    <p:bg>
      <p:bgPr>
        <a:solidFill>
          <a:schemeClr val="dk1"/>
        </a:solidFill>
        <a:effectLst/>
      </p:bgPr>
    </p:bg>
    <p:spTree>
      <p:nvGrpSpPr>
        <p:cNvPr id="1" name="Shape 415"/>
        <p:cNvGrpSpPr/>
        <p:nvPr/>
      </p:nvGrpSpPr>
      <p:grpSpPr>
        <a:xfrm>
          <a:off x="0" y="0"/>
          <a:ext cx="0" cy="0"/>
          <a:chOff x="0" y="0"/>
          <a:chExt cx="0" cy="0"/>
        </a:xfrm>
      </p:grpSpPr>
      <p:sp>
        <p:nvSpPr>
          <p:cNvPr id="416" name="Google Shape;416;p60"/>
          <p:cNvSpPr/>
          <p:nvPr/>
        </p:nvSpPr>
        <p:spPr>
          <a:xfrm rot="-5400000">
            <a:off x="4090300" y="-436575"/>
            <a:ext cx="4099200" cy="6015000"/>
          </a:xfrm>
          <a:prstGeom prst="round2SameRect">
            <a:avLst>
              <a:gd name="adj1" fmla="val 16667"/>
              <a:gd name="adj2" fmla="val 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17" name="Google Shape;417;p60"/>
          <p:cNvSpPr txBox="1">
            <a:spLocks noGrp="1"/>
          </p:cNvSpPr>
          <p:nvPr>
            <p:ph type="body" idx="1"/>
          </p:nvPr>
        </p:nvSpPr>
        <p:spPr>
          <a:xfrm>
            <a:off x="3918400" y="3680775"/>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418" name="Google Shape;418;p60"/>
          <p:cNvSpPr txBox="1">
            <a:spLocks noGrp="1"/>
          </p:cNvSpPr>
          <p:nvPr>
            <p:ph type="body" idx="2"/>
          </p:nvPr>
        </p:nvSpPr>
        <p:spPr>
          <a:xfrm>
            <a:off x="3918400" y="378082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419" name="Google Shape;419;p60"/>
          <p:cNvSpPr txBox="1">
            <a:spLocks noGrp="1"/>
          </p:cNvSpPr>
          <p:nvPr>
            <p:ph type="body" idx="3"/>
          </p:nvPr>
        </p:nvSpPr>
        <p:spPr>
          <a:xfrm>
            <a:off x="7044450" y="36805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420" name="Google Shape;420;p60"/>
          <p:cNvSpPr txBox="1">
            <a:spLocks noGrp="1"/>
          </p:cNvSpPr>
          <p:nvPr>
            <p:ph type="body" idx="4"/>
          </p:nvPr>
        </p:nvSpPr>
        <p:spPr>
          <a:xfrm>
            <a:off x="7044450" y="37806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421" name="Google Shape;421;p60"/>
          <p:cNvSpPr>
            <a:spLocks noGrp="1"/>
          </p:cNvSpPr>
          <p:nvPr>
            <p:ph type="pic" idx="5"/>
          </p:nvPr>
        </p:nvSpPr>
        <p:spPr>
          <a:xfrm>
            <a:off x="7049625" y="1588125"/>
            <a:ext cx="1305900" cy="1918500"/>
          </a:xfrm>
          <a:prstGeom prst="roundRect">
            <a:avLst>
              <a:gd name="adj" fmla="val 16667"/>
            </a:avLst>
          </a:prstGeom>
          <a:noFill/>
          <a:ln>
            <a:noFill/>
          </a:ln>
        </p:spPr>
      </p:sp>
      <p:sp>
        <p:nvSpPr>
          <p:cNvPr id="422" name="Google Shape;422;p60"/>
          <p:cNvSpPr>
            <a:spLocks noGrp="1"/>
          </p:cNvSpPr>
          <p:nvPr>
            <p:ph type="pic" idx="6"/>
          </p:nvPr>
        </p:nvSpPr>
        <p:spPr>
          <a:xfrm>
            <a:off x="3915213" y="1588600"/>
            <a:ext cx="1305900" cy="1918500"/>
          </a:xfrm>
          <a:prstGeom prst="roundRect">
            <a:avLst>
              <a:gd name="adj" fmla="val 16667"/>
            </a:avLst>
          </a:prstGeom>
          <a:noFill/>
          <a:ln>
            <a:noFill/>
          </a:ln>
        </p:spPr>
      </p:sp>
      <p:sp>
        <p:nvSpPr>
          <p:cNvPr id="423" name="Google Shape;423;p60"/>
          <p:cNvSpPr>
            <a:spLocks noGrp="1"/>
          </p:cNvSpPr>
          <p:nvPr>
            <p:ph type="pic" idx="7"/>
          </p:nvPr>
        </p:nvSpPr>
        <p:spPr>
          <a:xfrm>
            <a:off x="5490975" y="1588600"/>
            <a:ext cx="1305900" cy="1918500"/>
          </a:xfrm>
          <a:prstGeom prst="roundRect">
            <a:avLst>
              <a:gd name="adj" fmla="val 16667"/>
            </a:avLst>
          </a:prstGeom>
          <a:noFill/>
          <a:ln>
            <a:noFill/>
          </a:ln>
        </p:spPr>
      </p:sp>
      <p:sp>
        <p:nvSpPr>
          <p:cNvPr id="424" name="Google Shape;424;p60"/>
          <p:cNvSpPr txBox="1">
            <a:spLocks noGrp="1"/>
          </p:cNvSpPr>
          <p:nvPr>
            <p:ph type="subTitle" idx="8"/>
          </p:nvPr>
        </p:nvSpPr>
        <p:spPr>
          <a:xfrm>
            <a:off x="3918800" y="1034575"/>
            <a:ext cx="1307100" cy="554100"/>
          </a:xfrm>
          <a:prstGeom prst="rect">
            <a:avLst/>
          </a:prstGeom>
        </p:spPr>
        <p:txBody>
          <a:bodyPr spcFirstLastPara="1" wrap="square" lIns="0" tIns="0" rIns="0" bIns="0" anchor="b" anchorCtr="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a:endParaRPr/>
          </a:p>
        </p:txBody>
      </p:sp>
      <p:sp>
        <p:nvSpPr>
          <p:cNvPr id="425" name="Google Shape;425;p60"/>
          <p:cNvSpPr txBox="1">
            <a:spLocks noGrp="1"/>
          </p:cNvSpPr>
          <p:nvPr>
            <p:ph type="subTitle" idx="9"/>
          </p:nvPr>
        </p:nvSpPr>
        <p:spPr>
          <a:xfrm>
            <a:off x="5484775" y="1034575"/>
            <a:ext cx="1307100" cy="554100"/>
          </a:xfrm>
          <a:prstGeom prst="rect">
            <a:avLst/>
          </a:prstGeom>
        </p:spPr>
        <p:txBody>
          <a:bodyPr spcFirstLastPara="1" wrap="square" lIns="0" tIns="0" rIns="0" bIns="0" anchor="b" anchorCtr="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a:endParaRPr/>
          </a:p>
        </p:txBody>
      </p:sp>
      <p:sp>
        <p:nvSpPr>
          <p:cNvPr id="426" name="Google Shape;426;p60"/>
          <p:cNvSpPr txBox="1">
            <a:spLocks noGrp="1"/>
          </p:cNvSpPr>
          <p:nvPr>
            <p:ph type="subTitle" idx="13"/>
          </p:nvPr>
        </p:nvSpPr>
        <p:spPr>
          <a:xfrm>
            <a:off x="7050750" y="1032775"/>
            <a:ext cx="1307100" cy="554100"/>
          </a:xfrm>
          <a:prstGeom prst="rect">
            <a:avLst/>
          </a:prstGeom>
        </p:spPr>
        <p:txBody>
          <a:bodyPr spcFirstLastPara="1" wrap="square" lIns="0" tIns="0" rIns="0" bIns="0" anchor="b" anchorCtr="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a:endParaRPr/>
          </a:p>
        </p:txBody>
      </p:sp>
      <p:sp>
        <p:nvSpPr>
          <p:cNvPr id="427" name="Google Shape;427;p60"/>
          <p:cNvSpPr txBox="1">
            <a:spLocks noGrp="1"/>
          </p:cNvSpPr>
          <p:nvPr>
            <p:ph type="body" idx="14"/>
          </p:nvPr>
        </p:nvSpPr>
        <p:spPr>
          <a:xfrm>
            <a:off x="507400" y="1828050"/>
            <a:ext cx="2136300" cy="2973300"/>
          </a:xfrm>
          <a:prstGeom prst="rect">
            <a:avLst/>
          </a:prstGeom>
        </p:spPr>
        <p:txBody>
          <a:bodyPr spcFirstLastPara="1" wrap="square" lIns="91425" tIns="91425" rIns="91425" bIns="91425" anchor="t" anchorCtr="0">
            <a:noAutofit/>
          </a:bodyPr>
          <a:lstStyle>
            <a:lvl1pPr marL="457200" lvl="0" indent="-406400">
              <a:spcBef>
                <a:spcPts val="0"/>
              </a:spcBef>
              <a:spcAft>
                <a:spcPts val="0"/>
              </a:spcAft>
              <a:buClr>
                <a:schemeClr val="accent2"/>
              </a:buClr>
              <a:buSzPts val="2800"/>
              <a:buChar char="●"/>
              <a:defRPr sz="2800">
                <a:solidFill>
                  <a:schemeClr val="accent2"/>
                </a:solidFill>
              </a:defRPr>
            </a:lvl1pPr>
            <a:lvl2pPr marL="914400" lvl="1" indent="-406400">
              <a:spcBef>
                <a:spcPts val="0"/>
              </a:spcBef>
              <a:spcAft>
                <a:spcPts val="0"/>
              </a:spcAft>
              <a:buClr>
                <a:schemeClr val="accent2"/>
              </a:buClr>
              <a:buSzPts val="2800"/>
              <a:buChar char="○"/>
              <a:defRPr sz="2800">
                <a:solidFill>
                  <a:schemeClr val="accent2"/>
                </a:solidFill>
              </a:defRPr>
            </a:lvl2pPr>
            <a:lvl3pPr marL="1371600" lvl="2" indent="-406400">
              <a:spcBef>
                <a:spcPts val="0"/>
              </a:spcBef>
              <a:spcAft>
                <a:spcPts val="0"/>
              </a:spcAft>
              <a:buClr>
                <a:schemeClr val="accent2"/>
              </a:buClr>
              <a:buSzPts val="2800"/>
              <a:buChar char="■"/>
              <a:defRPr sz="2800">
                <a:solidFill>
                  <a:schemeClr val="accent2"/>
                </a:solidFill>
              </a:defRPr>
            </a:lvl3pPr>
            <a:lvl4pPr marL="1828800" lvl="3" indent="-406400">
              <a:spcBef>
                <a:spcPts val="0"/>
              </a:spcBef>
              <a:spcAft>
                <a:spcPts val="0"/>
              </a:spcAft>
              <a:buClr>
                <a:schemeClr val="accent2"/>
              </a:buClr>
              <a:buSzPts val="2800"/>
              <a:buChar char="●"/>
              <a:defRPr sz="2800">
                <a:solidFill>
                  <a:schemeClr val="accent2"/>
                </a:solidFill>
              </a:defRPr>
            </a:lvl4pPr>
            <a:lvl5pPr marL="2286000" lvl="4" indent="-406400">
              <a:spcBef>
                <a:spcPts val="0"/>
              </a:spcBef>
              <a:spcAft>
                <a:spcPts val="0"/>
              </a:spcAft>
              <a:buClr>
                <a:schemeClr val="accent2"/>
              </a:buClr>
              <a:buSzPts val="2800"/>
              <a:buChar char="○"/>
              <a:defRPr sz="2800">
                <a:solidFill>
                  <a:schemeClr val="accent2"/>
                </a:solidFill>
              </a:defRPr>
            </a:lvl5pPr>
            <a:lvl6pPr marL="2743200" lvl="5" indent="-406400">
              <a:spcBef>
                <a:spcPts val="0"/>
              </a:spcBef>
              <a:spcAft>
                <a:spcPts val="0"/>
              </a:spcAft>
              <a:buClr>
                <a:schemeClr val="accent2"/>
              </a:buClr>
              <a:buSzPts val="2800"/>
              <a:buChar char="■"/>
              <a:defRPr sz="2800">
                <a:solidFill>
                  <a:schemeClr val="accent2"/>
                </a:solidFill>
              </a:defRPr>
            </a:lvl6pPr>
            <a:lvl7pPr marL="3200400" lvl="6" indent="-406400">
              <a:spcBef>
                <a:spcPts val="0"/>
              </a:spcBef>
              <a:spcAft>
                <a:spcPts val="0"/>
              </a:spcAft>
              <a:buClr>
                <a:schemeClr val="accent2"/>
              </a:buClr>
              <a:buSzPts val="2800"/>
              <a:buChar char="●"/>
              <a:defRPr sz="2800">
                <a:solidFill>
                  <a:schemeClr val="accent2"/>
                </a:solidFill>
              </a:defRPr>
            </a:lvl7pPr>
            <a:lvl8pPr marL="3657600" lvl="7" indent="-406400">
              <a:spcBef>
                <a:spcPts val="0"/>
              </a:spcBef>
              <a:spcAft>
                <a:spcPts val="0"/>
              </a:spcAft>
              <a:buClr>
                <a:schemeClr val="accent2"/>
              </a:buClr>
              <a:buSzPts val="2800"/>
              <a:buChar char="○"/>
              <a:defRPr sz="2800">
                <a:solidFill>
                  <a:schemeClr val="accent2"/>
                </a:solidFill>
              </a:defRPr>
            </a:lvl8pPr>
            <a:lvl9pPr marL="4114800" lvl="8" indent="-406400">
              <a:spcBef>
                <a:spcPts val="0"/>
              </a:spcBef>
              <a:spcAft>
                <a:spcPts val="0"/>
              </a:spcAft>
              <a:buClr>
                <a:schemeClr val="accent2"/>
              </a:buClr>
              <a:buSzPts val="2800"/>
              <a:buChar char="■"/>
              <a:defRPr sz="2800">
                <a:solidFill>
                  <a:schemeClr val="accent2"/>
                </a:solidFill>
              </a:defRPr>
            </a:lvl9pPr>
          </a:lstStyle>
          <a:p>
            <a:endParaRPr/>
          </a:p>
        </p:txBody>
      </p:sp>
      <p:sp>
        <p:nvSpPr>
          <p:cNvPr id="428" name="Google Shape;428;p60"/>
          <p:cNvSpPr txBox="1">
            <a:spLocks noGrp="1"/>
          </p:cNvSpPr>
          <p:nvPr>
            <p:ph type="body" idx="15"/>
          </p:nvPr>
        </p:nvSpPr>
        <p:spPr>
          <a:xfrm>
            <a:off x="5481425" y="3680775"/>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429" name="Google Shape;429;p60"/>
          <p:cNvSpPr txBox="1">
            <a:spLocks noGrp="1"/>
          </p:cNvSpPr>
          <p:nvPr>
            <p:ph type="body" idx="16"/>
          </p:nvPr>
        </p:nvSpPr>
        <p:spPr>
          <a:xfrm>
            <a:off x="5481425" y="378082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430" name="Google Shape;430;p60"/>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432">
          <p15:clr>
            <a:srgbClr val="E46962"/>
          </p15:clr>
        </p15:guide>
        <p15:guide id="2" orient="horz" pos="2088">
          <p15:clr>
            <a:srgbClr val="E4696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Action Plan + 5 Images">
  <p:cSld name="CUSTOM_6">
    <p:bg>
      <p:bgPr>
        <a:solidFill>
          <a:schemeClr val="accent6"/>
        </a:solidFill>
        <a:effectLst/>
      </p:bgPr>
    </p:bg>
    <p:spTree>
      <p:nvGrpSpPr>
        <p:cNvPr id="1" name="Shape 431"/>
        <p:cNvGrpSpPr/>
        <p:nvPr/>
      </p:nvGrpSpPr>
      <p:grpSpPr>
        <a:xfrm>
          <a:off x="0" y="0"/>
          <a:ext cx="0" cy="0"/>
          <a:chOff x="0" y="0"/>
          <a:chExt cx="0" cy="0"/>
        </a:xfrm>
      </p:grpSpPr>
      <p:sp>
        <p:nvSpPr>
          <p:cNvPr id="432" name="Google Shape;432;p61"/>
          <p:cNvSpPr txBox="1">
            <a:spLocks noGrp="1"/>
          </p:cNvSpPr>
          <p:nvPr>
            <p:ph type="body" idx="1"/>
          </p:nvPr>
        </p:nvSpPr>
        <p:spPr>
          <a:xfrm>
            <a:off x="79115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433" name="Google Shape;433;p61"/>
          <p:cNvSpPr txBox="1">
            <a:spLocks noGrp="1"/>
          </p:cNvSpPr>
          <p:nvPr>
            <p:ph type="body" idx="2"/>
          </p:nvPr>
        </p:nvSpPr>
        <p:spPr>
          <a:xfrm>
            <a:off x="7911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cxnSp>
        <p:nvCxnSpPr>
          <p:cNvPr id="434" name="Google Shape;434;p61"/>
          <p:cNvCxnSpPr/>
          <p:nvPr/>
        </p:nvCxnSpPr>
        <p:spPr>
          <a:xfrm rot="10800000">
            <a:off x="827250" y="1481375"/>
            <a:ext cx="7489500" cy="0"/>
          </a:xfrm>
          <a:prstGeom prst="straightConnector1">
            <a:avLst/>
          </a:prstGeom>
          <a:noFill/>
          <a:ln w="19050" cap="flat" cmpd="sng">
            <a:solidFill>
              <a:schemeClr val="accent2"/>
            </a:solidFill>
            <a:prstDash val="solid"/>
            <a:round/>
            <a:headEnd type="none" w="med" len="med"/>
            <a:tailEnd type="none" w="med" len="med"/>
          </a:ln>
        </p:spPr>
      </p:cxnSp>
      <p:sp>
        <p:nvSpPr>
          <p:cNvPr id="435" name="Google Shape;435;p61"/>
          <p:cNvSpPr>
            <a:spLocks noGrp="1"/>
          </p:cNvSpPr>
          <p:nvPr>
            <p:ph type="pic" idx="3"/>
          </p:nvPr>
        </p:nvSpPr>
        <p:spPr>
          <a:xfrm>
            <a:off x="7049625" y="523025"/>
            <a:ext cx="1305900" cy="1918500"/>
          </a:xfrm>
          <a:prstGeom prst="roundRect">
            <a:avLst>
              <a:gd name="adj" fmla="val 16667"/>
            </a:avLst>
          </a:prstGeom>
          <a:noFill/>
          <a:ln>
            <a:noFill/>
          </a:ln>
        </p:spPr>
      </p:sp>
      <p:sp>
        <p:nvSpPr>
          <p:cNvPr id="436" name="Google Shape;436;p61"/>
          <p:cNvSpPr>
            <a:spLocks noGrp="1"/>
          </p:cNvSpPr>
          <p:nvPr>
            <p:ph type="pic" idx="4"/>
          </p:nvPr>
        </p:nvSpPr>
        <p:spPr>
          <a:xfrm>
            <a:off x="784775" y="522100"/>
            <a:ext cx="1305900" cy="1918500"/>
          </a:xfrm>
          <a:prstGeom prst="roundRect">
            <a:avLst>
              <a:gd name="adj" fmla="val 16667"/>
            </a:avLst>
          </a:prstGeom>
          <a:noFill/>
          <a:ln>
            <a:noFill/>
          </a:ln>
        </p:spPr>
      </p:sp>
      <p:sp>
        <p:nvSpPr>
          <p:cNvPr id="437" name="Google Shape;437;p61"/>
          <p:cNvSpPr>
            <a:spLocks noGrp="1"/>
          </p:cNvSpPr>
          <p:nvPr>
            <p:ph type="pic" idx="5"/>
          </p:nvPr>
        </p:nvSpPr>
        <p:spPr>
          <a:xfrm>
            <a:off x="2343950" y="523500"/>
            <a:ext cx="1305900" cy="1918500"/>
          </a:xfrm>
          <a:prstGeom prst="roundRect">
            <a:avLst>
              <a:gd name="adj" fmla="val 16667"/>
            </a:avLst>
          </a:prstGeom>
          <a:noFill/>
          <a:ln>
            <a:noFill/>
          </a:ln>
        </p:spPr>
      </p:sp>
      <p:sp>
        <p:nvSpPr>
          <p:cNvPr id="438" name="Google Shape;438;p61"/>
          <p:cNvSpPr>
            <a:spLocks noGrp="1"/>
          </p:cNvSpPr>
          <p:nvPr>
            <p:ph type="pic" idx="6"/>
          </p:nvPr>
        </p:nvSpPr>
        <p:spPr>
          <a:xfrm>
            <a:off x="3915213" y="523500"/>
            <a:ext cx="1305900" cy="1918500"/>
          </a:xfrm>
          <a:prstGeom prst="roundRect">
            <a:avLst>
              <a:gd name="adj" fmla="val 16667"/>
            </a:avLst>
          </a:prstGeom>
          <a:noFill/>
          <a:ln>
            <a:noFill/>
          </a:ln>
        </p:spPr>
      </p:sp>
      <p:sp>
        <p:nvSpPr>
          <p:cNvPr id="439" name="Google Shape;439;p61"/>
          <p:cNvSpPr>
            <a:spLocks noGrp="1"/>
          </p:cNvSpPr>
          <p:nvPr>
            <p:ph type="pic" idx="7"/>
          </p:nvPr>
        </p:nvSpPr>
        <p:spPr>
          <a:xfrm>
            <a:off x="5490975" y="523500"/>
            <a:ext cx="1305900" cy="1918500"/>
          </a:xfrm>
          <a:prstGeom prst="roundRect">
            <a:avLst>
              <a:gd name="adj" fmla="val 16667"/>
            </a:avLst>
          </a:prstGeom>
          <a:noFill/>
          <a:ln>
            <a:noFill/>
          </a:ln>
        </p:spPr>
      </p:sp>
      <p:sp>
        <p:nvSpPr>
          <p:cNvPr id="440" name="Google Shape;440;p61"/>
          <p:cNvSpPr txBox="1">
            <a:spLocks noGrp="1"/>
          </p:cNvSpPr>
          <p:nvPr>
            <p:ph type="body" idx="8"/>
          </p:nvPr>
        </p:nvSpPr>
        <p:spPr>
          <a:xfrm>
            <a:off x="5481425" y="4112700"/>
            <a:ext cx="28776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441" name="Google Shape;441;p61"/>
          <p:cNvSpPr txBox="1">
            <a:spLocks noGrp="1"/>
          </p:cNvSpPr>
          <p:nvPr>
            <p:ph type="subTitle" idx="9"/>
          </p:nvPr>
        </p:nvSpPr>
        <p:spPr>
          <a:xfrm>
            <a:off x="5481425" y="3897300"/>
            <a:ext cx="2877600" cy="2154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a:endParaRPr/>
          </a:p>
        </p:txBody>
      </p:sp>
      <p:sp>
        <p:nvSpPr>
          <p:cNvPr id="442" name="Google Shape;442;p61"/>
          <p:cNvSpPr txBox="1">
            <a:spLocks noGrp="1"/>
          </p:cNvSpPr>
          <p:nvPr>
            <p:ph type="body" idx="13"/>
          </p:nvPr>
        </p:nvSpPr>
        <p:spPr>
          <a:xfrm>
            <a:off x="234950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443" name="Google Shape;443;p61"/>
          <p:cNvSpPr txBox="1">
            <a:spLocks noGrp="1"/>
          </p:cNvSpPr>
          <p:nvPr>
            <p:ph type="body" idx="14"/>
          </p:nvPr>
        </p:nvSpPr>
        <p:spPr>
          <a:xfrm>
            <a:off x="234950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444" name="Google Shape;444;p61"/>
          <p:cNvSpPr txBox="1">
            <a:spLocks noGrp="1"/>
          </p:cNvSpPr>
          <p:nvPr>
            <p:ph type="body" idx="15"/>
          </p:nvPr>
        </p:nvSpPr>
        <p:spPr>
          <a:xfrm>
            <a:off x="390785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445" name="Google Shape;445;p61"/>
          <p:cNvSpPr txBox="1">
            <a:spLocks noGrp="1"/>
          </p:cNvSpPr>
          <p:nvPr>
            <p:ph type="body" idx="16"/>
          </p:nvPr>
        </p:nvSpPr>
        <p:spPr>
          <a:xfrm>
            <a:off x="39078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446" name="Google Shape;446;p61"/>
          <p:cNvSpPr txBox="1">
            <a:spLocks noGrp="1"/>
          </p:cNvSpPr>
          <p:nvPr>
            <p:ph type="body" idx="17"/>
          </p:nvPr>
        </p:nvSpPr>
        <p:spPr>
          <a:xfrm>
            <a:off x="5496525"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447" name="Google Shape;447;p61"/>
          <p:cNvSpPr txBox="1">
            <a:spLocks noGrp="1"/>
          </p:cNvSpPr>
          <p:nvPr>
            <p:ph type="body" idx="18"/>
          </p:nvPr>
        </p:nvSpPr>
        <p:spPr>
          <a:xfrm>
            <a:off x="5496525"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448" name="Google Shape;448;p61"/>
          <p:cNvSpPr txBox="1">
            <a:spLocks noGrp="1"/>
          </p:cNvSpPr>
          <p:nvPr>
            <p:ph type="body" idx="19"/>
          </p:nvPr>
        </p:nvSpPr>
        <p:spPr>
          <a:xfrm>
            <a:off x="708520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449" name="Google Shape;449;p61"/>
          <p:cNvSpPr txBox="1">
            <a:spLocks noGrp="1"/>
          </p:cNvSpPr>
          <p:nvPr>
            <p:ph type="body" idx="20"/>
          </p:nvPr>
        </p:nvSpPr>
        <p:spPr>
          <a:xfrm>
            <a:off x="708520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450" name="Google Shape;450;p61"/>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meline Graphic">
  <p:cSld name="CUSTOM_9">
    <p:bg>
      <p:bgPr>
        <a:solidFill>
          <a:schemeClr val="dk1"/>
        </a:solidFill>
        <a:effectLst/>
      </p:bgPr>
    </p:bg>
    <p:spTree>
      <p:nvGrpSpPr>
        <p:cNvPr id="1" name="Shape 451"/>
        <p:cNvGrpSpPr/>
        <p:nvPr/>
      </p:nvGrpSpPr>
      <p:grpSpPr>
        <a:xfrm>
          <a:off x="0" y="0"/>
          <a:ext cx="0" cy="0"/>
          <a:chOff x="0" y="0"/>
          <a:chExt cx="0" cy="0"/>
        </a:xfrm>
      </p:grpSpPr>
      <p:sp>
        <p:nvSpPr>
          <p:cNvPr id="452" name="Google Shape;452;p62"/>
          <p:cNvSpPr txBox="1">
            <a:spLocks noGrp="1"/>
          </p:cNvSpPr>
          <p:nvPr>
            <p:ph type="body" idx="1"/>
          </p:nvPr>
        </p:nvSpPr>
        <p:spPr>
          <a:xfrm>
            <a:off x="3133000" y="514275"/>
            <a:ext cx="38907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453" name="Google Shape;453;p62"/>
          <p:cNvSpPr txBox="1">
            <a:spLocks noGrp="1"/>
          </p:cNvSpPr>
          <p:nvPr>
            <p:ph type="body" idx="2"/>
          </p:nvPr>
        </p:nvSpPr>
        <p:spPr>
          <a:xfrm>
            <a:off x="657679" y="436194"/>
            <a:ext cx="2278800" cy="1985100"/>
          </a:xfrm>
          <a:prstGeom prst="rect">
            <a:avLst/>
          </a:prstGeom>
        </p:spPr>
        <p:txBody>
          <a:bodyPr spcFirstLastPara="1" wrap="square" lIns="91425" tIns="91425" rIns="91425" bIns="91425" anchor="t" anchorCtr="0">
            <a:noAutofit/>
          </a:bodyPr>
          <a:lstStyle>
            <a:lvl1pPr marL="457200" lvl="0" indent="-406400">
              <a:lnSpc>
                <a:spcPct val="80000"/>
              </a:lnSpc>
              <a:spcBef>
                <a:spcPts val="0"/>
              </a:spcBef>
              <a:spcAft>
                <a:spcPts val="0"/>
              </a:spcAft>
              <a:buClr>
                <a:schemeClr val="accent2"/>
              </a:buClr>
              <a:buSzPts val="2800"/>
              <a:buChar char="●"/>
              <a:defRPr sz="2800">
                <a:solidFill>
                  <a:schemeClr val="accent2"/>
                </a:solidFill>
              </a:defRPr>
            </a:lvl1pPr>
            <a:lvl2pPr marL="914400" lvl="1" indent="-406400">
              <a:lnSpc>
                <a:spcPct val="80000"/>
              </a:lnSpc>
              <a:spcBef>
                <a:spcPts val="0"/>
              </a:spcBef>
              <a:spcAft>
                <a:spcPts val="0"/>
              </a:spcAft>
              <a:buClr>
                <a:schemeClr val="accent2"/>
              </a:buClr>
              <a:buSzPts val="2800"/>
              <a:buChar char="○"/>
              <a:defRPr sz="2800">
                <a:solidFill>
                  <a:schemeClr val="accent2"/>
                </a:solidFill>
              </a:defRPr>
            </a:lvl2pPr>
            <a:lvl3pPr marL="1371600" lvl="2" indent="-406400">
              <a:lnSpc>
                <a:spcPct val="80000"/>
              </a:lnSpc>
              <a:spcBef>
                <a:spcPts val="0"/>
              </a:spcBef>
              <a:spcAft>
                <a:spcPts val="0"/>
              </a:spcAft>
              <a:buClr>
                <a:schemeClr val="accent2"/>
              </a:buClr>
              <a:buSzPts val="2800"/>
              <a:buChar char="■"/>
              <a:defRPr sz="2800">
                <a:solidFill>
                  <a:schemeClr val="accent2"/>
                </a:solidFill>
              </a:defRPr>
            </a:lvl3pPr>
            <a:lvl4pPr marL="1828800" lvl="3" indent="-406400">
              <a:lnSpc>
                <a:spcPct val="80000"/>
              </a:lnSpc>
              <a:spcBef>
                <a:spcPts val="0"/>
              </a:spcBef>
              <a:spcAft>
                <a:spcPts val="0"/>
              </a:spcAft>
              <a:buClr>
                <a:schemeClr val="accent2"/>
              </a:buClr>
              <a:buSzPts val="2800"/>
              <a:buChar char="●"/>
              <a:defRPr sz="2800">
                <a:solidFill>
                  <a:schemeClr val="accent2"/>
                </a:solidFill>
              </a:defRPr>
            </a:lvl4pPr>
            <a:lvl5pPr marL="2286000" lvl="4" indent="-406400">
              <a:lnSpc>
                <a:spcPct val="80000"/>
              </a:lnSpc>
              <a:spcBef>
                <a:spcPts val="0"/>
              </a:spcBef>
              <a:spcAft>
                <a:spcPts val="0"/>
              </a:spcAft>
              <a:buClr>
                <a:schemeClr val="accent2"/>
              </a:buClr>
              <a:buSzPts val="2800"/>
              <a:buChar char="○"/>
              <a:defRPr sz="2800">
                <a:solidFill>
                  <a:schemeClr val="accent2"/>
                </a:solidFill>
              </a:defRPr>
            </a:lvl5pPr>
            <a:lvl6pPr marL="2743200" lvl="5" indent="-406400">
              <a:lnSpc>
                <a:spcPct val="80000"/>
              </a:lnSpc>
              <a:spcBef>
                <a:spcPts val="0"/>
              </a:spcBef>
              <a:spcAft>
                <a:spcPts val="0"/>
              </a:spcAft>
              <a:buClr>
                <a:schemeClr val="accent2"/>
              </a:buClr>
              <a:buSzPts val="2800"/>
              <a:buChar char="■"/>
              <a:defRPr sz="2800">
                <a:solidFill>
                  <a:schemeClr val="accent2"/>
                </a:solidFill>
              </a:defRPr>
            </a:lvl6pPr>
            <a:lvl7pPr marL="3200400" lvl="6" indent="-406400">
              <a:lnSpc>
                <a:spcPct val="80000"/>
              </a:lnSpc>
              <a:spcBef>
                <a:spcPts val="0"/>
              </a:spcBef>
              <a:spcAft>
                <a:spcPts val="0"/>
              </a:spcAft>
              <a:buClr>
                <a:schemeClr val="accent2"/>
              </a:buClr>
              <a:buSzPts val="2800"/>
              <a:buChar char="●"/>
              <a:defRPr sz="2800">
                <a:solidFill>
                  <a:schemeClr val="accent2"/>
                </a:solidFill>
              </a:defRPr>
            </a:lvl7pPr>
            <a:lvl8pPr marL="3657600" lvl="7" indent="-406400">
              <a:lnSpc>
                <a:spcPct val="80000"/>
              </a:lnSpc>
              <a:spcBef>
                <a:spcPts val="0"/>
              </a:spcBef>
              <a:spcAft>
                <a:spcPts val="0"/>
              </a:spcAft>
              <a:buClr>
                <a:schemeClr val="accent2"/>
              </a:buClr>
              <a:buSzPts val="2800"/>
              <a:buChar char="○"/>
              <a:defRPr sz="2800">
                <a:solidFill>
                  <a:schemeClr val="accent2"/>
                </a:solidFill>
              </a:defRPr>
            </a:lvl8pPr>
            <a:lvl9pPr marL="4114800" lvl="8" indent="-406400">
              <a:lnSpc>
                <a:spcPct val="80000"/>
              </a:lnSpc>
              <a:spcBef>
                <a:spcPts val="0"/>
              </a:spcBef>
              <a:spcAft>
                <a:spcPts val="0"/>
              </a:spcAft>
              <a:buClr>
                <a:schemeClr val="accent2"/>
              </a:buClr>
              <a:buSzPts val="2800"/>
              <a:buChar char="■"/>
              <a:defRPr sz="2800">
                <a:solidFill>
                  <a:schemeClr val="accent2"/>
                </a:solidFill>
              </a:defRPr>
            </a:lvl9pPr>
          </a:lstStyle>
          <a:p>
            <a:endParaRPr/>
          </a:p>
        </p:txBody>
      </p:sp>
      <p:sp>
        <p:nvSpPr>
          <p:cNvPr id="454" name="Google Shape;454;p62"/>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494">
          <p15:clr>
            <a:srgbClr val="E46962"/>
          </p15:clr>
        </p15:guide>
        <p15:guide id="2" orient="horz" pos="504">
          <p15:clr>
            <a:srgbClr val="E4696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Revenue / Graphic">
  <p:cSld name="CUSTOM_12">
    <p:bg>
      <p:bgPr>
        <a:solidFill>
          <a:schemeClr val="dk1"/>
        </a:solidFill>
        <a:effectLst/>
      </p:bgPr>
    </p:bg>
    <p:spTree>
      <p:nvGrpSpPr>
        <p:cNvPr id="1" name="Shape 455"/>
        <p:cNvGrpSpPr/>
        <p:nvPr/>
      </p:nvGrpSpPr>
      <p:grpSpPr>
        <a:xfrm>
          <a:off x="0" y="0"/>
          <a:ext cx="0" cy="0"/>
          <a:chOff x="0" y="0"/>
          <a:chExt cx="0" cy="0"/>
        </a:xfrm>
      </p:grpSpPr>
      <p:sp>
        <p:nvSpPr>
          <p:cNvPr id="456" name="Google Shape;456;p63"/>
          <p:cNvSpPr txBox="1">
            <a:spLocks noGrp="1"/>
          </p:cNvSpPr>
          <p:nvPr>
            <p:ph type="body" idx="1"/>
          </p:nvPr>
        </p:nvSpPr>
        <p:spPr>
          <a:xfrm>
            <a:off x="569725" y="3435300"/>
            <a:ext cx="2884200" cy="1185300"/>
          </a:xfrm>
          <a:prstGeom prst="rect">
            <a:avLst/>
          </a:prstGeom>
        </p:spPr>
        <p:txBody>
          <a:bodyPr spcFirstLastPara="1" wrap="square" lIns="0" tIns="0" rIns="0" bIns="0" anchor="b"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457" name="Google Shape;457;p63"/>
          <p:cNvSpPr txBox="1">
            <a:spLocks noGrp="1"/>
          </p:cNvSpPr>
          <p:nvPr>
            <p:ph type="subTitle" idx="2"/>
          </p:nvPr>
        </p:nvSpPr>
        <p:spPr>
          <a:xfrm>
            <a:off x="466802" y="445100"/>
            <a:ext cx="2403600" cy="537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a:endParaRPr/>
          </a:p>
        </p:txBody>
      </p:sp>
      <p:sp>
        <p:nvSpPr>
          <p:cNvPr id="458" name="Google Shape;458;p63"/>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31">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slideLayout" Target="../slideLayouts/slideLayout43.xml"/><Relationship Id="rId39" Type="http://schemas.openxmlformats.org/officeDocument/2006/relationships/slideLayout" Target="../slideLayouts/slideLayout56.xml"/><Relationship Id="rId21" Type="http://schemas.openxmlformats.org/officeDocument/2006/relationships/slideLayout" Target="../slideLayouts/slideLayout38.xml"/><Relationship Id="rId34" Type="http://schemas.openxmlformats.org/officeDocument/2006/relationships/slideLayout" Target="../slideLayouts/slideLayout51.xml"/><Relationship Id="rId42" Type="http://schemas.openxmlformats.org/officeDocument/2006/relationships/slideLayout" Target="../slideLayouts/slideLayout59.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9" Type="http://schemas.openxmlformats.org/officeDocument/2006/relationships/slideLayout" Target="../slideLayouts/slideLayout46.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32" Type="http://schemas.openxmlformats.org/officeDocument/2006/relationships/slideLayout" Target="../slideLayouts/slideLayout49.xml"/><Relationship Id="rId37" Type="http://schemas.openxmlformats.org/officeDocument/2006/relationships/slideLayout" Target="../slideLayouts/slideLayout54.xml"/><Relationship Id="rId40" Type="http://schemas.openxmlformats.org/officeDocument/2006/relationships/slideLayout" Target="../slideLayouts/slideLayout57.xml"/><Relationship Id="rId45" Type="http://schemas.openxmlformats.org/officeDocument/2006/relationships/slideLayout" Target="../slideLayouts/slideLayout62.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28" Type="http://schemas.openxmlformats.org/officeDocument/2006/relationships/slideLayout" Target="../slideLayouts/slideLayout45.xml"/><Relationship Id="rId36" Type="http://schemas.openxmlformats.org/officeDocument/2006/relationships/slideLayout" Target="../slideLayouts/slideLayout53.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31" Type="http://schemas.openxmlformats.org/officeDocument/2006/relationships/slideLayout" Target="../slideLayouts/slideLayout48.xml"/><Relationship Id="rId44" Type="http://schemas.openxmlformats.org/officeDocument/2006/relationships/slideLayout" Target="../slideLayouts/slideLayout61.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 Id="rId27" Type="http://schemas.openxmlformats.org/officeDocument/2006/relationships/slideLayout" Target="../slideLayouts/slideLayout44.xml"/><Relationship Id="rId30" Type="http://schemas.openxmlformats.org/officeDocument/2006/relationships/slideLayout" Target="../slideLayouts/slideLayout47.xml"/><Relationship Id="rId35" Type="http://schemas.openxmlformats.org/officeDocument/2006/relationships/slideLayout" Target="../slideLayouts/slideLayout52.xml"/><Relationship Id="rId43" Type="http://schemas.openxmlformats.org/officeDocument/2006/relationships/slideLayout" Target="../slideLayouts/slideLayout60.xml"/><Relationship Id="rId8" Type="http://schemas.openxmlformats.org/officeDocument/2006/relationships/slideLayout" Target="../slideLayouts/slideLayout25.xml"/><Relationship Id="rId3" Type="http://schemas.openxmlformats.org/officeDocument/2006/relationships/slideLayout" Target="../slideLayouts/slideLayout20.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slideLayout" Target="../slideLayouts/slideLayout42.xml"/><Relationship Id="rId33" Type="http://schemas.openxmlformats.org/officeDocument/2006/relationships/slideLayout" Target="../slideLayouts/slideLayout50.xml"/><Relationship Id="rId38" Type="http://schemas.openxmlformats.org/officeDocument/2006/relationships/slideLayout" Target="../slideLayouts/slideLayout55.xml"/><Relationship Id="rId46" Type="http://schemas.openxmlformats.org/officeDocument/2006/relationships/theme" Target="../theme/theme3.xml"/><Relationship Id="rId20" Type="http://schemas.openxmlformats.org/officeDocument/2006/relationships/slideLayout" Target="../slideLayouts/slideLayout37.xml"/><Relationship Id="rId41"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14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711" r:id="rId2"/>
    <p:sldLayoutId id="2147483712"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42"/>
        <p:cNvGrpSpPr/>
        <p:nvPr/>
      </p:nvGrpSpPr>
      <p:grpSpPr>
        <a:xfrm>
          <a:off x="0" y="0"/>
          <a:ext cx="0" cy="0"/>
          <a:chOff x="0" y="0"/>
          <a:chExt cx="0" cy="0"/>
        </a:xfrm>
      </p:grpSpPr>
      <p:sp>
        <p:nvSpPr>
          <p:cNvPr id="143" name="Google Shape;143;p18"/>
          <p:cNvSpPr txBox="1">
            <a:spLocks noGrp="1"/>
          </p:cNvSpPr>
          <p:nvPr>
            <p:ph type="title"/>
          </p:nvPr>
        </p:nvSpPr>
        <p:spPr>
          <a:xfrm>
            <a:off x="459950" y="300125"/>
            <a:ext cx="8353800" cy="838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a:endParaRPr/>
          </a:p>
        </p:txBody>
      </p:sp>
      <p:sp>
        <p:nvSpPr>
          <p:cNvPr id="144" name="Google Shape;144;p18"/>
          <p:cNvSpPr txBox="1">
            <a:spLocks noGrp="1"/>
          </p:cNvSpPr>
          <p:nvPr>
            <p:ph type="body" idx="1"/>
          </p:nvPr>
        </p:nvSpPr>
        <p:spPr>
          <a:xfrm>
            <a:off x="536575" y="2676025"/>
            <a:ext cx="5275500" cy="2201100"/>
          </a:xfrm>
          <a:prstGeom prst="rect">
            <a:avLst/>
          </a:prstGeom>
          <a:noFill/>
          <a:ln>
            <a:noFill/>
          </a:ln>
        </p:spPr>
        <p:txBody>
          <a:bodyPr spcFirstLastPara="1" wrap="square" lIns="91425" tIns="91425" rIns="91425" bIns="91425" anchor="t" anchorCtr="0">
            <a:noAutofit/>
          </a:bodyPr>
          <a:lstStyle>
            <a:lvl1pPr marL="457200" lvl="0" indent="-32385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marL="914400" lvl="1" indent="-3175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marL="1371600" lvl="2" indent="-31115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marL="1828800" lvl="3" indent="-304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marL="2286000" lvl="4" indent="-29845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marL="2743200" lvl="5" indent="-2921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marL="3200400" lvl="6" indent="-28575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marL="3657600" lvl="7" indent="-2794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marL="4114800" lvl="8" indent="-27305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a:endParaRPr/>
          </a:p>
        </p:txBody>
      </p:sp>
      <p:sp>
        <p:nvSpPr>
          <p:cNvPr id="145" name="Google Shape;145;p18"/>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3"/>
        <p:cNvGrpSpPr/>
        <p:nvPr/>
      </p:nvGrpSpPr>
      <p:grpSpPr>
        <a:xfrm>
          <a:off x="0" y="0"/>
          <a:ext cx="0" cy="0"/>
          <a:chOff x="0" y="0"/>
          <a:chExt cx="0" cy="0"/>
        </a:xfrm>
      </p:grpSpPr>
      <p:sp>
        <p:nvSpPr>
          <p:cNvPr id="465" name="Google Shape;465;p64"/>
          <p:cNvSpPr>
            <a:spLocks noGrp="1"/>
          </p:cNvSpPr>
          <p:nvPr>
            <p:ph type="title" idx="4294967295"/>
          </p:nvPr>
        </p:nvSpPr>
        <p:spPr>
          <a:xfrm>
            <a:off x="609600" y="1161525"/>
            <a:ext cx="6172200" cy="9459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Module 2 - Determine Your Organizational Readiness </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466" name="Google Shape;466;p64">
            <a:extLst>
              <a:ext uri="{C183D7F6-B498-43B3-948B-1728B52AA6E4}">
                <adec:decorative xmlns:adec="http://schemas.microsoft.com/office/drawing/2017/decorative" val="1"/>
              </a:ext>
            </a:extLst>
          </p:cNvPr>
          <p:cNvSpPr/>
          <p:nvPr/>
        </p:nvSpPr>
        <p:spPr>
          <a:xfrm>
            <a:off x="609600" y="2343675"/>
            <a:ext cx="6172200" cy="9459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800"/>
              </a:spcBef>
              <a:spcAft>
                <a:spcPts val="0"/>
              </a:spcAft>
              <a:buClr>
                <a:schemeClr val="dk1"/>
              </a:buClr>
              <a:buSzPts val="1100"/>
              <a:buFont typeface="Arial"/>
              <a:buNone/>
            </a:pPr>
            <a:endParaRPr sz="1350">
              <a:latin typeface="Inter"/>
              <a:ea typeface="Inter"/>
              <a:cs typeface="Inter"/>
              <a:sym typeface="Inter"/>
            </a:endParaRPr>
          </a:p>
        </p:txBody>
      </p:sp>
      <p:sp>
        <p:nvSpPr>
          <p:cNvPr id="467" name="Google Shape;467;p64"/>
          <p:cNvSpPr txBox="1"/>
          <p:nvPr/>
        </p:nvSpPr>
        <p:spPr>
          <a:xfrm>
            <a:off x="609600" y="3831175"/>
            <a:ext cx="3000000" cy="754200"/>
          </a:xfrm>
          <a:prstGeom prst="rect">
            <a:avLst/>
          </a:prstGeom>
          <a:noFill/>
          <a:ln>
            <a:noFill/>
          </a:ln>
        </p:spPr>
        <p:txBody>
          <a:bodyPr spcFirstLastPara="1" wrap="square" lIns="91425" tIns="91425" rIns="91425" bIns="91425" anchor="t" anchorCtr="0">
            <a:spAutoFit/>
          </a:bodyPr>
          <a:lstStyle/>
          <a:p>
            <a:pPr marL="0" lvl="0" indent="0" algn="l" rtl="0">
              <a:spcBef>
                <a:spcPts val="1200"/>
              </a:spcBef>
              <a:spcAft>
                <a:spcPts val="0"/>
              </a:spcAft>
              <a:buNone/>
            </a:pPr>
            <a:r>
              <a:rPr lang="en" sz="1350" b="1">
                <a:solidFill>
                  <a:srgbClr val="000000"/>
                </a:solidFill>
                <a:latin typeface="Inter"/>
                <a:ea typeface="Inter"/>
                <a:cs typeface="Inter"/>
                <a:sym typeface="Inter"/>
              </a:rPr>
              <a:t>Presented by:</a:t>
            </a:r>
            <a:r>
              <a:rPr lang="en" sz="1350">
                <a:solidFill>
                  <a:srgbClr val="000000"/>
                </a:solidFill>
                <a:latin typeface="Inter"/>
                <a:ea typeface="Inter"/>
                <a:cs typeface="Inter"/>
                <a:sym typeface="Inter"/>
              </a:rPr>
              <a:t> [Facilitator Name]</a:t>
            </a:r>
            <a:endParaRPr sz="1350">
              <a:solidFill>
                <a:srgbClr val="000000"/>
              </a:solidFill>
              <a:latin typeface="Inter"/>
              <a:ea typeface="Inter"/>
              <a:cs typeface="Inter"/>
              <a:sym typeface="Inter"/>
            </a:endParaRPr>
          </a:p>
          <a:p>
            <a:pPr marL="0" lvl="0" indent="0" algn="l" rtl="0">
              <a:spcBef>
                <a:spcPts val="1200"/>
              </a:spcBef>
              <a:spcAft>
                <a:spcPts val="1200"/>
              </a:spcAft>
              <a:buNone/>
            </a:pPr>
            <a:r>
              <a:rPr lang="en" sz="1350" b="1">
                <a:solidFill>
                  <a:srgbClr val="000000"/>
                </a:solidFill>
                <a:latin typeface="Inter"/>
                <a:ea typeface="Inter"/>
                <a:cs typeface="Inter"/>
                <a:sym typeface="Inter"/>
              </a:rPr>
              <a:t>Date:</a:t>
            </a:r>
            <a:r>
              <a:rPr lang="en" sz="1350">
                <a:solidFill>
                  <a:srgbClr val="000000"/>
                </a:solidFill>
                <a:latin typeface="Inter"/>
                <a:ea typeface="Inter"/>
                <a:cs typeface="Inter"/>
                <a:sym typeface="Inter"/>
              </a:rPr>
              <a:t> [Session Date]</a:t>
            </a:r>
            <a:endParaRPr sz="1350">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2"/>
        <p:cNvGrpSpPr/>
        <p:nvPr/>
      </p:nvGrpSpPr>
      <p:grpSpPr>
        <a:xfrm>
          <a:off x="0" y="0"/>
          <a:ext cx="0" cy="0"/>
          <a:chOff x="0" y="0"/>
          <a:chExt cx="0" cy="0"/>
        </a:xfrm>
      </p:grpSpPr>
      <p:sp>
        <p:nvSpPr>
          <p:cNvPr id="473" name="Google Shape;473;p65">
            <a:extLst>
              <a:ext uri="{C183D7F6-B498-43B3-948B-1728B52AA6E4}">
                <adec:decorative xmlns:adec="http://schemas.microsoft.com/office/drawing/2017/decorative" val="1"/>
              </a:ext>
            </a:extLst>
          </p:cNvPr>
          <p:cNvSpPr/>
          <p:nvPr/>
        </p:nvSpPr>
        <p:spPr>
          <a:xfrm>
            <a:off x="4610100" y="130016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65">
            <a:extLst>
              <a:ext uri="{C183D7F6-B498-43B3-948B-1728B52AA6E4}">
                <adec:decorative xmlns:adec="http://schemas.microsoft.com/office/drawing/2017/decorative" val="1"/>
              </a:ext>
            </a:extLst>
          </p:cNvPr>
          <p:cNvSpPr/>
          <p:nvPr/>
        </p:nvSpPr>
        <p:spPr>
          <a:xfrm>
            <a:off x="4610100" y="2262188"/>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65">
            <a:extLst>
              <a:ext uri="{C183D7F6-B498-43B3-948B-1728B52AA6E4}">
                <adec:decorative xmlns:adec="http://schemas.microsoft.com/office/drawing/2017/decorative" val="1"/>
              </a:ext>
            </a:extLst>
          </p:cNvPr>
          <p:cNvSpPr/>
          <p:nvPr/>
        </p:nvSpPr>
        <p:spPr>
          <a:xfrm>
            <a:off x="4610100" y="322421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65"/>
          <p:cNvSpPr>
            <a:spLocks noGrp="1"/>
          </p:cNvSpPr>
          <p:nvPr>
            <p:ph type="title" idx="4294967295"/>
          </p:nvPr>
        </p:nvSpPr>
        <p:spPr>
          <a:xfrm>
            <a:off x="609600" y="2276426"/>
            <a:ext cx="3124200" cy="2763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1800"/>
              <a:buFont typeface="Inter"/>
              <a:buNone/>
              <a:tabLst/>
              <a:defRPr/>
            </a:pPr>
            <a:r>
              <a:rPr kumimoji="0" lang="en-US" sz="1800" b="1" i="0" u="none" strike="noStrike" kern="0" cap="none" spc="0" normalizeH="0" baseline="0" noProof="0" dirty="0">
                <a:ln>
                  <a:noFill/>
                </a:ln>
                <a:solidFill>
                  <a:srgbClr val="000000"/>
                </a:solidFill>
                <a:effectLst/>
                <a:uLnTx/>
                <a:uFillTx/>
                <a:latin typeface="Inter"/>
                <a:ea typeface="Inter"/>
                <a:cs typeface="Inter"/>
                <a:sym typeface="Inter"/>
              </a:rPr>
              <a:t>Module 2 Performance Outcome</a:t>
            </a:r>
            <a:endParaRPr kumimoji="0" lang="en-US" sz="18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477" name="Google Shape;477;p65"/>
          <p:cNvSpPr/>
          <p:nvPr/>
        </p:nvSpPr>
        <p:spPr>
          <a:xfrm>
            <a:off x="4282175" y="1605025"/>
            <a:ext cx="4023600" cy="1619100"/>
          </a:xfrm>
          <a:prstGeom prst="rect">
            <a:avLst/>
          </a:prstGeom>
          <a:noFill/>
          <a:ln>
            <a:noFill/>
          </a:ln>
        </p:spPr>
        <p:txBody>
          <a:bodyPr spcFirstLastPara="1" wrap="square" lIns="91425" tIns="45700" rIns="91425" bIns="45700" anchor="ctr" anchorCtr="0">
            <a:noAutofit/>
          </a:bodyPr>
          <a:lstStyle/>
          <a:p>
            <a:pPr marL="0" marR="0" lvl="0" indent="0" algn="l" rtl="0">
              <a:lnSpc>
                <a:spcPct val="134000"/>
              </a:lnSpc>
              <a:spcBef>
                <a:spcPts val="0"/>
              </a:spcBef>
              <a:spcAft>
                <a:spcPts val="0"/>
              </a:spcAft>
              <a:buClr>
                <a:srgbClr val="000000"/>
              </a:buClr>
              <a:buSzPts val="900"/>
              <a:buFont typeface="Inter"/>
              <a:buNone/>
            </a:pPr>
            <a:r>
              <a:rPr lang="en" sz="1350">
                <a:latin typeface="Inter"/>
                <a:ea typeface="Inter"/>
                <a:cs typeface="Inter"/>
                <a:sym typeface="Inter"/>
              </a:rPr>
              <a:t>Applying a discovery process sets the foundation for informed acquisition strategy decisions. By assessing organizational maturity, identifying key stakeholders, analyzing mission and user needs, evaluating risks, and performing market research, you will gather the data necessary to shape a successful digital service procurement.</a:t>
            </a:r>
            <a:endParaRPr sz="1350">
              <a:latin typeface="Inter"/>
              <a:ea typeface="Inter"/>
              <a:cs typeface="Inter"/>
              <a:sym typeface="Inter"/>
            </a:endParaRPr>
          </a:p>
          <a:p>
            <a:pPr marL="0" marR="0" lvl="0" indent="0" algn="l" rtl="0">
              <a:lnSpc>
                <a:spcPct val="134000"/>
              </a:lnSpc>
              <a:spcBef>
                <a:spcPts val="0"/>
              </a:spcBef>
              <a:spcAft>
                <a:spcPts val="0"/>
              </a:spcAft>
              <a:buClr>
                <a:srgbClr val="000000"/>
              </a:buClr>
              <a:buSzPts val="900"/>
              <a:buFont typeface="Inter"/>
              <a:buNone/>
            </a:pPr>
            <a:endParaRPr sz="900">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2"/>
        <p:cNvGrpSpPr/>
        <p:nvPr/>
      </p:nvGrpSpPr>
      <p:grpSpPr>
        <a:xfrm>
          <a:off x="0" y="0"/>
          <a:ext cx="0" cy="0"/>
          <a:chOff x="0" y="0"/>
          <a:chExt cx="0" cy="0"/>
        </a:xfrm>
      </p:grpSpPr>
      <p:sp>
        <p:nvSpPr>
          <p:cNvPr id="483" name="Google Shape;483;p66">
            <a:extLst>
              <a:ext uri="{C183D7F6-B498-43B3-948B-1728B52AA6E4}">
                <adec:decorative xmlns:adec="http://schemas.microsoft.com/office/drawing/2017/decorative" val="1"/>
              </a:ext>
            </a:extLst>
          </p:cNvPr>
          <p:cNvSpPr/>
          <p:nvPr/>
        </p:nvSpPr>
        <p:spPr>
          <a:xfrm>
            <a:off x="4610100" y="130016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66">
            <a:extLst>
              <a:ext uri="{C183D7F6-B498-43B3-948B-1728B52AA6E4}">
                <adec:decorative xmlns:adec="http://schemas.microsoft.com/office/drawing/2017/decorative" val="1"/>
              </a:ext>
            </a:extLst>
          </p:cNvPr>
          <p:cNvSpPr/>
          <p:nvPr/>
        </p:nvSpPr>
        <p:spPr>
          <a:xfrm>
            <a:off x="4610100" y="2262188"/>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66">
            <a:extLst>
              <a:ext uri="{C183D7F6-B498-43B3-948B-1728B52AA6E4}">
                <adec:decorative xmlns:adec="http://schemas.microsoft.com/office/drawing/2017/decorative" val="1"/>
              </a:ext>
            </a:extLst>
          </p:cNvPr>
          <p:cNvSpPr/>
          <p:nvPr/>
        </p:nvSpPr>
        <p:spPr>
          <a:xfrm>
            <a:off x="4610100" y="322421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66"/>
          <p:cNvSpPr>
            <a:spLocks noGrp="1"/>
          </p:cNvSpPr>
          <p:nvPr>
            <p:ph type="title" idx="4294967295"/>
          </p:nvPr>
        </p:nvSpPr>
        <p:spPr>
          <a:xfrm>
            <a:off x="609600" y="2154767"/>
            <a:ext cx="3124200" cy="2763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1800"/>
              <a:buFont typeface="Inter"/>
              <a:buNone/>
              <a:tabLst/>
              <a:defRPr/>
            </a:pPr>
            <a:r>
              <a:rPr kumimoji="0" lang="en-US" sz="1800" b="1" i="0" u="none" strike="noStrike" kern="0" cap="none" spc="0" normalizeH="0" baseline="0" noProof="0" dirty="0">
                <a:ln>
                  <a:noFill/>
                </a:ln>
                <a:solidFill>
                  <a:srgbClr val="000000"/>
                </a:solidFill>
                <a:effectLst/>
                <a:uLnTx/>
                <a:uFillTx/>
                <a:latin typeface="Inter"/>
                <a:ea typeface="Inter"/>
                <a:cs typeface="Inter"/>
                <a:sym typeface="Inter"/>
              </a:rPr>
              <a:t>At the conclusion of this module, you will be able to</a:t>
            </a:r>
          </a:p>
        </p:txBody>
      </p:sp>
      <p:sp>
        <p:nvSpPr>
          <p:cNvPr id="487" name="Google Shape;487;p66"/>
          <p:cNvSpPr/>
          <p:nvPr/>
        </p:nvSpPr>
        <p:spPr>
          <a:xfrm>
            <a:off x="4314700" y="1298850"/>
            <a:ext cx="4282200" cy="2545800"/>
          </a:xfrm>
          <a:prstGeom prst="rect">
            <a:avLst/>
          </a:prstGeom>
          <a:noFill/>
          <a:ln>
            <a:noFill/>
          </a:ln>
        </p:spPr>
        <p:txBody>
          <a:bodyPr spcFirstLastPara="1" wrap="square" lIns="91425" tIns="45700" rIns="91425" bIns="45700" anchor="ctr" anchorCtr="0">
            <a:noAutofit/>
          </a:bodyPr>
          <a:lstStyle/>
          <a:p>
            <a:pPr marL="457200" lvl="0" indent="-314325" algn="l" rtl="0">
              <a:lnSpc>
                <a:spcPct val="115000"/>
              </a:lnSpc>
              <a:spcBef>
                <a:spcPts val="1200"/>
              </a:spcBef>
              <a:spcAft>
                <a:spcPts val="0"/>
              </a:spcAft>
              <a:buClr>
                <a:schemeClr val="dk1"/>
              </a:buClr>
              <a:buSzPts val="1350"/>
              <a:buFont typeface="Arial" panose="020B0604020202020204" pitchFamily="34" charset="0"/>
              <a:buChar char="•"/>
            </a:pPr>
            <a:r>
              <a:rPr lang="en" sz="1350" dirty="0">
                <a:solidFill>
                  <a:schemeClr val="dk1"/>
                </a:solidFill>
                <a:latin typeface="Inter"/>
                <a:ea typeface="Inter"/>
                <a:cs typeface="Inter"/>
                <a:sym typeface="Inter"/>
              </a:rPr>
              <a:t>Evaluate agency readiness and capacity for digital service procurement</a:t>
            </a:r>
            <a:endParaRPr sz="1350" dirty="0">
              <a:solidFill>
                <a:schemeClr val="dk1"/>
              </a:solidFill>
              <a:latin typeface="Inter"/>
              <a:ea typeface="Inter"/>
              <a:cs typeface="Inter"/>
              <a:sym typeface="Inter"/>
            </a:endParaRPr>
          </a:p>
          <a:p>
            <a:pPr marL="457200" lvl="0" indent="-314325" algn="l" rtl="0">
              <a:lnSpc>
                <a:spcPct val="115000"/>
              </a:lnSpc>
              <a:spcBef>
                <a:spcPts val="0"/>
              </a:spcBef>
              <a:spcAft>
                <a:spcPts val="0"/>
              </a:spcAft>
              <a:buClr>
                <a:schemeClr val="dk1"/>
              </a:buClr>
              <a:buSzPts val="1350"/>
              <a:buFont typeface="Arial" panose="020B0604020202020204" pitchFamily="34" charset="0"/>
              <a:buChar char="•"/>
            </a:pPr>
            <a:r>
              <a:rPr lang="en" sz="1350" dirty="0">
                <a:solidFill>
                  <a:schemeClr val="dk1"/>
                </a:solidFill>
                <a:latin typeface="Inter"/>
                <a:ea typeface="Inter"/>
                <a:cs typeface="Inter"/>
                <a:sym typeface="Inter"/>
              </a:rPr>
              <a:t>Identify and engage key stakeholders, distinguishing them from users and customers</a:t>
            </a:r>
            <a:endParaRPr sz="1350" dirty="0">
              <a:solidFill>
                <a:schemeClr val="dk1"/>
              </a:solidFill>
              <a:latin typeface="Inter"/>
              <a:ea typeface="Inter"/>
              <a:cs typeface="Inter"/>
              <a:sym typeface="Inter"/>
            </a:endParaRPr>
          </a:p>
          <a:p>
            <a:pPr marL="457200" lvl="0" indent="-314325" algn="l" rtl="0">
              <a:lnSpc>
                <a:spcPct val="115000"/>
              </a:lnSpc>
              <a:spcBef>
                <a:spcPts val="0"/>
              </a:spcBef>
              <a:spcAft>
                <a:spcPts val="0"/>
              </a:spcAft>
              <a:buClr>
                <a:schemeClr val="dk1"/>
              </a:buClr>
              <a:buSzPts val="1350"/>
              <a:buFont typeface="Arial" panose="020B0604020202020204" pitchFamily="34" charset="0"/>
              <a:buChar char="•"/>
            </a:pPr>
            <a:r>
              <a:rPr lang="en" sz="1350" dirty="0">
                <a:solidFill>
                  <a:schemeClr val="dk1"/>
                </a:solidFill>
                <a:latin typeface="Inter"/>
                <a:ea typeface="Inter"/>
                <a:cs typeface="Inter"/>
                <a:sym typeface="Inter"/>
              </a:rPr>
              <a:t>Define a digital service need and determine success criteria for the project and acquisition</a:t>
            </a:r>
            <a:endParaRPr sz="1350" dirty="0">
              <a:solidFill>
                <a:schemeClr val="dk1"/>
              </a:solidFill>
              <a:latin typeface="Inter"/>
              <a:ea typeface="Inter"/>
              <a:cs typeface="Inter"/>
              <a:sym typeface="Inter"/>
            </a:endParaRPr>
          </a:p>
          <a:p>
            <a:pPr marL="457200" lvl="0" indent="-314325" algn="l" rtl="0">
              <a:lnSpc>
                <a:spcPct val="115000"/>
              </a:lnSpc>
              <a:spcBef>
                <a:spcPts val="0"/>
              </a:spcBef>
              <a:spcAft>
                <a:spcPts val="0"/>
              </a:spcAft>
              <a:buClr>
                <a:schemeClr val="dk1"/>
              </a:buClr>
              <a:buSzPts val="1350"/>
              <a:buFont typeface="Arial" panose="020B0604020202020204" pitchFamily="34" charset="0"/>
              <a:buChar char="•"/>
            </a:pPr>
            <a:r>
              <a:rPr lang="en" sz="1350" dirty="0">
                <a:solidFill>
                  <a:schemeClr val="dk1"/>
                </a:solidFill>
                <a:latin typeface="Inter"/>
                <a:ea typeface="Inter"/>
                <a:cs typeface="Inter"/>
                <a:sym typeface="Inter"/>
              </a:rPr>
              <a:t>Analyze constraints that may impact acquisition outcomes</a:t>
            </a:r>
            <a:endParaRPr sz="1350" dirty="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Font typeface="Arial" panose="020B0604020202020204" pitchFamily="34" charset="0"/>
              <a:buChar char="•"/>
            </a:pPr>
            <a:r>
              <a:rPr lang="en" sz="1350" dirty="0">
                <a:solidFill>
                  <a:schemeClr val="dk1"/>
                </a:solidFill>
                <a:latin typeface="Inter"/>
                <a:ea typeface="Inter"/>
                <a:cs typeface="Inter"/>
                <a:sym typeface="Inter"/>
              </a:rPr>
              <a:t>Apply market research strategies to assess vendor capabilities for digital services</a:t>
            </a:r>
            <a:br>
              <a:rPr lang="en" sz="1100" b="1" dirty="0">
                <a:solidFill>
                  <a:schemeClr val="dk1"/>
                </a:solidFill>
              </a:rPr>
            </a:br>
            <a:endParaRPr sz="1300" dirty="0">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67"/>
          <p:cNvSpPr txBox="1">
            <a:spLocks noGrp="1"/>
          </p:cNvSpPr>
          <p:nvPr>
            <p:ph type="title"/>
          </p:nvPr>
        </p:nvSpPr>
        <p:spPr>
          <a:xfrm>
            <a:off x="697350" y="2538425"/>
            <a:ext cx="7749300" cy="876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Assessing Agency Readiness</a:t>
            </a:r>
            <a:endParaRPr/>
          </a:p>
        </p:txBody>
      </p:sp>
      <p:sp>
        <p:nvSpPr>
          <p:cNvPr id="493" name="Google Shape;493;p67"/>
          <p:cNvSpPr txBox="1">
            <a:spLocks noGrp="1"/>
          </p:cNvSpPr>
          <p:nvPr>
            <p:ph type="title" idx="2"/>
          </p:nvPr>
        </p:nvSpPr>
        <p:spPr>
          <a:xfrm>
            <a:off x="2899200" y="1194450"/>
            <a:ext cx="3345600" cy="182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a:t>Sprint  1</a:t>
            </a:r>
            <a:endParaRPr sz="4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8"/>
        <p:cNvGrpSpPr/>
        <p:nvPr/>
      </p:nvGrpSpPr>
      <p:grpSpPr>
        <a:xfrm>
          <a:off x="0" y="0"/>
          <a:ext cx="0" cy="0"/>
          <a:chOff x="0" y="0"/>
          <a:chExt cx="0" cy="0"/>
        </a:xfrm>
      </p:grpSpPr>
      <p:sp>
        <p:nvSpPr>
          <p:cNvPr id="499" name="Google Shape;499;p68">
            <a:extLst>
              <a:ext uri="{C183D7F6-B498-43B3-948B-1728B52AA6E4}">
                <adec:decorative xmlns:adec="http://schemas.microsoft.com/office/drawing/2017/decorative" val="1"/>
              </a:ext>
            </a:extLst>
          </p:cNvPr>
          <p:cNvSpPr/>
          <p:nvPr/>
        </p:nvSpPr>
        <p:spPr>
          <a:xfrm>
            <a:off x="609600" y="2124075"/>
            <a:ext cx="5715000" cy="90011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68"/>
          <p:cNvSpPr>
            <a:spLocks noGrp="1"/>
          </p:cNvSpPr>
          <p:nvPr>
            <p:ph type="title" idx="4294967295"/>
          </p:nvPr>
        </p:nvSpPr>
        <p:spPr>
          <a:xfrm>
            <a:off x="589500" y="2124075"/>
            <a:ext cx="79650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1200"/>
              </a:spcBef>
              <a:spcAft>
                <a:spcPts val="1200"/>
              </a:spcAft>
              <a:buClr>
                <a:srgbClr val="000000"/>
              </a:buClr>
              <a:buSzTx/>
              <a:buFont typeface="Arial"/>
              <a:buNone/>
              <a:tabLst/>
              <a:defRPr/>
            </a:pPr>
            <a:r>
              <a:rPr kumimoji="0" lang="en-US" sz="3600" b="1" i="0" u="none" strike="noStrike" kern="0" cap="none" spc="0" normalizeH="0" baseline="0" noProof="0" dirty="0">
                <a:ln>
                  <a:noFill/>
                </a:ln>
                <a:solidFill>
                  <a:schemeClr val="dk1"/>
                </a:solidFill>
                <a:effectLst/>
                <a:uLnTx/>
                <a:uFillTx/>
                <a:latin typeface="Inter"/>
                <a:ea typeface="Inter"/>
                <a:cs typeface="Inter"/>
                <a:sym typeface="Inter"/>
              </a:rPr>
              <a:t>Maturity-Based Acquisition Strategy</a:t>
            </a:r>
          </a:p>
        </p:txBody>
      </p:sp>
      <p:sp>
        <p:nvSpPr>
          <p:cNvPr id="501" name="Google Shape;501;p68"/>
          <p:cNvSpPr/>
          <p:nvPr/>
        </p:nvSpPr>
        <p:spPr>
          <a:xfrm>
            <a:off x="609600" y="3072188"/>
            <a:ext cx="6172200" cy="238200"/>
          </a:xfrm>
          <a:prstGeom prst="rect">
            <a:avLst/>
          </a:prstGeom>
          <a:noFill/>
          <a:ln>
            <a:noFill/>
          </a:ln>
        </p:spPr>
        <p:txBody>
          <a:bodyPr spcFirstLastPara="1" wrap="square" lIns="91425" tIns="45700" rIns="91425" bIns="45700" anchor="ctr" anchorCtr="0">
            <a:noAutofit/>
          </a:bodyPr>
          <a:lstStyle/>
          <a:p>
            <a:pPr marL="0" lvl="0" indent="0" algn="l" rtl="0">
              <a:spcBef>
                <a:spcPts val="1200"/>
              </a:spcBef>
              <a:spcAft>
                <a:spcPts val="1200"/>
              </a:spcAft>
              <a:buNone/>
            </a:pPr>
            <a:r>
              <a:rPr lang="en" sz="1750">
                <a:solidFill>
                  <a:schemeClr val="dk1"/>
                </a:solidFill>
                <a:latin typeface="Inter"/>
                <a:ea typeface="Inter"/>
                <a:cs typeface="Inter"/>
                <a:sym typeface="Inter"/>
              </a:rPr>
              <a:t>Aligning Procurement with Organizational Readiness</a:t>
            </a:r>
            <a:endParaRPr sz="1750" i="0" u="none" strike="noStrike" cap="none">
              <a:solidFill>
                <a:schemeClr val="dk1"/>
              </a:solidFill>
              <a:latin typeface="Inter"/>
              <a:ea typeface="Inter"/>
              <a:cs typeface="Inter"/>
              <a:sym typeface="Inter"/>
            </a:endParaRPr>
          </a:p>
        </p:txBody>
      </p:sp>
      <p:sp>
        <p:nvSpPr>
          <p:cNvPr id="502" name="Google Shape;502;p68"/>
          <p:cNvSpPr txBox="1"/>
          <p:nvPr/>
        </p:nvSpPr>
        <p:spPr>
          <a:xfrm>
            <a:off x="609600" y="3831175"/>
            <a:ext cx="3000000" cy="754200"/>
          </a:xfrm>
          <a:prstGeom prst="rect">
            <a:avLst/>
          </a:prstGeom>
          <a:noFill/>
          <a:ln>
            <a:noFill/>
          </a:ln>
        </p:spPr>
        <p:txBody>
          <a:bodyPr spcFirstLastPara="1" wrap="square" lIns="91425" tIns="91425" rIns="91425" bIns="91425" anchor="t" anchorCtr="0">
            <a:spAutoFit/>
          </a:bodyPr>
          <a:lstStyle/>
          <a:p>
            <a:pPr marL="0" lvl="0" indent="0" algn="l" rtl="0">
              <a:spcBef>
                <a:spcPts val="1200"/>
              </a:spcBef>
              <a:spcAft>
                <a:spcPts val="0"/>
              </a:spcAft>
              <a:buNone/>
            </a:pPr>
            <a:r>
              <a:rPr lang="en" sz="1350" b="1">
                <a:solidFill>
                  <a:schemeClr val="dk1"/>
                </a:solidFill>
                <a:latin typeface="Inter"/>
                <a:ea typeface="Inter"/>
                <a:cs typeface="Inter"/>
                <a:sym typeface="Inter"/>
              </a:rPr>
              <a:t>Presented by:</a:t>
            </a:r>
            <a:r>
              <a:rPr lang="en" sz="1350">
                <a:solidFill>
                  <a:schemeClr val="dk1"/>
                </a:solidFill>
                <a:latin typeface="Inter"/>
                <a:ea typeface="Inter"/>
                <a:cs typeface="Inter"/>
                <a:sym typeface="Inter"/>
              </a:rPr>
              <a:t> [Facilitator Name]</a:t>
            </a:r>
            <a:endParaRPr sz="1350">
              <a:solidFill>
                <a:schemeClr val="dk1"/>
              </a:solidFill>
              <a:latin typeface="Inter"/>
              <a:ea typeface="Inter"/>
              <a:cs typeface="Inter"/>
              <a:sym typeface="Inter"/>
            </a:endParaRPr>
          </a:p>
          <a:p>
            <a:pPr marL="0" lvl="0" indent="0" algn="l" rtl="0">
              <a:spcBef>
                <a:spcPts val="1200"/>
              </a:spcBef>
              <a:spcAft>
                <a:spcPts val="1200"/>
              </a:spcAft>
              <a:buNone/>
            </a:pPr>
            <a:r>
              <a:rPr lang="en" sz="1350" b="1">
                <a:solidFill>
                  <a:schemeClr val="dk1"/>
                </a:solidFill>
                <a:latin typeface="Inter"/>
                <a:ea typeface="Inter"/>
                <a:cs typeface="Inter"/>
                <a:sym typeface="Inter"/>
              </a:rPr>
              <a:t>Date:</a:t>
            </a:r>
            <a:r>
              <a:rPr lang="en" sz="1350">
                <a:solidFill>
                  <a:schemeClr val="dk1"/>
                </a:solidFill>
                <a:latin typeface="Inter"/>
                <a:ea typeface="Inter"/>
                <a:cs typeface="Inter"/>
                <a:sym typeface="Inter"/>
              </a:rPr>
              <a:t> [Session Date]</a:t>
            </a:r>
            <a:endParaRPr sz="1350">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7"/>
        <p:cNvGrpSpPr/>
        <p:nvPr/>
      </p:nvGrpSpPr>
      <p:grpSpPr>
        <a:xfrm>
          <a:off x="0" y="0"/>
          <a:ext cx="0" cy="0"/>
          <a:chOff x="0" y="0"/>
          <a:chExt cx="0" cy="0"/>
        </a:xfrm>
      </p:grpSpPr>
      <p:sp>
        <p:nvSpPr>
          <p:cNvPr id="508" name="Google Shape;508;p69">
            <a:extLst>
              <a:ext uri="{C183D7F6-B498-43B3-948B-1728B52AA6E4}">
                <adec:decorative xmlns:adec="http://schemas.microsoft.com/office/drawing/2017/decorative" val="1"/>
              </a:ext>
            </a:extLst>
          </p:cNvPr>
          <p:cNvSpPr/>
          <p:nvPr/>
        </p:nvSpPr>
        <p:spPr>
          <a:xfrm>
            <a:off x="4610100" y="130016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69">
            <a:extLst>
              <a:ext uri="{C183D7F6-B498-43B3-948B-1728B52AA6E4}">
                <adec:decorative xmlns:adec="http://schemas.microsoft.com/office/drawing/2017/decorative" val="1"/>
              </a:ext>
            </a:extLst>
          </p:cNvPr>
          <p:cNvSpPr/>
          <p:nvPr/>
        </p:nvSpPr>
        <p:spPr>
          <a:xfrm>
            <a:off x="4610100" y="2262188"/>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9">
            <a:extLst>
              <a:ext uri="{C183D7F6-B498-43B3-948B-1728B52AA6E4}">
                <adec:decorative xmlns:adec="http://schemas.microsoft.com/office/drawing/2017/decorative" val="1"/>
              </a:ext>
            </a:extLst>
          </p:cNvPr>
          <p:cNvSpPr/>
          <p:nvPr/>
        </p:nvSpPr>
        <p:spPr>
          <a:xfrm>
            <a:off x="4610100" y="322421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69"/>
          <p:cNvSpPr>
            <a:spLocks noGrp="1"/>
          </p:cNvSpPr>
          <p:nvPr>
            <p:ph type="title" idx="4294967295"/>
          </p:nvPr>
        </p:nvSpPr>
        <p:spPr>
          <a:xfrm>
            <a:off x="609600" y="2433638"/>
            <a:ext cx="3124200" cy="276225"/>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1800"/>
              <a:buFont typeface="Inter"/>
              <a:buNone/>
              <a:tabLst/>
              <a:defRPr/>
            </a:pPr>
            <a:r>
              <a:rPr kumimoji="0" lang="en-US" sz="1800" b="1" i="0" u="none" strike="noStrike" kern="0" cap="none" spc="0" normalizeH="0" baseline="0" noProof="0" dirty="0">
                <a:ln>
                  <a:noFill/>
                </a:ln>
                <a:solidFill>
                  <a:srgbClr val="000000"/>
                </a:solidFill>
                <a:effectLst/>
                <a:uLnTx/>
                <a:uFillTx/>
                <a:latin typeface="Inter"/>
                <a:ea typeface="Inter"/>
                <a:cs typeface="Inter"/>
                <a:sym typeface="Inter"/>
              </a:rPr>
              <a:t>Agenda</a:t>
            </a:r>
            <a:endParaRPr kumimoji="0" lang="en-US" sz="18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514" name="Google Shape;514;p69"/>
          <p:cNvSpPr/>
          <p:nvPr/>
        </p:nvSpPr>
        <p:spPr>
          <a:xfrm>
            <a:off x="3446150" y="1300175"/>
            <a:ext cx="48597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32000"/>
              </a:lnSpc>
              <a:spcBef>
                <a:spcPts val="0"/>
              </a:spcBef>
              <a:spcAft>
                <a:spcPts val="0"/>
              </a:spcAft>
              <a:buClr>
                <a:srgbClr val="000000"/>
              </a:buClr>
              <a:buSzPts val="1350"/>
              <a:buFont typeface="Inter"/>
              <a:buNone/>
            </a:pPr>
            <a:r>
              <a:rPr lang="en" sz="1350" b="1" dirty="0">
                <a:latin typeface="Inter"/>
                <a:ea typeface="Inter"/>
                <a:cs typeface="Inter"/>
                <a:sym typeface="Inter"/>
              </a:rPr>
              <a:t>Understand how organizational maturity impacts acquisition strategy risk</a:t>
            </a:r>
            <a:endParaRPr sz="1350" b="0" i="0" u="none" strike="noStrike" cap="none" dirty="0">
              <a:solidFill>
                <a:schemeClr val="dk1"/>
              </a:solidFill>
              <a:latin typeface="Calibri"/>
              <a:ea typeface="Calibri"/>
              <a:cs typeface="Calibri"/>
              <a:sym typeface="Calibri"/>
            </a:endParaRPr>
          </a:p>
        </p:txBody>
      </p:sp>
      <p:sp>
        <p:nvSpPr>
          <p:cNvPr id="513" name="Google Shape;513;p69"/>
          <p:cNvSpPr/>
          <p:nvPr/>
        </p:nvSpPr>
        <p:spPr>
          <a:xfrm>
            <a:off x="3446150" y="2262200"/>
            <a:ext cx="47775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32000"/>
              </a:lnSpc>
              <a:spcBef>
                <a:spcPts val="0"/>
              </a:spcBef>
              <a:spcAft>
                <a:spcPts val="0"/>
              </a:spcAft>
              <a:buClr>
                <a:srgbClr val="000000"/>
              </a:buClr>
              <a:buSzPts val="1350"/>
              <a:buFont typeface="Inter"/>
              <a:buNone/>
            </a:pPr>
            <a:r>
              <a:rPr lang="en" sz="1350" b="1" dirty="0">
                <a:latin typeface="Inter"/>
                <a:ea typeface="Inter"/>
                <a:cs typeface="Inter"/>
                <a:sym typeface="Inter"/>
              </a:rPr>
              <a:t>Recognize key risks unique to digital service procurements</a:t>
            </a:r>
            <a:endParaRPr sz="1350" b="0" i="0" u="none" strike="noStrike" cap="none" dirty="0">
              <a:solidFill>
                <a:schemeClr val="dk1"/>
              </a:solidFill>
              <a:latin typeface="Calibri"/>
              <a:ea typeface="Calibri"/>
              <a:cs typeface="Calibri"/>
              <a:sym typeface="Calibri"/>
            </a:endParaRPr>
          </a:p>
        </p:txBody>
      </p:sp>
      <p:sp>
        <p:nvSpPr>
          <p:cNvPr id="512" name="Google Shape;512;p69"/>
          <p:cNvSpPr/>
          <p:nvPr/>
        </p:nvSpPr>
        <p:spPr>
          <a:xfrm>
            <a:off x="3446150" y="3224225"/>
            <a:ext cx="47775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32000"/>
              </a:lnSpc>
              <a:spcBef>
                <a:spcPts val="0"/>
              </a:spcBef>
              <a:spcAft>
                <a:spcPts val="0"/>
              </a:spcAft>
              <a:buClr>
                <a:srgbClr val="000000"/>
              </a:buClr>
              <a:buSzPts val="1350"/>
              <a:buFont typeface="Inter"/>
              <a:buNone/>
            </a:pPr>
            <a:r>
              <a:rPr lang="en" sz="1350" b="1">
                <a:latin typeface="Inter"/>
                <a:ea typeface="Inter"/>
                <a:cs typeface="Inter"/>
                <a:sym typeface="Inter"/>
              </a:rPr>
              <a:t>Apply maturity-aligned acquisition strategy approaches to reduce procurement failure</a:t>
            </a:r>
            <a:endParaRPr sz="1350" b="0" i="0" u="none" strike="noStrike" cap="none">
              <a:solidFill>
                <a:schemeClr val="dk1"/>
              </a:solidFill>
              <a:latin typeface="Calibri"/>
              <a:ea typeface="Calibri"/>
              <a:cs typeface="Calibri"/>
              <a:sym typeface="Calibri"/>
            </a:endParaRPr>
          </a:p>
        </p:txBody>
      </p:sp>
      <p:sp>
        <p:nvSpPr>
          <p:cNvPr id="515" name="Google Shape;515;p69"/>
          <p:cNvSpPr/>
          <p:nvPr/>
        </p:nvSpPr>
        <p:spPr>
          <a:xfrm>
            <a:off x="3446150" y="4186250"/>
            <a:ext cx="46539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32000"/>
              </a:lnSpc>
              <a:spcBef>
                <a:spcPts val="0"/>
              </a:spcBef>
              <a:spcAft>
                <a:spcPts val="0"/>
              </a:spcAft>
              <a:buClr>
                <a:srgbClr val="000000"/>
              </a:buClr>
              <a:buSzPts val="1350"/>
              <a:buFont typeface="Inter"/>
              <a:buNone/>
            </a:pPr>
            <a:r>
              <a:rPr lang="en" sz="1350" b="1">
                <a:latin typeface="Inter"/>
                <a:ea typeface="Inter"/>
                <a:cs typeface="Inter"/>
                <a:sym typeface="Inter"/>
              </a:rPr>
              <a:t>Foster cross-functional team collaboration in strategy development</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0"/>
        <p:cNvGrpSpPr/>
        <p:nvPr/>
      </p:nvGrpSpPr>
      <p:grpSpPr>
        <a:xfrm>
          <a:off x="0" y="0"/>
          <a:ext cx="0" cy="0"/>
          <a:chOff x="0" y="0"/>
          <a:chExt cx="0" cy="0"/>
        </a:xfrm>
      </p:grpSpPr>
      <p:sp>
        <p:nvSpPr>
          <p:cNvPr id="521" name="Google Shape;521;p70">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70"/>
          <p:cNvSpPr>
            <a:spLocks noGrp="1"/>
          </p:cNvSpPr>
          <p:nvPr>
            <p:ph type="title" idx="4294967295"/>
          </p:nvPr>
        </p:nvSpPr>
        <p:spPr>
          <a:xfrm>
            <a:off x="609600" y="2124075"/>
            <a:ext cx="81183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On a scale of 1–5, how mature is your agency in digital service delivery?</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523" name="Google Shape;523;p70"/>
          <p:cNvSpPr/>
          <p:nvPr/>
        </p:nvSpPr>
        <p:spPr>
          <a:xfrm>
            <a:off x="609600" y="3464438"/>
            <a:ext cx="6172200" cy="238200"/>
          </a:xfrm>
          <a:prstGeom prst="rect">
            <a:avLst/>
          </a:prstGeom>
          <a:noFill/>
          <a:ln>
            <a:noFill/>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0000"/>
              </a:buClr>
              <a:buSzPts val="1350"/>
              <a:buFont typeface="Inter"/>
              <a:buNone/>
            </a:pPr>
            <a:r>
              <a:rPr lang="en" sz="1750" dirty="0">
                <a:latin typeface="Inter"/>
                <a:ea typeface="Inter"/>
                <a:cs typeface="Inter"/>
                <a:sym typeface="Inter"/>
              </a:rPr>
              <a:t>What indicators informed your answer?</a:t>
            </a:r>
            <a:endParaRPr sz="175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8"/>
        <p:cNvGrpSpPr/>
        <p:nvPr/>
      </p:nvGrpSpPr>
      <p:grpSpPr>
        <a:xfrm>
          <a:off x="0" y="0"/>
          <a:ext cx="0" cy="0"/>
          <a:chOff x="0" y="0"/>
          <a:chExt cx="0" cy="0"/>
        </a:xfrm>
      </p:grpSpPr>
      <p:sp>
        <p:nvSpPr>
          <p:cNvPr id="529" name="Google Shape;529;p71"/>
          <p:cNvSpPr>
            <a:spLocks noGrp="1"/>
          </p:cNvSpPr>
          <p:nvPr>
            <p:ph type="title" idx="4294967295"/>
          </p:nvPr>
        </p:nvSpPr>
        <p:spPr>
          <a:xfrm>
            <a:off x="609600" y="2300288"/>
            <a:ext cx="6172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4000" b="1" i="0" u="none" strike="noStrike" kern="0" cap="none" spc="0" normalizeH="0" baseline="0" noProof="0" dirty="0">
                <a:ln>
                  <a:noFill/>
                </a:ln>
                <a:solidFill>
                  <a:schemeClr val="dk1"/>
                </a:solidFill>
                <a:effectLst/>
                <a:uLnTx/>
                <a:uFillTx/>
                <a:latin typeface="Calibri"/>
                <a:ea typeface="Calibri"/>
                <a:cs typeface="Calibri"/>
                <a:sym typeface="Calibri"/>
              </a:rPr>
              <a:t>Why Maturity Matters </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4"/>
        <p:cNvGrpSpPr/>
        <p:nvPr/>
      </p:nvGrpSpPr>
      <p:grpSpPr>
        <a:xfrm>
          <a:off x="0" y="0"/>
          <a:ext cx="0" cy="0"/>
          <a:chOff x="0" y="0"/>
          <a:chExt cx="0" cy="0"/>
        </a:xfrm>
      </p:grpSpPr>
      <p:sp>
        <p:nvSpPr>
          <p:cNvPr id="535" name="Google Shape;535;p72">
            <a:extLst>
              <a:ext uri="{C183D7F6-B498-43B3-948B-1728B52AA6E4}">
                <adec:decorative xmlns:adec="http://schemas.microsoft.com/office/drawing/2017/decorative" val="1"/>
              </a:ext>
            </a:extLst>
          </p:cNvPr>
          <p:cNvSpPr/>
          <p:nvPr/>
        </p:nvSpPr>
        <p:spPr>
          <a:xfrm>
            <a:off x="609600" y="609600"/>
            <a:ext cx="3381300" cy="68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72"/>
          <p:cNvSpPr>
            <a:spLocks noGrp="1"/>
          </p:cNvSpPr>
          <p:nvPr>
            <p:ph type="title" idx="4294967295"/>
          </p:nvPr>
        </p:nvSpPr>
        <p:spPr>
          <a:xfrm>
            <a:off x="609600" y="609600"/>
            <a:ext cx="7012500" cy="3429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225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Why Maturity Matters in Acquisition Strategy</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536" name="Google Shape;536;p72"/>
          <p:cNvSpPr/>
          <p:nvPr/>
        </p:nvSpPr>
        <p:spPr>
          <a:xfrm>
            <a:off x="609600" y="1203575"/>
            <a:ext cx="7636500" cy="1263300"/>
          </a:xfrm>
          <a:prstGeom prst="rect">
            <a:avLst/>
          </a:prstGeom>
          <a:noFill/>
          <a:ln>
            <a:noFill/>
          </a:ln>
        </p:spPr>
        <p:txBody>
          <a:bodyPr spcFirstLastPara="1" wrap="square" lIns="91425" tIns="45700" rIns="91425" bIns="45700" anchor="ctr" anchorCtr="0">
            <a:noAutofit/>
          </a:bodyPr>
          <a:lstStyle/>
          <a:p>
            <a:pPr marL="404813" marR="0" lvl="0" indent="-285750" algn="l" rtl="0">
              <a:lnSpc>
                <a:spcPct val="136000"/>
              </a:lnSpc>
              <a:spcBef>
                <a:spcPts val="0"/>
              </a:spcBef>
              <a:spcAft>
                <a:spcPts val="0"/>
              </a:spcAft>
              <a:buSzPts val="1725"/>
              <a:buFont typeface="Arial" panose="020B0604020202020204" pitchFamily="34" charset="0"/>
              <a:buChar char="•"/>
            </a:pPr>
            <a:r>
              <a:rPr lang="en" sz="1600" dirty="0">
                <a:latin typeface="Inter"/>
                <a:ea typeface="Inter"/>
                <a:cs typeface="Inter"/>
                <a:sym typeface="Inter"/>
              </a:rPr>
              <a:t>Traditional acquisition assumes static requirements</a:t>
            </a:r>
            <a:endParaRPr sz="1600" dirty="0">
              <a:latin typeface="Inter"/>
              <a:ea typeface="Inter"/>
              <a:cs typeface="Inter"/>
              <a:sym typeface="Inter"/>
            </a:endParaRPr>
          </a:p>
          <a:p>
            <a:pPr marL="404813" marR="0" lvl="0" indent="-285750" algn="l" rtl="0">
              <a:lnSpc>
                <a:spcPct val="136000"/>
              </a:lnSpc>
              <a:spcBef>
                <a:spcPts val="0"/>
              </a:spcBef>
              <a:spcAft>
                <a:spcPts val="0"/>
              </a:spcAft>
              <a:buSzPts val="1725"/>
              <a:buFont typeface="Arial" panose="020B0604020202020204" pitchFamily="34" charset="0"/>
              <a:buChar char="•"/>
            </a:pPr>
            <a:r>
              <a:rPr lang="en" sz="1600" dirty="0">
                <a:latin typeface="Inter"/>
                <a:ea typeface="Inter"/>
                <a:cs typeface="Inter"/>
                <a:sym typeface="Inter"/>
              </a:rPr>
              <a:t>Digital services are iterative and evolving</a:t>
            </a:r>
            <a:endParaRPr sz="1600" dirty="0">
              <a:latin typeface="Inter"/>
              <a:ea typeface="Inter"/>
              <a:cs typeface="Inter"/>
              <a:sym typeface="Inter"/>
            </a:endParaRPr>
          </a:p>
          <a:p>
            <a:pPr marL="404813" marR="0" lvl="0" indent="-285750" algn="l" rtl="0">
              <a:lnSpc>
                <a:spcPct val="136000"/>
              </a:lnSpc>
              <a:spcBef>
                <a:spcPts val="0"/>
              </a:spcBef>
              <a:spcAft>
                <a:spcPts val="0"/>
              </a:spcAft>
              <a:buSzPts val="1725"/>
              <a:buFont typeface="Arial" panose="020B0604020202020204" pitchFamily="34" charset="0"/>
              <a:buChar char="•"/>
            </a:pPr>
            <a:r>
              <a:rPr lang="en" sz="1600" dirty="0">
                <a:latin typeface="Inter"/>
                <a:ea typeface="Inter"/>
                <a:cs typeface="Inter"/>
                <a:sym typeface="Inter"/>
              </a:rPr>
              <a:t>Maturity = readiness, not size</a:t>
            </a:r>
            <a:endParaRPr sz="1600" dirty="0">
              <a:latin typeface="Inter"/>
              <a:ea typeface="Inter"/>
              <a:cs typeface="Inter"/>
              <a:sym typeface="Inter"/>
            </a:endParaRPr>
          </a:p>
          <a:p>
            <a:pPr marL="0" marR="0" lvl="0" indent="0" algn="l" rtl="0">
              <a:lnSpc>
                <a:spcPct val="136000"/>
              </a:lnSpc>
              <a:spcBef>
                <a:spcPts val="0"/>
              </a:spcBef>
              <a:spcAft>
                <a:spcPts val="0"/>
              </a:spcAft>
              <a:buClr>
                <a:srgbClr val="000000"/>
              </a:buClr>
              <a:buSzPts val="1125"/>
              <a:buFont typeface="Inter"/>
              <a:buNone/>
            </a:pPr>
            <a:endParaRPr sz="1225" dirty="0">
              <a:latin typeface="Inter"/>
              <a:ea typeface="Inter"/>
              <a:cs typeface="Inter"/>
              <a:sym typeface="Inter"/>
            </a:endParaRPr>
          </a:p>
        </p:txBody>
      </p:sp>
      <p:sp>
        <p:nvSpPr>
          <p:cNvPr id="538" name="Google Shape;538;p72"/>
          <p:cNvSpPr txBox="1"/>
          <p:nvPr/>
        </p:nvSpPr>
        <p:spPr>
          <a:xfrm>
            <a:off x="609600" y="2571750"/>
            <a:ext cx="4878300" cy="615523"/>
          </a:xfrm>
          <a:prstGeom prst="rect">
            <a:avLst/>
          </a:prstGeom>
          <a:noFill/>
          <a:ln>
            <a:noFill/>
          </a:ln>
        </p:spPr>
        <p:txBody>
          <a:bodyPr spcFirstLastPara="1" wrap="square" lIns="91425" tIns="91425" rIns="91425" bIns="91425" anchor="t" anchorCtr="0">
            <a:spAutoFit/>
          </a:bodyPr>
          <a:lstStyle/>
          <a:p>
            <a:pPr marL="0" lvl="0" indent="0" algn="l" rtl="0">
              <a:spcBef>
                <a:spcPts val="1200"/>
              </a:spcBef>
              <a:spcAft>
                <a:spcPts val="0"/>
              </a:spcAft>
              <a:buNone/>
            </a:pPr>
            <a:r>
              <a:rPr lang="en" sz="1800" b="1" dirty="0">
                <a:solidFill>
                  <a:schemeClr val="dk1"/>
                </a:solidFill>
                <a:latin typeface="Inter"/>
                <a:ea typeface="Inter"/>
                <a:cs typeface="Inter"/>
                <a:sym typeface="Inter"/>
              </a:rPr>
              <a:t>Key Factors:</a:t>
            </a:r>
            <a:endParaRPr sz="1800" b="1" dirty="0">
              <a:solidFill>
                <a:schemeClr val="dk1"/>
              </a:solidFill>
              <a:latin typeface="Inter"/>
              <a:ea typeface="Inter"/>
              <a:cs typeface="Inter"/>
              <a:sym typeface="Inter"/>
            </a:endParaRPr>
          </a:p>
        </p:txBody>
      </p:sp>
      <p:sp>
        <p:nvSpPr>
          <p:cNvPr id="539" name="Google Shape;539;p72"/>
          <p:cNvSpPr txBox="1"/>
          <p:nvPr/>
        </p:nvSpPr>
        <p:spPr>
          <a:xfrm>
            <a:off x="609600" y="3106650"/>
            <a:ext cx="6871800" cy="1323409"/>
          </a:xfrm>
          <a:prstGeom prst="rect">
            <a:avLst/>
          </a:prstGeom>
          <a:noFill/>
          <a:ln>
            <a:noFill/>
          </a:ln>
        </p:spPr>
        <p:txBody>
          <a:bodyPr spcFirstLastPara="1" wrap="square" lIns="91425" tIns="91425" rIns="91425" bIns="91425" anchor="t" anchorCtr="0">
            <a:spAutoFit/>
          </a:bodyPr>
          <a:lstStyle/>
          <a:p>
            <a:pPr marL="400050" lvl="0" indent="-285750" algn="l" rtl="0">
              <a:spcBef>
                <a:spcPts val="1200"/>
              </a:spcBef>
              <a:spcAft>
                <a:spcPts val="0"/>
              </a:spcAft>
              <a:buClr>
                <a:schemeClr val="dk1"/>
              </a:buClr>
              <a:buSzPts val="1800"/>
              <a:buFont typeface="Arial" panose="020B0604020202020204" pitchFamily="34" charset="0"/>
              <a:buChar char="•"/>
            </a:pPr>
            <a:r>
              <a:rPr lang="en" sz="1600" dirty="0">
                <a:solidFill>
                  <a:schemeClr val="dk1"/>
                </a:solidFill>
                <a:latin typeface="Inter"/>
                <a:ea typeface="Inter"/>
                <a:cs typeface="Inter"/>
                <a:sym typeface="Inter"/>
              </a:rPr>
              <a:t>Agile familiarity</a:t>
            </a:r>
            <a:endParaRPr sz="1600" dirty="0">
              <a:solidFill>
                <a:schemeClr val="dk1"/>
              </a:solidFill>
              <a:latin typeface="Inter"/>
              <a:ea typeface="Inter"/>
              <a:cs typeface="Inter"/>
              <a:sym typeface="Inter"/>
            </a:endParaRPr>
          </a:p>
          <a:p>
            <a:pPr marL="400050" lvl="0" indent="-285750" algn="l" rtl="0">
              <a:spcBef>
                <a:spcPts val="0"/>
              </a:spcBef>
              <a:spcAft>
                <a:spcPts val="0"/>
              </a:spcAft>
              <a:buClr>
                <a:schemeClr val="dk1"/>
              </a:buClr>
              <a:buSzPts val="1800"/>
              <a:buFont typeface="Arial" panose="020B0604020202020204" pitchFamily="34" charset="0"/>
              <a:buChar char="•"/>
            </a:pPr>
            <a:r>
              <a:rPr lang="en" sz="1600" dirty="0">
                <a:solidFill>
                  <a:schemeClr val="dk1"/>
                </a:solidFill>
                <a:latin typeface="Inter"/>
                <a:ea typeface="Inter"/>
                <a:cs typeface="Inter"/>
                <a:sym typeface="Inter"/>
              </a:rPr>
              <a:t>Modular contract capacity</a:t>
            </a:r>
            <a:endParaRPr sz="1600" dirty="0">
              <a:solidFill>
                <a:schemeClr val="dk1"/>
              </a:solidFill>
              <a:latin typeface="Inter"/>
              <a:ea typeface="Inter"/>
              <a:cs typeface="Inter"/>
              <a:sym typeface="Inter"/>
            </a:endParaRPr>
          </a:p>
          <a:p>
            <a:pPr marL="400050" lvl="0" indent="-285750" algn="l" rtl="0">
              <a:spcBef>
                <a:spcPts val="0"/>
              </a:spcBef>
              <a:spcAft>
                <a:spcPts val="0"/>
              </a:spcAft>
              <a:buClr>
                <a:schemeClr val="dk1"/>
              </a:buClr>
              <a:buSzPts val="1800"/>
              <a:buFont typeface="Arial" panose="020B0604020202020204" pitchFamily="34" charset="0"/>
              <a:buChar char="•"/>
            </a:pPr>
            <a:r>
              <a:rPr lang="en" sz="1600" dirty="0">
                <a:solidFill>
                  <a:schemeClr val="dk1"/>
                </a:solidFill>
                <a:latin typeface="Inter"/>
                <a:ea typeface="Inter"/>
                <a:cs typeface="Inter"/>
                <a:sym typeface="Inter"/>
              </a:rPr>
              <a:t>Governance alignment</a:t>
            </a:r>
            <a:endParaRPr sz="1600" dirty="0">
              <a:solidFill>
                <a:schemeClr val="dk1"/>
              </a:solidFill>
              <a:latin typeface="Inter"/>
              <a:ea typeface="Inter"/>
              <a:cs typeface="Inter"/>
              <a:sym typeface="Inter"/>
            </a:endParaRPr>
          </a:p>
          <a:p>
            <a:pPr marL="400050" lvl="0" indent="-285750" algn="l" rtl="0">
              <a:spcBef>
                <a:spcPts val="0"/>
              </a:spcBef>
              <a:spcAft>
                <a:spcPts val="0"/>
              </a:spcAft>
              <a:buClr>
                <a:schemeClr val="dk1"/>
              </a:buClr>
              <a:buSzPts val="1800"/>
              <a:buFont typeface="Arial" panose="020B0604020202020204" pitchFamily="34" charset="0"/>
              <a:buChar char="•"/>
            </a:pPr>
            <a:r>
              <a:rPr lang="en" sz="1600" dirty="0">
                <a:solidFill>
                  <a:schemeClr val="dk1"/>
                </a:solidFill>
                <a:latin typeface="Inter"/>
                <a:ea typeface="Inter"/>
                <a:cs typeface="Inter"/>
                <a:sym typeface="Inter"/>
              </a:rPr>
              <a:t>Comfort with new models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4"/>
        <p:cNvGrpSpPr/>
        <p:nvPr/>
      </p:nvGrpSpPr>
      <p:grpSpPr>
        <a:xfrm>
          <a:off x="0" y="0"/>
          <a:ext cx="0" cy="0"/>
          <a:chOff x="0" y="0"/>
          <a:chExt cx="0" cy="0"/>
        </a:xfrm>
      </p:grpSpPr>
      <p:sp>
        <p:nvSpPr>
          <p:cNvPr id="545" name="Google Shape;545;p73"/>
          <p:cNvSpPr>
            <a:spLocks noGrp="1"/>
          </p:cNvSpPr>
          <p:nvPr>
            <p:ph type="title" idx="4294967295"/>
          </p:nvPr>
        </p:nvSpPr>
        <p:spPr>
          <a:xfrm>
            <a:off x="609600" y="2300288"/>
            <a:ext cx="6172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4000" b="1" i="0" u="none" strike="noStrike" kern="0" cap="none" spc="0" normalizeH="0" baseline="0" noProof="0" dirty="0">
                <a:ln>
                  <a:noFill/>
                </a:ln>
                <a:solidFill>
                  <a:schemeClr val="dk1"/>
                </a:solidFill>
                <a:effectLst/>
                <a:uLnTx/>
                <a:uFillTx/>
                <a:latin typeface="Calibri"/>
                <a:ea typeface="Calibri"/>
                <a:cs typeface="Calibri"/>
                <a:sym typeface="Calibri"/>
              </a:rPr>
              <a:t>Risk Axioms Overview</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0"/>
        <p:cNvGrpSpPr/>
        <p:nvPr/>
      </p:nvGrpSpPr>
      <p:grpSpPr>
        <a:xfrm>
          <a:off x="0" y="0"/>
          <a:ext cx="0" cy="0"/>
          <a:chOff x="0" y="0"/>
          <a:chExt cx="0" cy="0"/>
        </a:xfrm>
      </p:grpSpPr>
      <p:sp>
        <p:nvSpPr>
          <p:cNvPr id="551" name="Google Shape;551;p74">
            <a:extLst>
              <a:ext uri="{C183D7F6-B498-43B3-948B-1728B52AA6E4}">
                <adec:decorative xmlns:adec="http://schemas.microsoft.com/office/drawing/2017/decorative" val="1"/>
              </a:ext>
            </a:extLst>
          </p:cNvPr>
          <p:cNvSpPr/>
          <p:nvPr/>
        </p:nvSpPr>
        <p:spPr>
          <a:xfrm>
            <a:off x="609600" y="609600"/>
            <a:ext cx="3381375" cy="68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74"/>
          <p:cNvSpPr>
            <a:spLocks noGrp="1"/>
          </p:cNvSpPr>
          <p:nvPr>
            <p:ph type="title" idx="4294967295"/>
          </p:nvPr>
        </p:nvSpPr>
        <p:spPr>
          <a:xfrm>
            <a:off x="609600" y="609600"/>
            <a:ext cx="8077500" cy="3429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225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Four Foundational Risk Axioms for Digital Procurement</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552" name="Google Shape;552;p74"/>
          <p:cNvSpPr/>
          <p:nvPr/>
        </p:nvSpPr>
        <p:spPr>
          <a:xfrm>
            <a:off x="609600" y="1640700"/>
            <a:ext cx="7636500" cy="1862100"/>
          </a:xfrm>
          <a:prstGeom prst="rect">
            <a:avLst/>
          </a:prstGeom>
          <a:noFill/>
          <a:ln>
            <a:noFill/>
          </a:ln>
        </p:spPr>
        <p:txBody>
          <a:bodyPr spcFirstLastPara="1" wrap="square" lIns="91425" tIns="45700" rIns="91425" bIns="45700" anchor="ctr" anchorCtr="0">
            <a:noAutofit/>
          </a:bodyPr>
          <a:lstStyle/>
          <a:p>
            <a:pPr marL="404813" marR="0" lvl="0" indent="-285750" algn="l" rtl="0">
              <a:lnSpc>
                <a:spcPct val="136000"/>
              </a:lnSpc>
              <a:spcBef>
                <a:spcPts val="0"/>
              </a:spcBef>
              <a:spcAft>
                <a:spcPts val="0"/>
              </a:spcAft>
              <a:buSzPts val="1725"/>
              <a:buFont typeface="Arial" panose="020B0604020202020204" pitchFamily="34" charset="0"/>
              <a:buChar char="•"/>
            </a:pPr>
            <a:r>
              <a:rPr lang="en" sz="1600" dirty="0">
                <a:latin typeface="Inter"/>
                <a:ea typeface="Inter"/>
                <a:cs typeface="Inter"/>
                <a:sym typeface="Inter"/>
              </a:rPr>
              <a:t>Procurement Time vs. Flexibility</a:t>
            </a:r>
            <a:endParaRPr sz="1600" dirty="0">
              <a:latin typeface="Inter"/>
              <a:ea typeface="Inter"/>
              <a:cs typeface="Inter"/>
              <a:sym typeface="Inter"/>
            </a:endParaRPr>
          </a:p>
          <a:p>
            <a:pPr marL="404813" marR="0" lvl="0" indent="-285750" algn="l" rtl="0">
              <a:lnSpc>
                <a:spcPct val="136000"/>
              </a:lnSpc>
              <a:spcBef>
                <a:spcPts val="0"/>
              </a:spcBef>
              <a:spcAft>
                <a:spcPts val="0"/>
              </a:spcAft>
              <a:buSzPts val="1725"/>
              <a:buFont typeface="Arial" panose="020B0604020202020204" pitchFamily="34" charset="0"/>
              <a:buChar char="•"/>
            </a:pPr>
            <a:r>
              <a:rPr lang="en" sz="1600" dirty="0">
                <a:latin typeface="Inter"/>
                <a:ea typeface="Inter"/>
                <a:cs typeface="Inter"/>
                <a:sym typeface="Inter"/>
              </a:rPr>
              <a:t>Platform Ownership &amp; Openness</a:t>
            </a:r>
            <a:endParaRPr sz="1600" dirty="0">
              <a:latin typeface="Inter"/>
              <a:ea typeface="Inter"/>
              <a:cs typeface="Inter"/>
              <a:sym typeface="Inter"/>
            </a:endParaRPr>
          </a:p>
          <a:p>
            <a:pPr marL="404813" marR="0" lvl="0" indent="-285750" algn="l" rtl="0">
              <a:lnSpc>
                <a:spcPct val="136000"/>
              </a:lnSpc>
              <a:spcBef>
                <a:spcPts val="0"/>
              </a:spcBef>
              <a:spcAft>
                <a:spcPts val="0"/>
              </a:spcAft>
              <a:buSzPts val="1725"/>
              <a:buFont typeface="Arial" panose="020B0604020202020204" pitchFamily="34" charset="0"/>
              <a:buChar char="•"/>
            </a:pPr>
            <a:r>
              <a:rPr lang="en" sz="1600" dirty="0">
                <a:latin typeface="Inter"/>
                <a:ea typeface="Inter"/>
                <a:cs typeface="Inter"/>
                <a:sym typeface="Inter"/>
              </a:rPr>
              <a:t>Fixed Price &amp; Delivery</a:t>
            </a:r>
            <a:endParaRPr sz="1600" dirty="0">
              <a:latin typeface="Inter"/>
              <a:ea typeface="Inter"/>
              <a:cs typeface="Inter"/>
              <a:sym typeface="Inter"/>
            </a:endParaRPr>
          </a:p>
          <a:p>
            <a:pPr marL="404813" marR="0" lvl="0" indent="-285750" algn="l" rtl="0">
              <a:lnSpc>
                <a:spcPct val="136000"/>
              </a:lnSpc>
              <a:spcBef>
                <a:spcPts val="0"/>
              </a:spcBef>
              <a:spcAft>
                <a:spcPts val="0"/>
              </a:spcAft>
              <a:buSzPts val="1725"/>
              <a:buFont typeface="Arial" panose="020B0604020202020204" pitchFamily="34" charset="0"/>
              <a:buChar char="•"/>
            </a:pPr>
            <a:r>
              <a:rPr lang="en" sz="1600" dirty="0">
                <a:latin typeface="Inter"/>
                <a:ea typeface="Inter"/>
                <a:cs typeface="Inter"/>
                <a:sym typeface="Inter"/>
              </a:rPr>
              <a:t>Agile Adoption is a Long Game</a:t>
            </a:r>
            <a:endParaRPr sz="1600" dirty="0">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8"/>
        <p:cNvGrpSpPr/>
        <p:nvPr/>
      </p:nvGrpSpPr>
      <p:grpSpPr>
        <a:xfrm>
          <a:off x="0" y="0"/>
          <a:ext cx="0" cy="0"/>
          <a:chOff x="0" y="0"/>
          <a:chExt cx="0" cy="0"/>
        </a:xfrm>
      </p:grpSpPr>
      <p:sp>
        <p:nvSpPr>
          <p:cNvPr id="559" name="Google Shape;559;p75">
            <a:extLst>
              <a:ext uri="{C183D7F6-B498-43B3-948B-1728B52AA6E4}">
                <adec:decorative xmlns:adec="http://schemas.microsoft.com/office/drawing/2017/decorative" val="1"/>
              </a:ext>
            </a:extLst>
          </p:cNvPr>
          <p:cNvSpPr/>
          <p:nvPr/>
        </p:nvSpPr>
        <p:spPr>
          <a:xfrm>
            <a:off x="609600" y="2124075"/>
            <a:ext cx="5715000" cy="90011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75"/>
          <p:cNvSpPr>
            <a:spLocks noGrp="1"/>
          </p:cNvSpPr>
          <p:nvPr>
            <p:ph type="title" idx="4294967295"/>
          </p:nvPr>
        </p:nvSpPr>
        <p:spPr>
          <a:xfrm>
            <a:off x="609600" y="2124075"/>
            <a:ext cx="74925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Axiom 1: Time vs. Flexibility</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561" name="Google Shape;561;p75"/>
          <p:cNvSpPr/>
          <p:nvPr/>
        </p:nvSpPr>
        <p:spPr>
          <a:xfrm>
            <a:off x="609600" y="2786118"/>
            <a:ext cx="6172200" cy="1090200"/>
          </a:xfrm>
          <a:prstGeom prst="rect">
            <a:avLst/>
          </a:prstGeom>
          <a:noFill/>
          <a:ln>
            <a:noFill/>
          </a:ln>
        </p:spPr>
        <p:txBody>
          <a:bodyPr spcFirstLastPara="1" wrap="square" lIns="91425" tIns="45700" rIns="91425" bIns="45700" anchor="ctr" anchorCtr="0">
            <a:noAutofit/>
          </a:bodyPr>
          <a:lstStyle/>
          <a:p>
            <a:pPr marL="415925" marR="0" lvl="0" indent="-285750" algn="l" rtl="0">
              <a:lnSpc>
                <a:spcPct val="140000"/>
              </a:lnSpc>
              <a:spcBef>
                <a:spcPts val="0"/>
              </a:spcBef>
              <a:spcAft>
                <a:spcPts val="0"/>
              </a:spcAft>
              <a:buSzPts val="1550"/>
              <a:buFont typeface="Arial" panose="020B0604020202020204" pitchFamily="34" charset="0"/>
              <a:buChar char="•"/>
            </a:pPr>
            <a:r>
              <a:rPr lang="en" sz="1600" dirty="0">
                <a:latin typeface="Inter"/>
                <a:ea typeface="Inter"/>
                <a:cs typeface="Inter"/>
                <a:sym typeface="Inter"/>
              </a:rPr>
              <a:t>Long contracts reduce adaptability</a:t>
            </a:r>
            <a:endParaRPr sz="1600" dirty="0">
              <a:latin typeface="Inter"/>
              <a:ea typeface="Inter"/>
              <a:cs typeface="Inter"/>
              <a:sym typeface="Inter"/>
            </a:endParaRPr>
          </a:p>
          <a:p>
            <a:pPr marL="415925" marR="0" lvl="0" indent="-285750" algn="l" rtl="0">
              <a:lnSpc>
                <a:spcPct val="140000"/>
              </a:lnSpc>
              <a:spcBef>
                <a:spcPts val="0"/>
              </a:spcBef>
              <a:spcAft>
                <a:spcPts val="0"/>
              </a:spcAft>
              <a:buSzPts val="1550"/>
              <a:buFont typeface="Arial" panose="020B0604020202020204" pitchFamily="34" charset="0"/>
              <a:buChar char="•"/>
            </a:pPr>
            <a:r>
              <a:rPr lang="en" sz="1600" dirty="0">
                <a:latin typeface="Inter"/>
                <a:ea typeface="Inter"/>
                <a:cs typeface="Inter"/>
                <a:sym typeface="Inter"/>
              </a:rPr>
              <a:t>Start with short, outcome-based contracts</a:t>
            </a:r>
            <a:endParaRPr sz="1600" dirty="0">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6"/>
        <p:cNvGrpSpPr/>
        <p:nvPr/>
      </p:nvGrpSpPr>
      <p:grpSpPr>
        <a:xfrm>
          <a:off x="0" y="0"/>
          <a:ext cx="0" cy="0"/>
          <a:chOff x="0" y="0"/>
          <a:chExt cx="0" cy="0"/>
        </a:xfrm>
      </p:grpSpPr>
      <p:sp>
        <p:nvSpPr>
          <p:cNvPr id="567" name="Google Shape;567;p76">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76"/>
          <p:cNvSpPr>
            <a:spLocks noGrp="1"/>
          </p:cNvSpPr>
          <p:nvPr>
            <p:ph type="title" idx="4294967295"/>
          </p:nvPr>
        </p:nvSpPr>
        <p:spPr>
          <a:xfrm>
            <a:off x="609600" y="2124075"/>
            <a:ext cx="7819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Axiom 2: Platform Openness</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569" name="Google Shape;569;p76"/>
          <p:cNvSpPr/>
          <p:nvPr/>
        </p:nvSpPr>
        <p:spPr>
          <a:xfrm>
            <a:off x="609600" y="2938509"/>
            <a:ext cx="6172200" cy="900000"/>
          </a:xfrm>
          <a:prstGeom prst="rect">
            <a:avLst/>
          </a:prstGeom>
          <a:noFill/>
          <a:ln>
            <a:noFill/>
          </a:ln>
        </p:spPr>
        <p:txBody>
          <a:bodyPr spcFirstLastPara="1" wrap="square" lIns="91425" tIns="45700" rIns="91425" bIns="45700" anchor="ctr" anchorCtr="0">
            <a:noAutofit/>
          </a:bodyPr>
          <a:lstStyle/>
          <a:p>
            <a:pPr marL="415925" marR="0" lvl="0" indent="-285750" algn="l" rtl="0">
              <a:lnSpc>
                <a:spcPct val="140000"/>
              </a:lnSpc>
              <a:spcBef>
                <a:spcPts val="0"/>
              </a:spcBef>
              <a:spcAft>
                <a:spcPts val="0"/>
              </a:spcAft>
              <a:buSzPts val="1550"/>
              <a:buFont typeface="Arial" panose="020B0604020202020204" pitchFamily="34" charset="0"/>
              <a:buChar char="•"/>
            </a:pPr>
            <a:r>
              <a:rPr lang="en" sz="1600" dirty="0">
                <a:latin typeface="Inter"/>
                <a:ea typeface="Inter"/>
                <a:cs typeface="Inter"/>
                <a:sym typeface="Inter"/>
              </a:rPr>
              <a:t>Prefer open-source/COTS with government ownership</a:t>
            </a:r>
            <a:endParaRPr sz="1600" dirty="0">
              <a:latin typeface="Inter"/>
              <a:ea typeface="Inter"/>
              <a:cs typeface="Inter"/>
              <a:sym typeface="Inter"/>
            </a:endParaRPr>
          </a:p>
          <a:p>
            <a:pPr marL="415925" marR="0" lvl="0" indent="-285750" algn="l" rtl="0">
              <a:lnSpc>
                <a:spcPct val="140000"/>
              </a:lnSpc>
              <a:spcBef>
                <a:spcPts val="0"/>
              </a:spcBef>
              <a:spcAft>
                <a:spcPts val="0"/>
              </a:spcAft>
              <a:buSzPts val="1550"/>
              <a:buFont typeface="Arial" panose="020B0604020202020204" pitchFamily="34" charset="0"/>
              <a:buChar char="•"/>
            </a:pPr>
            <a:r>
              <a:rPr lang="en" sz="1600" dirty="0">
                <a:latin typeface="Inter"/>
                <a:ea typeface="Inter"/>
                <a:cs typeface="Inter"/>
                <a:sym typeface="Inter"/>
              </a:rPr>
              <a:t>Design for interoperability and fast integration</a:t>
            </a:r>
            <a:endParaRPr sz="1600" dirty="0">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4"/>
        <p:cNvGrpSpPr/>
        <p:nvPr/>
      </p:nvGrpSpPr>
      <p:grpSpPr>
        <a:xfrm>
          <a:off x="0" y="0"/>
          <a:ext cx="0" cy="0"/>
          <a:chOff x="0" y="0"/>
          <a:chExt cx="0" cy="0"/>
        </a:xfrm>
      </p:grpSpPr>
      <p:sp>
        <p:nvSpPr>
          <p:cNvPr id="575" name="Google Shape;575;p77">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77"/>
          <p:cNvSpPr>
            <a:spLocks noGrp="1"/>
          </p:cNvSpPr>
          <p:nvPr>
            <p:ph type="title" idx="4294967295"/>
          </p:nvPr>
        </p:nvSpPr>
        <p:spPr>
          <a:xfrm>
            <a:off x="609600" y="2124075"/>
            <a:ext cx="6172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Axiom 3: Fixed Price</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577" name="Google Shape;577;p77"/>
          <p:cNvSpPr/>
          <p:nvPr/>
        </p:nvSpPr>
        <p:spPr>
          <a:xfrm>
            <a:off x="609600" y="2786110"/>
            <a:ext cx="6172200" cy="900000"/>
          </a:xfrm>
          <a:prstGeom prst="rect">
            <a:avLst/>
          </a:prstGeom>
          <a:noFill/>
          <a:ln>
            <a:noFill/>
          </a:ln>
        </p:spPr>
        <p:txBody>
          <a:bodyPr spcFirstLastPara="1" wrap="square" lIns="91425" tIns="45700" rIns="91425" bIns="45700" anchor="ctr" anchorCtr="0">
            <a:noAutofit/>
          </a:bodyPr>
          <a:lstStyle/>
          <a:p>
            <a:pPr marL="415925" marR="0" lvl="0" indent="-285750" algn="l" rtl="0">
              <a:lnSpc>
                <a:spcPct val="140000"/>
              </a:lnSpc>
              <a:spcBef>
                <a:spcPts val="0"/>
              </a:spcBef>
              <a:spcAft>
                <a:spcPts val="0"/>
              </a:spcAft>
              <a:buSzPts val="1550"/>
              <a:buFont typeface="Arial" panose="020B0604020202020204" pitchFamily="34" charset="0"/>
              <a:buChar char="•"/>
            </a:pPr>
            <a:r>
              <a:rPr lang="en" sz="1600" dirty="0">
                <a:latin typeface="Inter"/>
                <a:ea typeface="Inter"/>
                <a:cs typeface="Inter"/>
                <a:sym typeface="Inter"/>
              </a:rPr>
              <a:t>Use fixed-price by iteration/milestone</a:t>
            </a:r>
            <a:endParaRPr sz="1600" dirty="0">
              <a:latin typeface="Inter"/>
              <a:ea typeface="Inter"/>
              <a:cs typeface="Inter"/>
              <a:sym typeface="Inter"/>
            </a:endParaRPr>
          </a:p>
          <a:p>
            <a:pPr marL="415925" marR="0" lvl="0" indent="-285750" algn="l" rtl="0">
              <a:lnSpc>
                <a:spcPct val="140000"/>
              </a:lnSpc>
              <a:spcBef>
                <a:spcPts val="0"/>
              </a:spcBef>
              <a:spcAft>
                <a:spcPts val="0"/>
              </a:spcAft>
              <a:buSzPts val="1550"/>
              <a:buFont typeface="Arial" panose="020B0604020202020204" pitchFamily="34" charset="0"/>
              <a:buChar char="•"/>
            </a:pPr>
            <a:r>
              <a:rPr lang="en" sz="1600" dirty="0">
                <a:latin typeface="Inter"/>
                <a:ea typeface="Inter"/>
                <a:cs typeface="Inter"/>
                <a:sym typeface="Inter"/>
              </a:rPr>
              <a:t>Requires clearly defined outcomes</a:t>
            </a:r>
            <a:endParaRPr sz="1600" dirty="0">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2"/>
        <p:cNvGrpSpPr/>
        <p:nvPr/>
      </p:nvGrpSpPr>
      <p:grpSpPr>
        <a:xfrm>
          <a:off x="0" y="0"/>
          <a:ext cx="0" cy="0"/>
          <a:chOff x="0" y="0"/>
          <a:chExt cx="0" cy="0"/>
        </a:xfrm>
      </p:grpSpPr>
      <p:sp>
        <p:nvSpPr>
          <p:cNvPr id="583" name="Google Shape;583;p78">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78"/>
          <p:cNvSpPr>
            <a:spLocks noGrp="1"/>
          </p:cNvSpPr>
          <p:nvPr>
            <p:ph type="title" idx="4294967295"/>
          </p:nvPr>
        </p:nvSpPr>
        <p:spPr>
          <a:xfrm>
            <a:off x="609600" y="2124075"/>
            <a:ext cx="6172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Axiom 4: Agile Maturity</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585" name="Google Shape;585;p78"/>
          <p:cNvSpPr/>
          <p:nvPr/>
        </p:nvSpPr>
        <p:spPr>
          <a:xfrm>
            <a:off x="609600" y="2938509"/>
            <a:ext cx="6172200" cy="900000"/>
          </a:xfrm>
          <a:prstGeom prst="rect">
            <a:avLst/>
          </a:prstGeom>
          <a:noFill/>
          <a:ln>
            <a:noFill/>
          </a:ln>
        </p:spPr>
        <p:txBody>
          <a:bodyPr spcFirstLastPara="1" wrap="square" lIns="91425" tIns="45700" rIns="91425" bIns="45700" anchor="ctr" anchorCtr="0">
            <a:noAutofit/>
          </a:bodyPr>
          <a:lstStyle/>
          <a:p>
            <a:pPr marL="415925" lvl="0" indent="-285750" algn="l" rtl="0">
              <a:spcBef>
                <a:spcPts val="1200"/>
              </a:spcBef>
              <a:spcAft>
                <a:spcPts val="0"/>
              </a:spcAft>
              <a:buClr>
                <a:schemeClr val="dk1"/>
              </a:buClr>
              <a:buSzPts val="1550"/>
              <a:buFont typeface="Arial" panose="020B0604020202020204" pitchFamily="34" charset="0"/>
              <a:buChar char="•"/>
            </a:pPr>
            <a:r>
              <a:rPr lang="en" sz="1600" dirty="0">
                <a:solidFill>
                  <a:schemeClr val="dk1"/>
                </a:solidFill>
                <a:latin typeface="Inter"/>
                <a:ea typeface="Inter"/>
                <a:cs typeface="Inter"/>
                <a:sym typeface="Inter"/>
              </a:rPr>
              <a:t>Agile success builds over years</a:t>
            </a:r>
            <a:endParaRPr sz="1600" dirty="0">
              <a:solidFill>
                <a:schemeClr val="dk1"/>
              </a:solidFill>
              <a:latin typeface="Inter"/>
              <a:ea typeface="Inter"/>
              <a:cs typeface="Inter"/>
              <a:sym typeface="Inter"/>
            </a:endParaRPr>
          </a:p>
          <a:p>
            <a:pPr marL="415925" lvl="0" indent="-285750" algn="l" rtl="0">
              <a:spcBef>
                <a:spcPts val="0"/>
              </a:spcBef>
              <a:spcAft>
                <a:spcPts val="0"/>
              </a:spcAft>
              <a:buClr>
                <a:schemeClr val="dk1"/>
              </a:buClr>
              <a:buSzPts val="1550"/>
              <a:buFont typeface="Arial" panose="020B0604020202020204" pitchFamily="34" charset="0"/>
              <a:buChar char="•"/>
            </a:pPr>
            <a:r>
              <a:rPr lang="en" sz="1600" dirty="0">
                <a:solidFill>
                  <a:schemeClr val="dk1"/>
                </a:solidFill>
                <a:latin typeface="Inter"/>
                <a:ea typeface="Inter"/>
                <a:cs typeface="Inter"/>
                <a:sym typeface="Inter"/>
              </a:rPr>
              <a:t>Use procurement to enable learning and iteration</a:t>
            </a:r>
            <a:endParaRPr sz="1600" dirty="0">
              <a:solidFill>
                <a:schemeClr val="dk1"/>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0"/>
        <p:cNvGrpSpPr/>
        <p:nvPr/>
      </p:nvGrpSpPr>
      <p:grpSpPr>
        <a:xfrm>
          <a:off x="0" y="0"/>
          <a:ext cx="0" cy="0"/>
          <a:chOff x="0" y="0"/>
          <a:chExt cx="0" cy="0"/>
        </a:xfrm>
      </p:grpSpPr>
      <p:sp>
        <p:nvSpPr>
          <p:cNvPr id="591" name="Google Shape;591;p79"/>
          <p:cNvSpPr>
            <a:spLocks noGrp="1"/>
          </p:cNvSpPr>
          <p:nvPr>
            <p:ph type="title" idx="4294967295"/>
          </p:nvPr>
        </p:nvSpPr>
        <p:spPr>
          <a:xfrm>
            <a:off x="609600" y="371088"/>
            <a:ext cx="6172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Activity: Discussion</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592" name="Google Shape;592;p79"/>
          <p:cNvSpPr txBox="1"/>
          <p:nvPr/>
        </p:nvSpPr>
        <p:spPr>
          <a:xfrm>
            <a:off x="655850" y="1259538"/>
            <a:ext cx="4074300" cy="67707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latin typeface="Inter"/>
                <a:ea typeface="Inter"/>
                <a:cs typeface="Inter"/>
                <a:sym typeface="Inter"/>
              </a:rPr>
              <a:t>Activity: Match each axiom to a challenge your team has experienced.</a:t>
            </a:r>
            <a:endParaRPr sz="1600" dirty="0">
              <a:latin typeface="Inter"/>
              <a:ea typeface="Inter"/>
              <a:cs typeface="Inter"/>
              <a:sym typeface="Inter"/>
            </a:endParaRPr>
          </a:p>
        </p:txBody>
      </p:sp>
      <p:graphicFrame>
        <p:nvGraphicFramePr>
          <p:cNvPr id="594" name="Google Shape;594;p79"/>
          <p:cNvGraphicFramePr/>
          <p:nvPr>
            <p:extLst>
              <p:ext uri="{D42A27DB-BD31-4B8C-83A1-F6EECF244321}">
                <p14:modId xmlns:p14="http://schemas.microsoft.com/office/powerpoint/2010/main" val="3413745146"/>
              </p:ext>
            </p:extLst>
          </p:nvPr>
        </p:nvGraphicFramePr>
        <p:xfrm>
          <a:off x="1357050" y="2244188"/>
          <a:ext cx="2788150" cy="2655710"/>
        </p:xfrm>
        <a:graphic>
          <a:graphicData uri="http://schemas.openxmlformats.org/drawingml/2006/table">
            <a:tbl>
              <a:tblPr firstRow="1">
                <a:noFill/>
                <a:tableStyleId>{B07BE7ED-69B6-4617-9742-D4B8E28752A2}</a:tableStyleId>
              </a:tblPr>
              <a:tblGrid>
                <a:gridCol w="2788150">
                  <a:extLst>
                    <a:ext uri="{9D8B030D-6E8A-4147-A177-3AD203B41FA5}">
                      <a16:colId xmlns:a16="http://schemas.microsoft.com/office/drawing/2014/main" val="20000"/>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700" dirty="0">
                          <a:latin typeface="Inter"/>
                          <a:ea typeface="Inter"/>
                          <a:cs typeface="Inter"/>
                          <a:sym typeface="Inter"/>
                        </a:rPr>
                        <a:t>Risk Axioms</a:t>
                      </a:r>
                    </a:p>
                    <a:p>
                      <a:pPr marL="0" lvl="0" indent="0" algn="l" rtl="0">
                        <a:spcBef>
                          <a:spcPts val="0"/>
                        </a:spcBef>
                        <a:spcAft>
                          <a:spcPts val="0"/>
                        </a:spcAft>
                        <a:buNone/>
                      </a:pPr>
                      <a:endParaRPr lang="en-US" sz="1700" dirty="0">
                        <a:latin typeface="Inter"/>
                        <a:ea typeface="Inter"/>
                        <a:cs typeface="Inter"/>
                        <a:sym typeface="Inter"/>
                      </a:endParaRPr>
                    </a:p>
                  </a:txBody>
                  <a:tcPr marL="91425" marR="91425" marT="91425" marB="91425">
                    <a:solidFill>
                      <a:schemeClr val="lt2"/>
                    </a:solidFill>
                  </a:tcPr>
                </a:tc>
                <a:extLst>
                  <a:ext uri="{0D108BD9-81ED-4DB2-BD59-A6C34878D82A}">
                    <a16:rowId xmlns:a16="http://schemas.microsoft.com/office/drawing/2014/main" val="364197846"/>
                  </a:ext>
                </a:extLst>
              </a:tr>
              <a:tr h="488675">
                <a:tc>
                  <a:txBody>
                    <a:bodyPr/>
                    <a:lstStyle/>
                    <a:p>
                      <a:pPr marL="457200" lvl="0" indent="-336550" algn="l" rtl="0">
                        <a:spcBef>
                          <a:spcPts val="0"/>
                        </a:spcBef>
                        <a:spcAft>
                          <a:spcPts val="0"/>
                        </a:spcAft>
                        <a:buSzPts val="1700"/>
                        <a:buFont typeface="Arial" panose="020B0604020202020204" pitchFamily="34" charset="0"/>
                        <a:buChar char="•"/>
                      </a:pPr>
                      <a:r>
                        <a:rPr lang="en" sz="1700" dirty="0">
                          <a:latin typeface="Inter"/>
                          <a:ea typeface="Inter"/>
                          <a:cs typeface="Inter"/>
                          <a:sym typeface="Inter"/>
                        </a:rPr>
                        <a:t>Time vs Flexibility</a:t>
                      </a:r>
                      <a:endParaRPr sz="1700" dirty="0">
                        <a:latin typeface="Inter"/>
                        <a:ea typeface="Inter"/>
                        <a:cs typeface="Inter"/>
                        <a:sym typeface="Inter"/>
                      </a:endParaRPr>
                    </a:p>
                  </a:txBody>
                  <a:tcPr marL="91425" marR="91425" marT="91425" marB="91425"/>
                </a:tc>
                <a:extLst>
                  <a:ext uri="{0D108BD9-81ED-4DB2-BD59-A6C34878D82A}">
                    <a16:rowId xmlns:a16="http://schemas.microsoft.com/office/drawing/2014/main" val="10001"/>
                  </a:ext>
                </a:extLst>
              </a:tr>
              <a:tr h="488675">
                <a:tc>
                  <a:txBody>
                    <a:bodyPr/>
                    <a:lstStyle/>
                    <a:p>
                      <a:pPr marL="457200" lvl="0" indent="-336550" algn="l" rtl="0">
                        <a:spcBef>
                          <a:spcPts val="0"/>
                        </a:spcBef>
                        <a:spcAft>
                          <a:spcPts val="0"/>
                        </a:spcAft>
                        <a:buSzPts val="1700"/>
                        <a:buFont typeface="Arial" panose="020B0604020202020204" pitchFamily="34" charset="0"/>
                        <a:buChar char="•"/>
                      </a:pPr>
                      <a:r>
                        <a:rPr lang="en" sz="1700" dirty="0">
                          <a:latin typeface="Inter"/>
                          <a:ea typeface="Inter"/>
                          <a:cs typeface="Inter"/>
                          <a:sym typeface="Inter"/>
                        </a:rPr>
                        <a:t>Platform Openness</a:t>
                      </a:r>
                      <a:endParaRPr sz="1700" dirty="0">
                        <a:latin typeface="Inter"/>
                        <a:ea typeface="Inter"/>
                        <a:cs typeface="Inter"/>
                        <a:sym typeface="Inter"/>
                      </a:endParaRPr>
                    </a:p>
                  </a:txBody>
                  <a:tcPr marL="91425" marR="91425" marT="91425" marB="91425"/>
                </a:tc>
                <a:extLst>
                  <a:ext uri="{0D108BD9-81ED-4DB2-BD59-A6C34878D82A}">
                    <a16:rowId xmlns:a16="http://schemas.microsoft.com/office/drawing/2014/main" val="10002"/>
                  </a:ext>
                </a:extLst>
              </a:tr>
              <a:tr h="488675">
                <a:tc>
                  <a:txBody>
                    <a:bodyPr/>
                    <a:lstStyle/>
                    <a:p>
                      <a:pPr marL="457200" lvl="0" indent="-336550" algn="l" rtl="0">
                        <a:spcBef>
                          <a:spcPts val="0"/>
                        </a:spcBef>
                        <a:spcAft>
                          <a:spcPts val="0"/>
                        </a:spcAft>
                        <a:buSzPts val="1700"/>
                        <a:buFont typeface="Arial" panose="020B0604020202020204" pitchFamily="34" charset="0"/>
                        <a:buChar char="•"/>
                      </a:pPr>
                      <a:r>
                        <a:rPr lang="en" sz="1700" dirty="0">
                          <a:latin typeface="Inter"/>
                          <a:ea typeface="Inter"/>
                          <a:cs typeface="Inter"/>
                          <a:sym typeface="Inter"/>
                        </a:rPr>
                        <a:t>Fixed Price</a:t>
                      </a:r>
                      <a:endParaRPr sz="1700" dirty="0">
                        <a:latin typeface="Inter"/>
                        <a:ea typeface="Inter"/>
                        <a:cs typeface="Inter"/>
                        <a:sym typeface="Inter"/>
                      </a:endParaRPr>
                    </a:p>
                  </a:txBody>
                  <a:tcPr marL="91425" marR="91425" marT="91425" marB="91425"/>
                </a:tc>
                <a:extLst>
                  <a:ext uri="{0D108BD9-81ED-4DB2-BD59-A6C34878D82A}">
                    <a16:rowId xmlns:a16="http://schemas.microsoft.com/office/drawing/2014/main" val="10003"/>
                  </a:ext>
                </a:extLst>
              </a:tr>
              <a:tr h="488675">
                <a:tc>
                  <a:txBody>
                    <a:bodyPr/>
                    <a:lstStyle/>
                    <a:p>
                      <a:pPr marL="457200" lvl="0" indent="-336550" algn="l" rtl="0">
                        <a:spcBef>
                          <a:spcPts val="0"/>
                        </a:spcBef>
                        <a:spcAft>
                          <a:spcPts val="0"/>
                        </a:spcAft>
                        <a:buSzPts val="1700"/>
                        <a:buFont typeface="Arial" panose="020B0604020202020204" pitchFamily="34" charset="0"/>
                        <a:buChar char="•"/>
                      </a:pPr>
                      <a:r>
                        <a:rPr lang="en" sz="1700" dirty="0">
                          <a:latin typeface="Inter"/>
                          <a:ea typeface="Inter"/>
                          <a:cs typeface="Inter"/>
                          <a:sym typeface="Inter"/>
                        </a:rPr>
                        <a:t>Agile Maturity</a:t>
                      </a:r>
                      <a:endParaRPr sz="1700" dirty="0">
                        <a:latin typeface="Inter"/>
                        <a:ea typeface="Inter"/>
                        <a:cs typeface="Inter"/>
                        <a:sym typeface="Inter"/>
                      </a:endParaRPr>
                    </a:p>
                  </a:txBody>
                  <a:tcPr marL="91425" marR="91425" marT="91425" marB="91425"/>
                </a:tc>
                <a:extLst>
                  <a:ext uri="{0D108BD9-81ED-4DB2-BD59-A6C34878D82A}">
                    <a16:rowId xmlns:a16="http://schemas.microsoft.com/office/drawing/2014/main" val="10004"/>
                  </a:ext>
                </a:extLst>
              </a:tr>
            </a:tbl>
          </a:graphicData>
        </a:graphic>
      </p:graphicFrame>
      <p:pic>
        <p:nvPicPr>
          <p:cNvPr id="593" name="Google Shape;593;p79" descr="Group discussion icon"/>
          <p:cNvPicPr preferRelativeResize="0"/>
          <p:nvPr/>
        </p:nvPicPr>
        <p:blipFill>
          <a:blip r:embed="rId3">
            <a:alphaModFix/>
          </a:blip>
          <a:stretch>
            <a:fillRect/>
          </a:stretch>
        </p:blipFill>
        <p:spPr>
          <a:xfrm>
            <a:off x="5474425" y="1511652"/>
            <a:ext cx="2579024" cy="25790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9"/>
        <p:cNvGrpSpPr/>
        <p:nvPr/>
      </p:nvGrpSpPr>
      <p:grpSpPr>
        <a:xfrm>
          <a:off x="0" y="0"/>
          <a:ext cx="0" cy="0"/>
          <a:chOff x="0" y="0"/>
          <a:chExt cx="0" cy="0"/>
        </a:xfrm>
      </p:grpSpPr>
      <p:sp>
        <p:nvSpPr>
          <p:cNvPr id="600" name="Google Shape;600;p80"/>
          <p:cNvSpPr>
            <a:spLocks noGrp="1"/>
          </p:cNvSpPr>
          <p:nvPr>
            <p:ph type="title" idx="4294967295"/>
          </p:nvPr>
        </p:nvSpPr>
        <p:spPr>
          <a:xfrm>
            <a:off x="304800" y="2300300"/>
            <a:ext cx="85344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4000" b="1" i="0" u="none" strike="noStrike" kern="0" cap="none" spc="0" normalizeH="0" baseline="0" noProof="0" dirty="0">
                <a:ln>
                  <a:noFill/>
                </a:ln>
                <a:solidFill>
                  <a:schemeClr val="dk1"/>
                </a:solidFill>
                <a:effectLst/>
                <a:uLnTx/>
                <a:uFillTx/>
                <a:latin typeface="Calibri"/>
                <a:ea typeface="Calibri"/>
                <a:cs typeface="Calibri"/>
                <a:sym typeface="Calibri"/>
              </a:rPr>
              <a:t>Whole-System Acquisition Strategy </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5"/>
        <p:cNvGrpSpPr/>
        <p:nvPr/>
      </p:nvGrpSpPr>
      <p:grpSpPr>
        <a:xfrm>
          <a:off x="0" y="0"/>
          <a:ext cx="0" cy="0"/>
          <a:chOff x="0" y="0"/>
          <a:chExt cx="0" cy="0"/>
        </a:xfrm>
      </p:grpSpPr>
      <p:sp>
        <p:nvSpPr>
          <p:cNvPr id="606" name="Google Shape;606;p81">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81"/>
          <p:cNvSpPr>
            <a:spLocks noGrp="1"/>
          </p:cNvSpPr>
          <p:nvPr>
            <p:ph type="title" idx="4294967295"/>
          </p:nvPr>
        </p:nvSpPr>
        <p:spPr>
          <a:xfrm>
            <a:off x="551100" y="611875"/>
            <a:ext cx="80418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Applying a Whole-System, Maturity-Aligned Approach</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608" name="Google Shape;608;p81"/>
          <p:cNvSpPr/>
          <p:nvPr/>
        </p:nvSpPr>
        <p:spPr>
          <a:xfrm>
            <a:off x="609600" y="1296150"/>
            <a:ext cx="6172200" cy="2499600"/>
          </a:xfrm>
          <a:prstGeom prst="rect">
            <a:avLst/>
          </a:prstGeom>
          <a:noFill/>
          <a:ln>
            <a:noFill/>
          </a:ln>
        </p:spPr>
        <p:txBody>
          <a:bodyPr spcFirstLastPara="1" wrap="square" lIns="91425" tIns="45700" rIns="91425" bIns="45700" anchor="ctr" anchorCtr="0">
            <a:noAutofit/>
          </a:bodyPr>
          <a:lstStyle/>
          <a:p>
            <a:pPr marL="419100" lvl="0" indent="-285750" algn="l" rtl="0">
              <a:spcBef>
                <a:spcPts val="1200"/>
              </a:spcBef>
              <a:spcAft>
                <a:spcPts val="0"/>
              </a:spcAft>
              <a:buClr>
                <a:schemeClr val="dk1"/>
              </a:buClr>
              <a:buSzPts val="1500"/>
              <a:buFont typeface="Arial" panose="020B0604020202020204" pitchFamily="34" charset="0"/>
              <a:buChar char="•"/>
            </a:pPr>
            <a:r>
              <a:rPr lang="en" sz="1600" dirty="0">
                <a:solidFill>
                  <a:schemeClr val="dk1"/>
                </a:solidFill>
                <a:latin typeface="Inter"/>
                <a:ea typeface="Inter"/>
                <a:cs typeface="Inter"/>
                <a:sym typeface="Inter"/>
              </a:rPr>
              <a:t>Avoid one-off, siloed procurements</a:t>
            </a:r>
            <a:endParaRPr sz="1600" dirty="0">
              <a:solidFill>
                <a:schemeClr val="dk1"/>
              </a:solidFill>
              <a:latin typeface="Inter"/>
              <a:ea typeface="Inter"/>
              <a:cs typeface="Inter"/>
              <a:sym typeface="Inter"/>
            </a:endParaRPr>
          </a:p>
          <a:p>
            <a:pPr marL="419100" lvl="0" indent="-285750" algn="l" rtl="0">
              <a:spcBef>
                <a:spcPts val="0"/>
              </a:spcBef>
              <a:spcAft>
                <a:spcPts val="0"/>
              </a:spcAft>
              <a:buClr>
                <a:schemeClr val="dk1"/>
              </a:buClr>
              <a:buSzPts val="1500"/>
              <a:buFont typeface="Arial" panose="020B0604020202020204" pitchFamily="34" charset="0"/>
              <a:buChar char="•"/>
            </a:pPr>
            <a:r>
              <a:rPr lang="en" sz="1600" dirty="0">
                <a:solidFill>
                  <a:schemeClr val="dk1"/>
                </a:solidFill>
                <a:latin typeface="Inter"/>
                <a:ea typeface="Inter"/>
                <a:cs typeface="Inter"/>
                <a:sym typeface="Inter"/>
              </a:rPr>
              <a:t>Account for:</a:t>
            </a:r>
            <a:endParaRPr sz="1600" dirty="0">
              <a:solidFill>
                <a:schemeClr val="dk1"/>
              </a:solidFill>
              <a:latin typeface="Inter"/>
              <a:ea typeface="Inter"/>
              <a:cs typeface="Inter"/>
              <a:sym typeface="Inter"/>
            </a:endParaRPr>
          </a:p>
          <a:p>
            <a:pPr marL="876300" lvl="1" indent="-285750" algn="l" rtl="0">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Budget cycles</a:t>
            </a:r>
            <a:endParaRPr sz="1600" dirty="0">
              <a:solidFill>
                <a:schemeClr val="dk1"/>
              </a:solidFill>
              <a:latin typeface="Inter"/>
              <a:ea typeface="Inter"/>
              <a:cs typeface="Inter"/>
              <a:sym typeface="Inter"/>
            </a:endParaRPr>
          </a:p>
          <a:p>
            <a:pPr marL="876300" lvl="1" indent="-285750" algn="l" rtl="0">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Staffing realities</a:t>
            </a:r>
            <a:endParaRPr sz="1600" dirty="0">
              <a:solidFill>
                <a:schemeClr val="dk1"/>
              </a:solidFill>
              <a:latin typeface="Inter"/>
              <a:ea typeface="Inter"/>
              <a:cs typeface="Inter"/>
              <a:sym typeface="Inter"/>
            </a:endParaRPr>
          </a:p>
          <a:p>
            <a:pPr marL="876300" lvl="1" indent="-285750" algn="l" rtl="0">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Change fatigue</a:t>
            </a:r>
            <a:endParaRPr sz="1600" dirty="0">
              <a:solidFill>
                <a:schemeClr val="dk1"/>
              </a:solidFill>
              <a:latin typeface="Inter"/>
              <a:ea typeface="Inter"/>
              <a:cs typeface="Inter"/>
              <a:sym typeface="Inter"/>
            </a:endParaRPr>
          </a:p>
          <a:p>
            <a:pPr marL="876300" lvl="1" indent="-285750" algn="l" rtl="0">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Leadership readiness</a:t>
            </a:r>
            <a:endParaRPr sz="1600" dirty="0">
              <a:solidFill>
                <a:schemeClr val="dk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3"/>
        <p:cNvGrpSpPr/>
        <p:nvPr/>
      </p:nvGrpSpPr>
      <p:grpSpPr>
        <a:xfrm>
          <a:off x="0" y="0"/>
          <a:ext cx="0" cy="0"/>
          <a:chOff x="0" y="0"/>
          <a:chExt cx="0" cy="0"/>
        </a:xfrm>
      </p:grpSpPr>
      <p:sp>
        <p:nvSpPr>
          <p:cNvPr id="615" name="Google Shape;615;p82"/>
          <p:cNvSpPr>
            <a:spLocks noGrp="1"/>
          </p:cNvSpPr>
          <p:nvPr>
            <p:ph type="title" idx="4294967295"/>
          </p:nvPr>
        </p:nvSpPr>
        <p:spPr>
          <a:xfrm>
            <a:off x="551100" y="611875"/>
            <a:ext cx="80418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chemeClr val="dk1"/>
                </a:solidFill>
                <a:effectLst/>
                <a:uLnTx/>
                <a:uFillTx/>
                <a:latin typeface="Inter"/>
                <a:ea typeface="Inter"/>
                <a:cs typeface="Inter"/>
                <a:sym typeface="Inter"/>
              </a:rPr>
              <a:t>Cross-Functional Team Roles</a:t>
            </a:r>
          </a:p>
        </p:txBody>
      </p:sp>
      <p:sp>
        <p:nvSpPr>
          <p:cNvPr id="2" name="Google Shape;608;p81">
            <a:extLst>
              <a:ext uri="{FF2B5EF4-FFF2-40B4-BE49-F238E27FC236}">
                <a16:creationId xmlns:a16="http://schemas.microsoft.com/office/drawing/2014/main" id="{8D29140F-3615-A90C-55F4-1076163F71AD}"/>
              </a:ext>
            </a:extLst>
          </p:cNvPr>
          <p:cNvSpPr/>
          <p:nvPr/>
        </p:nvSpPr>
        <p:spPr>
          <a:xfrm>
            <a:off x="551100" y="1708725"/>
            <a:ext cx="6172200" cy="1726050"/>
          </a:xfrm>
          <a:prstGeom prst="rect">
            <a:avLst/>
          </a:prstGeom>
          <a:noFill/>
          <a:ln>
            <a:noFill/>
          </a:ln>
        </p:spPr>
        <p:txBody>
          <a:bodyPr spcFirstLastPara="1" wrap="square" lIns="91425" tIns="45700" rIns="91425" bIns="45700" anchor="ctr" anchorCtr="0">
            <a:noAutofit/>
          </a:bodyPr>
          <a:lstStyle/>
          <a:p>
            <a:pPr marL="419100" lvl="0" indent="-285750" algn="l" rtl="0">
              <a:spcBef>
                <a:spcPts val="1200"/>
              </a:spcBef>
              <a:spcAft>
                <a:spcPts val="0"/>
              </a:spcAft>
              <a:buClr>
                <a:schemeClr val="dk1"/>
              </a:buClr>
              <a:buSzPts val="1500"/>
              <a:buFont typeface="Arial" panose="020B0604020202020204" pitchFamily="34" charset="0"/>
              <a:buChar char="•"/>
            </a:pPr>
            <a:r>
              <a:rPr lang="en-US" sz="1600" b="1" dirty="0">
                <a:solidFill>
                  <a:schemeClr val="dk1"/>
                </a:solidFill>
                <a:latin typeface="Inter"/>
                <a:ea typeface="Inter"/>
                <a:cs typeface="Inter"/>
                <a:sym typeface="Inter"/>
              </a:rPr>
              <a:t>Procurement Team</a:t>
            </a:r>
            <a:r>
              <a:rPr lang="en-US" sz="1600" dirty="0">
                <a:solidFill>
                  <a:schemeClr val="dk1"/>
                </a:solidFill>
                <a:latin typeface="Inter"/>
                <a:ea typeface="Inter"/>
                <a:cs typeface="Inter"/>
                <a:sym typeface="Inter"/>
              </a:rPr>
              <a:t>: Structural design, vendor dynamics</a:t>
            </a:r>
            <a:endParaRPr sz="1600" dirty="0">
              <a:solidFill>
                <a:schemeClr val="dk1"/>
              </a:solidFill>
              <a:latin typeface="Inter"/>
              <a:ea typeface="Inter"/>
              <a:cs typeface="Inter"/>
              <a:sym typeface="Inter"/>
            </a:endParaRPr>
          </a:p>
          <a:p>
            <a:pPr marL="419100" indent="-285750">
              <a:buClr>
                <a:schemeClr val="dk1"/>
              </a:buClr>
              <a:buSzPts val="1500"/>
              <a:buFont typeface="Arial" panose="020B0604020202020204" pitchFamily="34" charset="0"/>
              <a:buChar char="•"/>
            </a:pPr>
            <a:r>
              <a:rPr lang="en" sz="1600" b="1" dirty="0">
                <a:solidFill>
                  <a:schemeClr val="dk1"/>
                </a:solidFill>
                <a:latin typeface="Inter"/>
                <a:ea typeface="Inter"/>
                <a:cs typeface="Inter"/>
                <a:sym typeface="Inter"/>
              </a:rPr>
              <a:t>Program Team</a:t>
            </a:r>
            <a:r>
              <a:rPr lang="en" sz="1600" dirty="0">
                <a:solidFill>
                  <a:schemeClr val="dk1"/>
                </a:solidFill>
                <a:latin typeface="Inter"/>
                <a:ea typeface="Inter"/>
                <a:cs typeface="Inter"/>
                <a:sym typeface="Inter"/>
              </a:rPr>
              <a:t>: </a:t>
            </a:r>
            <a:r>
              <a:rPr lang="en-US" sz="1600" dirty="0">
                <a:solidFill>
                  <a:schemeClr val="dk1"/>
                </a:solidFill>
                <a:latin typeface="Inter"/>
                <a:ea typeface="Inter"/>
                <a:cs typeface="Inter"/>
                <a:sym typeface="Inter"/>
              </a:rPr>
              <a:t>Mission fit, delivery tempo</a:t>
            </a:r>
          </a:p>
          <a:p>
            <a:pPr marL="419100" lvl="0" indent="-285750">
              <a:buClr>
                <a:schemeClr val="dk1"/>
              </a:buClr>
              <a:buSzPts val="1500"/>
              <a:buFont typeface="Arial" panose="020B0604020202020204" pitchFamily="34" charset="0"/>
              <a:buChar char="•"/>
            </a:pPr>
            <a:r>
              <a:rPr lang="en" sz="1600" b="1" dirty="0">
                <a:solidFill>
                  <a:schemeClr val="dk1"/>
                </a:solidFill>
                <a:latin typeface="Inter"/>
                <a:ea typeface="Inter"/>
                <a:cs typeface="Inter"/>
                <a:sym typeface="Inter"/>
              </a:rPr>
              <a:t>Technical Team: </a:t>
            </a:r>
            <a:r>
              <a:rPr lang="en" sz="1600" dirty="0">
                <a:solidFill>
                  <a:schemeClr val="dk1"/>
                </a:solidFill>
                <a:latin typeface="Inter"/>
                <a:ea typeface="Inter"/>
                <a:cs typeface="Inter"/>
                <a:sym typeface="Inter"/>
              </a:rPr>
              <a:t>Architecture, tool integration</a:t>
            </a:r>
          </a:p>
          <a:p>
            <a:pPr marL="419100" lvl="0" indent="-285750">
              <a:buClr>
                <a:schemeClr val="dk1"/>
              </a:buClr>
              <a:buSzPts val="1500"/>
              <a:buFont typeface="Arial" panose="020B0604020202020204" pitchFamily="34" charset="0"/>
              <a:buChar char="•"/>
            </a:pPr>
            <a:r>
              <a:rPr lang="en" sz="1600" b="1" dirty="0">
                <a:solidFill>
                  <a:schemeClr val="dk1"/>
                </a:solidFill>
                <a:latin typeface="Inter"/>
                <a:ea typeface="Inter"/>
                <a:cs typeface="Inter"/>
                <a:sym typeface="Inter"/>
              </a:rPr>
              <a:t>L</a:t>
            </a:r>
            <a:r>
              <a:rPr lang="en-US" sz="1600" b="1" dirty="0">
                <a:solidFill>
                  <a:schemeClr val="dk1"/>
                </a:solidFill>
                <a:latin typeface="Inter"/>
                <a:ea typeface="Inter"/>
                <a:cs typeface="Inter"/>
                <a:sym typeface="Inter"/>
              </a:rPr>
              <a:t>e</a:t>
            </a:r>
            <a:r>
              <a:rPr lang="en" sz="1600" b="1" dirty="0" err="1">
                <a:solidFill>
                  <a:schemeClr val="dk1"/>
                </a:solidFill>
                <a:latin typeface="Inter"/>
                <a:ea typeface="Inter"/>
                <a:cs typeface="Inter"/>
                <a:sym typeface="Inter"/>
              </a:rPr>
              <a:t>adership</a:t>
            </a:r>
            <a:r>
              <a:rPr lang="en" sz="1600" b="1" dirty="0">
                <a:solidFill>
                  <a:schemeClr val="dk1"/>
                </a:solidFill>
                <a:latin typeface="Inter"/>
                <a:ea typeface="Inter"/>
                <a:cs typeface="Inter"/>
                <a:sym typeface="Inter"/>
              </a:rPr>
              <a:t>/Legal</a:t>
            </a:r>
            <a:r>
              <a:rPr lang="en" sz="1600" dirty="0">
                <a:solidFill>
                  <a:schemeClr val="dk1"/>
                </a:solidFill>
                <a:latin typeface="Inter"/>
                <a:ea typeface="Inter"/>
                <a:cs typeface="Inter"/>
                <a:sym typeface="Inter"/>
              </a:rPr>
              <a:t>: </a:t>
            </a:r>
            <a:r>
              <a:rPr lang="en-US" sz="1600" dirty="0">
                <a:solidFill>
                  <a:schemeClr val="dk1"/>
                </a:solidFill>
                <a:latin typeface="Inter"/>
                <a:ea typeface="Inter"/>
                <a:cs typeface="Inter"/>
                <a:sym typeface="Inter"/>
              </a:rPr>
              <a:t>Culture, governance readiness</a:t>
            </a:r>
            <a:endParaRPr sz="1600" dirty="0">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1"/>
        <p:cNvGrpSpPr/>
        <p:nvPr/>
      </p:nvGrpSpPr>
      <p:grpSpPr>
        <a:xfrm>
          <a:off x="0" y="0"/>
          <a:ext cx="0" cy="0"/>
          <a:chOff x="0" y="0"/>
          <a:chExt cx="0" cy="0"/>
        </a:xfrm>
      </p:grpSpPr>
      <p:sp>
        <p:nvSpPr>
          <p:cNvPr id="622" name="Google Shape;622;p83">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83"/>
          <p:cNvSpPr>
            <a:spLocks noGrp="1"/>
          </p:cNvSpPr>
          <p:nvPr>
            <p:ph type="title" idx="4294967295"/>
          </p:nvPr>
        </p:nvSpPr>
        <p:spPr>
          <a:xfrm>
            <a:off x="551100" y="611875"/>
            <a:ext cx="80418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Modern Strategy Elements</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624" name="Google Shape;624;p83"/>
          <p:cNvSpPr/>
          <p:nvPr/>
        </p:nvSpPr>
        <p:spPr>
          <a:xfrm>
            <a:off x="551100" y="1615200"/>
            <a:ext cx="6172200" cy="1913100"/>
          </a:xfrm>
          <a:prstGeom prst="rect">
            <a:avLst/>
          </a:prstGeom>
          <a:noFill/>
          <a:ln>
            <a:noFill/>
          </a:ln>
        </p:spPr>
        <p:txBody>
          <a:bodyPr spcFirstLastPara="1" wrap="square" lIns="91425" tIns="45700" rIns="91425" bIns="45700" anchor="ctr" anchorCtr="0">
            <a:noAutofit/>
          </a:bodyPr>
          <a:lstStyle/>
          <a:p>
            <a:pPr marL="419100" lvl="0" indent="-285750" algn="l" rtl="0">
              <a:spcBef>
                <a:spcPts val="1200"/>
              </a:spcBef>
              <a:spcAft>
                <a:spcPts val="0"/>
              </a:spcAft>
              <a:buClr>
                <a:schemeClr val="dk1"/>
              </a:buClr>
              <a:buSzPts val="1500"/>
              <a:buFont typeface="Arial" panose="020B0604020202020204" pitchFamily="34" charset="0"/>
              <a:buChar char="•"/>
            </a:pPr>
            <a:r>
              <a:rPr lang="en" sz="1600" dirty="0">
                <a:solidFill>
                  <a:schemeClr val="dk1"/>
                </a:solidFill>
                <a:latin typeface="Inter"/>
                <a:ea typeface="Inter"/>
                <a:cs typeface="Inter"/>
                <a:sym typeface="Inter"/>
              </a:rPr>
              <a:t>View digital services as ongoing investments</a:t>
            </a:r>
            <a:endParaRPr sz="1600" dirty="0">
              <a:solidFill>
                <a:schemeClr val="dk1"/>
              </a:solidFill>
              <a:latin typeface="Inter"/>
              <a:ea typeface="Inter"/>
              <a:cs typeface="Inter"/>
              <a:sym typeface="Inter"/>
            </a:endParaRPr>
          </a:p>
          <a:p>
            <a:pPr marL="419100" lvl="0" indent="-285750" algn="l" rtl="0">
              <a:spcBef>
                <a:spcPts val="0"/>
              </a:spcBef>
              <a:spcAft>
                <a:spcPts val="0"/>
              </a:spcAft>
              <a:buClr>
                <a:schemeClr val="dk1"/>
              </a:buClr>
              <a:buSzPts val="1500"/>
              <a:buFont typeface="Arial" panose="020B0604020202020204" pitchFamily="34" charset="0"/>
              <a:buChar char="•"/>
            </a:pPr>
            <a:r>
              <a:rPr lang="en" sz="1600" dirty="0">
                <a:solidFill>
                  <a:schemeClr val="dk1"/>
                </a:solidFill>
                <a:latin typeface="Inter"/>
                <a:ea typeface="Inter"/>
                <a:cs typeface="Inter"/>
                <a:sym typeface="Inter"/>
              </a:rPr>
              <a:t>Align funding and acquisition with delivery cycles</a:t>
            </a:r>
            <a:endParaRPr sz="1600" dirty="0">
              <a:solidFill>
                <a:schemeClr val="dk1"/>
              </a:solidFill>
              <a:latin typeface="Inter"/>
              <a:ea typeface="Inter"/>
              <a:cs typeface="Inter"/>
              <a:sym typeface="Inter"/>
            </a:endParaRPr>
          </a:p>
          <a:p>
            <a:pPr marL="419100" lvl="0" indent="-285750" algn="l" rtl="0">
              <a:spcBef>
                <a:spcPts val="0"/>
              </a:spcBef>
              <a:spcAft>
                <a:spcPts val="0"/>
              </a:spcAft>
              <a:buClr>
                <a:schemeClr val="dk1"/>
              </a:buClr>
              <a:buSzPts val="1500"/>
              <a:buFont typeface="Arial" panose="020B0604020202020204" pitchFamily="34" charset="0"/>
              <a:buChar char="•"/>
            </a:pPr>
            <a:r>
              <a:rPr lang="en" sz="1600" dirty="0">
                <a:solidFill>
                  <a:schemeClr val="dk1"/>
                </a:solidFill>
                <a:latin typeface="Inter"/>
                <a:ea typeface="Inter"/>
                <a:cs typeface="Inter"/>
                <a:sym typeface="Inter"/>
              </a:rPr>
              <a:t>Build feedback loops into process</a:t>
            </a:r>
            <a:endParaRPr sz="1600" dirty="0">
              <a:solidFill>
                <a:schemeClr val="dk1"/>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9"/>
        <p:cNvGrpSpPr/>
        <p:nvPr/>
      </p:nvGrpSpPr>
      <p:grpSpPr>
        <a:xfrm>
          <a:off x="0" y="0"/>
          <a:ext cx="0" cy="0"/>
          <a:chOff x="0" y="0"/>
          <a:chExt cx="0" cy="0"/>
        </a:xfrm>
      </p:grpSpPr>
      <p:sp>
        <p:nvSpPr>
          <p:cNvPr id="630" name="Google Shape;630;p84"/>
          <p:cNvSpPr>
            <a:spLocks noGrp="1"/>
          </p:cNvSpPr>
          <p:nvPr>
            <p:ph type="title" idx="4294967295"/>
          </p:nvPr>
        </p:nvSpPr>
        <p:spPr>
          <a:xfrm>
            <a:off x="304800" y="2300300"/>
            <a:ext cx="85344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4000" b="1" i="0" u="none" strike="noStrike" kern="0" cap="none" spc="0" normalizeH="0" baseline="0" noProof="0" dirty="0">
                <a:ln>
                  <a:noFill/>
                </a:ln>
                <a:solidFill>
                  <a:schemeClr val="dk1"/>
                </a:solidFill>
                <a:effectLst/>
                <a:uLnTx/>
                <a:uFillTx/>
                <a:latin typeface="Calibri"/>
                <a:ea typeface="Calibri"/>
                <a:cs typeface="Calibri"/>
                <a:sym typeface="Calibri"/>
              </a:rPr>
              <a:t>Maturity Assessment </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5"/>
        <p:cNvGrpSpPr/>
        <p:nvPr/>
      </p:nvGrpSpPr>
      <p:grpSpPr>
        <a:xfrm>
          <a:off x="0" y="0"/>
          <a:ext cx="0" cy="0"/>
          <a:chOff x="0" y="0"/>
          <a:chExt cx="0" cy="0"/>
        </a:xfrm>
      </p:grpSpPr>
      <p:sp>
        <p:nvSpPr>
          <p:cNvPr id="636" name="Google Shape;636;p85">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85"/>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Maturity Assessment Importance</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638" name="Google Shape;638;p85"/>
          <p:cNvSpPr/>
          <p:nvPr/>
        </p:nvSpPr>
        <p:spPr>
          <a:xfrm>
            <a:off x="547875" y="1917750"/>
            <a:ext cx="6172200" cy="1308000"/>
          </a:xfrm>
          <a:prstGeom prst="rect">
            <a:avLst/>
          </a:prstGeom>
          <a:noFill/>
          <a:ln>
            <a:noFill/>
          </a:ln>
        </p:spPr>
        <p:txBody>
          <a:bodyPr spcFirstLastPara="1" wrap="square" lIns="91425" tIns="45700" rIns="91425" bIns="45700" anchor="ctr" anchorCtr="0">
            <a:noAutofit/>
          </a:bodyPr>
          <a:lstStyle/>
          <a:p>
            <a:pPr marL="419100" lvl="0" indent="-285750" algn="l" rtl="0">
              <a:spcBef>
                <a:spcPts val="1200"/>
              </a:spcBef>
              <a:spcAft>
                <a:spcPts val="0"/>
              </a:spcAft>
              <a:buClr>
                <a:schemeClr val="dk1"/>
              </a:buClr>
              <a:buSzPts val="1500"/>
              <a:buFont typeface="Arial" panose="020B0604020202020204" pitchFamily="34" charset="0"/>
              <a:buChar char="•"/>
            </a:pPr>
            <a:r>
              <a:rPr lang="en" sz="1600" dirty="0">
                <a:solidFill>
                  <a:schemeClr val="dk1"/>
                </a:solidFill>
                <a:latin typeface="Inter"/>
                <a:ea typeface="Inter"/>
                <a:cs typeface="Inter"/>
                <a:sym typeface="Inter"/>
              </a:rPr>
              <a:t>Signals transparency and builds vendor trust</a:t>
            </a:r>
            <a:endParaRPr sz="1600" dirty="0">
              <a:solidFill>
                <a:schemeClr val="dk1"/>
              </a:solidFill>
              <a:latin typeface="Inter"/>
              <a:ea typeface="Inter"/>
              <a:cs typeface="Inter"/>
              <a:sym typeface="Inter"/>
            </a:endParaRPr>
          </a:p>
          <a:p>
            <a:pPr marL="419100" lvl="0" indent="-285750" algn="l" rtl="0">
              <a:spcBef>
                <a:spcPts val="0"/>
              </a:spcBef>
              <a:spcAft>
                <a:spcPts val="0"/>
              </a:spcAft>
              <a:buClr>
                <a:schemeClr val="dk1"/>
              </a:buClr>
              <a:buSzPts val="1500"/>
              <a:buFont typeface="Arial" panose="020B0604020202020204" pitchFamily="34" charset="0"/>
              <a:buChar char="•"/>
            </a:pPr>
            <a:r>
              <a:rPr lang="en" sz="1600" dirty="0">
                <a:solidFill>
                  <a:schemeClr val="dk1"/>
                </a:solidFill>
                <a:latin typeface="Inter"/>
                <a:ea typeface="Inter"/>
                <a:cs typeface="Inter"/>
                <a:sym typeface="Inter"/>
              </a:rPr>
              <a:t>Aligns expectations and risk-sharing</a:t>
            </a:r>
            <a:endParaRPr sz="1600" dirty="0">
              <a:solidFill>
                <a:schemeClr val="dk1"/>
              </a:solidFill>
              <a:latin typeface="Inter"/>
              <a:ea typeface="Inter"/>
              <a:cs typeface="Inter"/>
              <a:sym typeface="Inter"/>
            </a:endParaRPr>
          </a:p>
          <a:p>
            <a:pPr marL="419100" lvl="0" indent="-285750" algn="l" rtl="0">
              <a:spcBef>
                <a:spcPts val="0"/>
              </a:spcBef>
              <a:spcAft>
                <a:spcPts val="0"/>
              </a:spcAft>
              <a:buClr>
                <a:schemeClr val="dk1"/>
              </a:buClr>
              <a:buSzPts val="1500"/>
              <a:buFont typeface="Arial" panose="020B0604020202020204" pitchFamily="34" charset="0"/>
              <a:buChar char="•"/>
            </a:pPr>
            <a:r>
              <a:rPr lang="en" sz="1600" dirty="0">
                <a:solidFill>
                  <a:schemeClr val="dk1"/>
                </a:solidFill>
                <a:latin typeface="Inter"/>
                <a:ea typeface="Inter"/>
                <a:cs typeface="Inter"/>
                <a:sym typeface="Inter"/>
              </a:rPr>
              <a:t>Supports right-sized solutions</a:t>
            </a:r>
            <a:endParaRPr sz="1600" dirty="0">
              <a:solidFill>
                <a:schemeClr val="dk1"/>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3"/>
        <p:cNvGrpSpPr/>
        <p:nvPr/>
      </p:nvGrpSpPr>
      <p:grpSpPr>
        <a:xfrm>
          <a:off x="0" y="0"/>
          <a:ext cx="0" cy="0"/>
          <a:chOff x="0" y="0"/>
          <a:chExt cx="0" cy="0"/>
        </a:xfrm>
      </p:grpSpPr>
      <p:sp>
        <p:nvSpPr>
          <p:cNvPr id="644" name="Google Shape;644;p86">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86"/>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Maturity Model Application</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646" name="Google Shape;646;p86"/>
          <p:cNvSpPr/>
          <p:nvPr/>
        </p:nvSpPr>
        <p:spPr>
          <a:xfrm>
            <a:off x="547875" y="1917750"/>
            <a:ext cx="6172200" cy="1308000"/>
          </a:xfrm>
          <a:prstGeom prst="rect">
            <a:avLst/>
          </a:prstGeom>
          <a:noFill/>
          <a:ln>
            <a:noFill/>
          </a:ln>
        </p:spPr>
        <p:txBody>
          <a:bodyPr spcFirstLastPara="1" wrap="square" lIns="91425" tIns="45700" rIns="91425" bIns="45700" anchor="ctr" anchorCtr="0">
            <a:noAutofit/>
          </a:bodyPr>
          <a:lstStyle/>
          <a:p>
            <a:pPr marL="419100" lvl="0" indent="-285750" algn="l" rtl="0">
              <a:spcBef>
                <a:spcPts val="1200"/>
              </a:spcBef>
              <a:spcAft>
                <a:spcPts val="0"/>
              </a:spcAft>
              <a:buClr>
                <a:schemeClr val="dk1"/>
              </a:buClr>
              <a:buSzPts val="1500"/>
              <a:buFont typeface="Arial" panose="020B0604020202020204" pitchFamily="34" charset="0"/>
              <a:buChar char="•"/>
            </a:pPr>
            <a:r>
              <a:rPr lang="en" sz="1600" dirty="0">
                <a:solidFill>
                  <a:schemeClr val="dk1"/>
                </a:solidFill>
                <a:latin typeface="Inter"/>
                <a:ea typeface="Inter"/>
                <a:cs typeface="Inter"/>
                <a:sym typeface="Inter"/>
              </a:rPr>
              <a:t>Use </a:t>
            </a:r>
            <a:r>
              <a:rPr lang="en" sz="1600" dirty="0" err="1">
                <a:solidFill>
                  <a:schemeClr val="dk1"/>
                </a:solidFill>
                <a:latin typeface="Inter"/>
                <a:ea typeface="Inter"/>
                <a:cs typeface="Inter"/>
                <a:sym typeface="Inter"/>
              </a:rPr>
              <a:t>TechFAR</a:t>
            </a:r>
            <a:r>
              <a:rPr lang="en" sz="1600" dirty="0">
                <a:solidFill>
                  <a:schemeClr val="dk1"/>
                </a:solidFill>
                <a:latin typeface="Inter"/>
                <a:ea typeface="Inter"/>
                <a:cs typeface="Inter"/>
                <a:sym typeface="Inter"/>
              </a:rPr>
              <a:t> or DSC Maturity Model</a:t>
            </a:r>
            <a:endParaRPr sz="1600" dirty="0">
              <a:solidFill>
                <a:schemeClr val="dk1"/>
              </a:solidFill>
              <a:latin typeface="Inter"/>
              <a:ea typeface="Inter"/>
              <a:cs typeface="Inter"/>
              <a:sym typeface="Inter"/>
            </a:endParaRPr>
          </a:p>
          <a:p>
            <a:pPr marL="419100" lvl="0" indent="-285750" algn="l" rtl="0">
              <a:spcBef>
                <a:spcPts val="0"/>
              </a:spcBef>
              <a:spcAft>
                <a:spcPts val="0"/>
              </a:spcAft>
              <a:buClr>
                <a:schemeClr val="dk1"/>
              </a:buClr>
              <a:buSzPts val="1500"/>
              <a:buFont typeface="Arial" panose="020B0604020202020204" pitchFamily="34" charset="0"/>
              <a:buChar char="•"/>
            </a:pPr>
            <a:r>
              <a:rPr lang="en" sz="1600" dirty="0">
                <a:solidFill>
                  <a:schemeClr val="dk1"/>
                </a:solidFill>
                <a:latin typeface="Inter"/>
                <a:ea typeface="Inter"/>
                <a:cs typeface="Inter"/>
                <a:sym typeface="Inter"/>
              </a:rPr>
              <a:t>Assess internal and industry maturity</a:t>
            </a:r>
            <a:endParaRPr sz="1600" dirty="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1"/>
        <p:cNvGrpSpPr/>
        <p:nvPr/>
      </p:nvGrpSpPr>
      <p:grpSpPr>
        <a:xfrm>
          <a:off x="0" y="0"/>
          <a:ext cx="0" cy="0"/>
          <a:chOff x="0" y="0"/>
          <a:chExt cx="0" cy="0"/>
        </a:xfrm>
      </p:grpSpPr>
      <p:sp>
        <p:nvSpPr>
          <p:cNvPr id="652" name="Google Shape;652;p87">
            <a:extLst>
              <a:ext uri="{C183D7F6-B498-43B3-948B-1728B52AA6E4}">
                <adec:decorative xmlns:adec="http://schemas.microsoft.com/office/drawing/2017/decorative" val="1"/>
              </a:ext>
            </a:extLst>
          </p:cNvPr>
          <p:cNvSpPr/>
          <p:nvPr/>
        </p:nvSpPr>
        <p:spPr>
          <a:xfrm>
            <a:off x="609600" y="1524200"/>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87"/>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Activity: Self-Assessment</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654" name="Google Shape;654;p87"/>
          <p:cNvSpPr/>
          <p:nvPr/>
        </p:nvSpPr>
        <p:spPr>
          <a:xfrm>
            <a:off x="609600" y="1770200"/>
            <a:ext cx="4993500" cy="1308000"/>
          </a:xfrm>
          <a:prstGeom prst="rect">
            <a:avLst/>
          </a:prstGeom>
          <a:noFill/>
          <a:ln>
            <a:noFill/>
          </a:ln>
        </p:spPr>
        <p:txBody>
          <a:bodyPr spcFirstLastPara="1" wrap="square" lIns="91425" tIns="45700" rIns="91425" bIns="45700" anchor="ctr" anchorCtr="0">
            <a:noAutofit/>
          </a:bodyPr>
          <a:lstStyle/>
          <a:p>
            <a:pPr marL="457200" lvl="0" indent="-342900" algn="l" rtl="0">
              <a:spcBef>
                <a:spcPts val="1200"/>
              </a:spcBef>
              <a:spcAft>
                <a:spcPts val="0"/>
              </a:spcAft>
              <a:buClr>
                <a:schemeClr val="dk1"/>
              </a:buClr>
              <a:buSzPts val="1800"/>
              <a:buFont typeface="Inter"/>
              <a:buAutoNum type="arabicPeriod"/>
            </a:pPr>
            <a:r>
              <a:rPr lang="en" sz="1600" dirty="0">
                <a:solidFill>
                  <a:schemeClr val="dk1"/>
                </a:solidFill>
                <a:latin typeface="Inter"/>
                <a:ea typeface="Inter"/>
                <a:cs typeface="Inter"/>
                <a:sym typeface="Inter"/>
              </a:rPr>
              <a:t>Use maturity model handout.</a:t>
            </a:r>
            <a:endParaRPr sz="1600" dirty="0">
              <a:solidFill>
                <a:schemeClr val="dk1"/>
              </a:solidFill>
              <a:latin typeface="Inter"/>
              <a:ea typeface="Inter"/>
              <a:cs typeface="Inter"/>
              <a:sym typeface="Inter"/>
            </a:endParaRPr>
          </a:p>
          <a:p>
            <a:pPr marL="457200" lvl="0" indent="-342900" algn="l" rtl="0">
              <a:spcBef>
                <a:spcPts val="0"/>
              </a:spcBef>
              <a:spcAft>
                <a:spcPts val="0"/>
              </a:spcAft>
              <a:buClr>
                <a:schemeClr val="dk1"/>
              </a:buClr>
              <a:buSzPts val="1800"/>
              <a:buFont typeface="Inter"/>
              <a:buAutoNum type="arabicPeriod"/>
            </a:pPr>
            <a:r>
              <a:rPr lang="en" sz="1600" dirty="0">
                <a:solidFill>
                  <a:schemeClr val="dk1"/>
                </a:solidFill>
                <a:latin typeface="Inter"/>
                <a:ea typeface="Inter"/>
                <a:cs typeface="Inter"/>
                <a:sym typeface="Inter"/>
              </a:rPr>
              <a:t>Rate your team’s current state.</a:t>
            </a:r>
            <a:endParaRPr sz="1600" dirty="0">
              <a:solidFill>
                <a:schemeClr val="dk1"/>
              </a:solidFill>
              <a:latin typeface="Inter"/>
              <a:ea typeface="Inter"/>
              <a:cs typeface="Inter"/>
              <a:sym typeface="Inter"/>
            </a:endParaRPr>
          </a:p>
          <a:p>
            <a:pPr marL="457200" lvl="0" indent="-342900" algn="l" rtl="0">
              <a:spcBef>
                <a:spcPts val="0"/>
              </a:spcBef>
              <a:spcAft>
                <a:spcPts val="0"/>
              </a:spcAft>
              <a:buClr>
                <a:schemeClr val="dk1"/>
              </a:buClr>
              <a:buSzPts val="1800"/>
              <a:buFont typeface="Inter"/>
              <a:buAutoNum type="arabicPeriod"/>
            </a:pPr>
            <a:r>
              <a:rPr lang="en" sz="1600" dirty="0">
                <a:solidFill>
                  <a:schemeClr val="dk1"/>
                </a:solidFill>
                <a:latin typeface="Inter"/>
                <a:ea typeface="Inter"/>
                <a:cs typeface="Inter"/>
                <a:sym typeface="Inter"/>
              </a:rPr>
              <a:t>Discuss what approaches best fit your level.</a:t>
            </a:r>
            <a:endParaRPr sz="1600" dirty="0">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9"/>
        <p:cNvGrpSpPr/>
        <p:nvPr/>
      </p:nvGrpSpPr>
      <p:grpSpPr>
        <a:xfrm>
          <a:off x="0" y="0"/>
          <a:ext cx="0" cy="0"/>
          <a:chOff x="0" y="0"/>
          <a:chExt cx="0" cy="0"/>
        </a:xfrm>
      </p:grpSpPr>
      <p:sp>
        <p:nvSpPr>
          <p:cNvPr id="660" name="Google Shape;660;p88">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88"/>
          <p:cNvSpPr>
            <a:spLocks noGrp="1"/>
          </p:cNvSpPr>
          <p:nvPr>
            <p:ph type="title" idx="4294967295"/>
          </p:nvPr>
        </p:nvSpPr>
        <p:spPr>
          <a:xfrm>
            <a:off x="685800" y="671400"/>
            <a:ext cx="74967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Optional Case Study: ADEPT (Maryland)</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662" name="Google Shape;662;p88"/>
          <p:cNvSpPr/>
          <p:nvPr/>
        </p:nvSpPr>
        <p:spPr>
          <a:xfrm>
            <a:off x="609600" y="1851450"/>
            <a:ext cx="6172200" cy="1440600"/>
          </a:xfrm>
          <a:prstGeom prst="rect">
            <a:avLst/>
          </a:prstGeom>
          <a:noFill/>
          <a:ln>
            <a:noFill/>
          </a:ln>
        </p:spPr>
        <p:txBody>
          <a:bodyPr spcFirstLastPara="1" wrap="square" lIns="91425" tIns="45700" rIns="91425" bIns="45700" anchor="ctr" anchorCtr="0">
            <a:noAutofit/>
          </a:bodyPr>
          <a:lstStyle/>
          <a:p>
            <a:pPr marL="428625" lvl="0" indent="-285750" algn="l" rtl="0">
              <a:spcBef>
                <a:spcPts val="1200"/>
              </a:spcBef>
              <a:spcAft>
                <a:spcPts val="0"/>
              </a:spcAft>
              <a:buClr>
                <a:schemeClr val="dk1"/>
              </a:buClr>
              <a:buSzPts val="1350"/>
              <a:buFont typeface="Arial" panose="020B0604020202020204" pitchFamily="34" charset="0"/>
              <a:buChar char="•"/>
            </a:pPr>
            <a:r>
              <a:rPr lang="en" sz="1600" dirty="0">
                <a:solidFill>
                  <a:schemeClr val="dk1"/>
                </a:solidFill>
                <a:latin typeface="Inter"/>
                <a:ea typeface="Inter"/>
                <a:cs typeface="Inter"/>
                <a:sym typeface="Inter"/>
              </a:rPr>
              <a:t>Multi-award agile procurement vehicle</a:t>
            </a:r>
            <a:endParaRPr sz="1600" dirty="0">
              <a:solidFill>
                <a:schemeClr val="dk1"/>
              </a:solidFill>
              <a:latin typeface="Inter"/>
              <a:ea typeface="Inter"/>
              <a:cs typeface="Inter"/>
              <a:sym typeface="Inter"/>
            </a:endParaRPr>
          </a:p>
          <a:p>
            <a:pPr marL="428625" lvl="0" indent="-285750" algn="l" rtl="0">
              <a:spcBef>
                <a:spcPts val="0"/>
              </a:spcBef>
              <a:spcAft>
                <a:spcPts val="0"/>
              </a:spcAft>
              <a:buClr>
                <a:schemeClr val="dk1"/>
              </a:buClr>
              <a:buSzPts val="1350"/>
              <a:buFont typeface="Arial" panose="020B0604020202020204" pitchFamily="34" charset="0"/>
              <a:buChar char="•"/>
            </a:pPr>
            <a:r>
              <a:rPr lang="en" sz="1600" dirty="0">
                <a:solidFill>
                  <a:schemeClr val="dk1"/>
                </a:solidFill>
                <a:latin typeface="Inter"/>
                <a:ea typeface="Inter"/>
                <a:cs typeface="Inter"/>
                <a:sym typeface="Inter"/>
              </a:rPr>
              <a:t>Integrated maturity model into vendor selection</a:t>
            </a:r>
            <a:endParaRPr sz="1600" dirty="0">
              <a:solidFill>
                <a:schemeClr val="dk1"/>
              </a:solidFill>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7"/>
        <p:cNvGrpSpPr/>
        <p:nvPr/>
      </p:nvGrpSpPr>
      <p:grpSpPr>
        <a:xfrm>
          <a:off x="0" y="0"/>
          <a:ext cx="0" cy="0"/>
          <a:chOff x="0" y="0"/>
          <a:chExt cx="0" cy="0"/>
        </a:xfrm>
      </p:grpSpPr>
      <p:sp>
        <p:nvSpPr>
          <p:cNvPr id="668" name="Google Shape;668;p89">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89"/>
          <p:cNvSpPr>
            <a:spLocks noGrp="1"/>
          </p:cNvSpPr>
          <p:nvPr>
            <p:ph type="title" idx="4294967295"/>
          </p:nvPr>
        </p:nvSpPr>
        <p:spPr>
          <a:xfrm>
            <a:off x="609600" y="1688775"/>
            <a:ext cx="6172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Closing Discussion</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670" name="Google Shape;670;p89"/>
          <p:cNvSpPr/>
          <p:nvPr/>
        </p:nvSpPr>
        <p:spPr>
          <a:xfrm>
            <a:off x="609600" y="2571750"/>
            <a:ext cx="6172200" cy="1061400"/>
          </a:xfrm>
          <a:prstGeom prst="rect">
            <a:avLst/>
          </a:prstGeom>
          <a:noFill/>
          <a:ln>
            <a:noFill/>
          </a:ln>
        </p:spPr>
        <p:txBody>
          <a:bodyPr spcFirstLastPara="1" wrap="square" lIns="91425" tIns="45700" rIns="91425" bIns="45700" anchor="ctr" anchorCtr="0">
            <a:noAutofit/>
          </a:bodyPr>
          <a:lstStyle/>
          <a:p>
            <a:pPr marL="428625" marR="0" lvl="0" indent="-285750" algn="l" rtl="0">
              <a:lnSpc>
                <a:spcPct val="100000"/>
              </a:lnSpc>
              <a:spcBef>
                <a:spcPts val="0"/>
              </a:spcBef>
              <a:spcAft>
                <a:spcPts val="0"/>
              </a:spcAft>
              <a:buSzPts val="1350"/>
              <a:buFont typeface="Arial" panose="020B0604020202020204" pitchFamily="34" charset="0"/>
              <a:buChar char="•"/>
            </a:pPr>
            <a:r>
              <a:rPr lang="en" sz="1600" dirty="0">
                <a:latin typeface="Inter"/>
                <a:ea typeface="Inter"/>
                <a:cs typeface="Inter"/>
                <a:sym typeface="Inter"/>
              </a:rPr>
              <a:t>What changes would you make to your next procurement strategy?</a:t>
            </a:r>
            <a:endParaRPr sz="1600" dirty="0">
              <a:latin typeface="Inter"/>
              <a:ea typeface="Inter"/>
              <a:cs typeface="Inter"/>
              <a:sym typeface="Inter"/>
            </a:endParaRPr>
          </a:p>
          <a:p>
            <a:pPr marL="428625" marR="0" lvl="0" indent="-285750" algn="l" rtl="0">
              <a:lnSpc>
                <a:spcPct val="100000"/>
              </a:lnSpc>
              <a:spcBef>
                <a:spcPts val="0"/>
              </a:spcBef>
              <a:spcAft>
                <a:spcPts val="0"/>
              </a:spcAft>
              <a:buSzPts val="1350"/>
              <a:buFont typeface="Arial" panose="020B0604020202020204" pitchFamily="34" charset="0"/>
              <a:buChar char="•"/>
            </a:pPr>
            <a:r>
              <a:rPr lang="en" sz="1600" dirty="0">
                <a:latin typeface="Inter"/>
                <a:ea typeface="Inter"/>
                <a:cs typeface="Inter"/>
                <a:sym typeface="Inter"/>
              </a:rPr>
              <a:t>What support or resources would you need?</a:t>
            </a:r>
            <a:endParaRPr sz="1600" dirty="0">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p:cNvGrpSpPr/>
        <p:nvPr/>
      </p:nvGrpSpPr>
      <p:grpSpPr>
        <a:xfrm>
          <a:off x="0" y="0"/>
          <a:ext cx="0" cy="0"/>
          <a:chOff x="0" y="0"/>
          <a:chExt cx="0" cy="0"/>
        </a:xfrm>
      </p:grpSpPr>
      <p:sp>
        <p:nvSpPr>
          <p:cNvPr id="676" name="Google Shape;676;p90">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90"/>
          <p:cNvSpPr>
            <a:spLocks noGrp="1"/>
          </p:cNvSpPr>
          <p:nvPr>
            <p:ph type="title" idx="4294967295"/>
          </p:nvPr>
        </p:nvSpPr>
        <p:spPr>
          <a:xfrm>
            <a:off x="609600" y="1766269"/>
            <a:ext cx="6172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Key Takeaways</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678" name="Google Shape;678;p90"/>
          <p:cNvSpPr/>
          <p:nvPr/>
        </p:nvSpPr>
        <p:spPr>
          <a:xfrm>
            <a:off x="609600" y="2493375"/>
            <a:ext cx="6172200" cy="1061400"/>
          </a:xfrm>
          <a:prstGeom prst="rect">
            <a:avLst/>
          </a:prstGeom>
          <a:noFill/>
          <a:ln>
            <a:noFill/>
          </a:ln>
        </p:spPr>
        <p:txBody>
          <a:bodyPr spcFirstLastPara="1" wrap="square" lIns="91425" tIns="45700" rIns="91425" bIns="45700" anchor="ctr" anchorCtr="0">
            <a:noAutofit/>
          </a:bodyPr>
          <a:lstStyle/>
          <a:p>
            <a:pPr marL="428625" lvl="0" indent="-285750" algn="l" rtl="0">
              <a:spcBef>
                <a:spcPts val="1200"/>
              </a:spcBef>
              <a:spcAft>
                <a:spcPts val="0"/>
              </a:spcAft>
              <a:buClr>
                <a:schemeClr val="dk1"/>
              </a:buClr>
              <a:buSzPts val="1350"/>
              <a:buFont typeface="Arial" panose="020B0604020202020204" pitchFamily="34" charset="0"/>
              <a:buChar char="•"/>
            </a:pPr>
            <a:r>
              <a:rPr lang="en" sz="1600" dirty="0">
                <a:solidFill>
                  <a:schemeClr val="dk1"/>
                </a:solidFill>
                <a:latin typeface="Inter"/>
                <a:ea typeface="Inter"/>
                <a:cs typeface="Inter"/>
                <a:sym typeface="Inter"/>
              </a:rPr>
              <a:t>Maturity drives strategy success</a:t>
            </a:r>
            <a:endParaRPr sz="1600" dirty="0">
              <a:solidFill>
                <a:schemeClr val="dk1"/>
              </a:solidFill>
              <a:latin typeface="Inter"/>
              <a:ea typeface="Inter"/>
              <a:cs typeface="Inter"/>
              <a:sym typeface="Inter"/>
            </a:endParaRPr>
          </a:p>
          <a:p>
            <a:pPr marL="428625" lvl="0" indent="-285750" algn="l" rtl="0">
              <a:spcBef>
                <a:spcPts val="0"/>
              </a:spcBef>
              <a:spcAft>
                <a:spcPts val="0"/>
              </a:spcAft>
              <a:buClr>
                <a:schemeClr val="dk1"/>
              </a:buClr>
              <a:buSzPts val="1350"/>
              <a:buFont typeface="Arial" panose="020B0604020202020204" pitchFamily="34" charset="0"/>
              <a:buChar char="•"/>
            </a:pPr>
            <a:r>
              <a:rPr lang="en" sz="1600" dirty="0">
                <a:solidFill>
                  <a:schemeClr val="dk1"/>
                </a:solidFill>
                <a:latin typeface="Inter"/>
                <a:ea typeface="Inter"/>
                <a:cs typeface="Inter"/>
                <a:sym typeface="Inter"/>
              </a:rPr>
              <a:t>Align risk, contracts, and delivery methods</a:t>
            </a:r>
            <a:endParaRPr sz="1600" dirty="0">
              <a:solidFill>
                <a:schemeClr val="dk1"/>
              </a:solidFill>
              <a:latin typeface="Inter"/>
              <a:ea typeface="Inter"/>
              <a:cs typeface="Inter"/>
              <a:sym typeface="Inter"/>
            </a:endParaRPr>
          </a:p>
          <a:p>
            <a:pPr marL="428625" lvl="0" indent="-285750" algn="l" rtl="0">
              <a:spcBef>
                <a:spcPts val="0"/>
              </a:spcBef>
              <a:spcAft>
                <a:spcPts val="0"/>
              </a:spcAft>
              <a:buClr>
                <a:schemeClr val="dk1"/>
              </a:buClr>
              <a:buSzPts val="1350"/>
              <a:buFont typeface="Arial" panose="020B0604020202020204" pitchFamily="34" charset="0"/>
              <a:buChar char="•"/>
            </a:pPr>
            <a:r>
              <a:rPr lang="en" sz="1600" dirty="0">
                <a:solidFill>
                  <a:schemeClr val="dk1"/>
                </a:solidFill>
                <a:latin typeface="Inter"/>
                <a:ea typeface="Inter"/>
                <a:cs typeface="Inter"/>
                <a:sym typeface="Inter"/>
              </a:rPr>
              <a:t>Build cross-functional collaboration early</a:t>
            </a:r>
            <a:endParaRPr sz="1600" dirty="0">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3"/>
        <p:cNvGrpSpPr/>
        <p:nvPr/>
      </p:nvGrpSpPr>
      <p:grpSpPr>
        <a:xfrm>
          <a:off x="0" y="0"/>
          <a:ext cx="0" cy="0"/>
          <a:chOff x="0" y="0"/>
          <a:chExt cx="0" cy="0"/>
        </a:xfrm>
      </p:grpSpPr>
      <p:sp>
        <p:nvSpPr>
          <p:cNvPr id="684" name="Google Shape;684;p91">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91"/>
          <p:cNvSpPr>
            <a:spLocks noGrp="1"/>
          </p:cNvSpPr>
          <p:nvPr>
            <p:ph type="title" idx="4294967295"/>
          </p:nvPr>
        </p:nvSpPr>
        <p:spPr>
          <a:xfrm>
            <a:off x="609600" y="1912041"/>
            <a:ext cx="6172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Thank you</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686" name="Google Shape;686;p91"/>
          <p:cNvSpPr/>
          <p:nvPr/>
        </p:nvSpPr>
        <p:spPr>
          <a:xfrm>
            <a:off x="609600" y="2587336"/>
            <a:ext cx="6172200" cy="1061400"/>
          </a:xfrm>
          <a:prstGeom prst="rect">
            <a:avLst/>
          </a:prstGeom>
          <a:noFill/>
          <a:ln>
            <a:noFill/>
          </a:ln>
        </p:spPr>
        <p:txBody>
          <a:bodyPr spcFirstLastPara="1" wrap="square" lIns="91425" tIns="45700" rIns="91425" bIns="45700" anchor="ctr" anchorCtr="0">
            <a:noAutofit/>
          </a:bodyPr>
          <a:lstStyle/>
          <a:p>
            <a:pPr marL="428625" lvl="0" indent="-285750" algn="l" rtl="0">
              <a:spcBef>
                <a:spcPts val="1200"/>
              </a:spcBef>
              <a:spcAft>
                <a:spcPts val="0"/>
              </a:spcAft>
              <a:buClr>
                <a:schemeClr val="dk1"/>
              </a:buClr>
              <a:buSzPts val="1350"/>
              <a:buFont typeface="Arial" panose="020B0604020202020204" pitchFamily="34" charset="0"/>
              <a:buChar char="•"/>
            </a:pPr>
            <a:r>
              <a:rPr lang="en" sz="1600" dirty="0">
                <a:solidFill>
                  <a:schemeClr val="dk1"/>
                </a:solidFill>
                <a:latin typeface="Inter"/>
                <a:ea typeface="Inter"/>
                <a:cs typeface="Inter"/>
                <a:sym typeface="Inter"/>
              </a:rPr>
              <a:t>Contact information</a:t>
            </a:r>
            <a:endParaRPr sz="1600" dirty="0">
              <a:solidFill>
                <a:schemeClr val="dk1"/>
              </a:solidFill>
              <a:latin typeface="Inter"/>
              <a:ea typeface="Inter"/>
              <a:cs typeface="Inter"/>
              <a:sym typeface="Inter"/>
            </a:endParaRPr>
          </a:p>
          <a:p>
            <a:pPr marL="428625" lvl="0" indent="-285750" algn="l" rtl="0">
              <a:spcBef>
                <a:spcPts val="0"/>
              </a:spcBef>
              <a:spcAft>
                <a:spcPts val="0"/>
              </a:spcAft>
              <a:buClr>
                <a:schemeClr val="dk1"/>
              </a:buClr>
              <a:buSzPts val="1350"/>
              <a:buFont typeface="Arial" panose="020B0604020202020204" pitchFamily="34" charset="0"/>
              <a:buChar char="•"/>
            </a:pPr>
            <a:r>
              <a:rPr lang="en" sz="1600" dirty="0">
                <a:solidFill>
                  <a:schemeClr val="dk1"/>
                </a:solidFill>
                <a:latin typeface="Inter"/>
                <a:ea typeface="Inter"/>
                <a:cs typeface="Inter"/>
                <a:sym typeface="Inter"/>
              </a:rPr>
              <a:t>Feedback survey link (if available)</a:t>
            </a:r>
            <a:endParaRPr sz="1600" dirty="0">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91"/>
        <p:cNvGrpSpPr/>
        <p:nvPr/>
      </p:nvGrpSpPr>
      <p:grpSpPr>
        <a:xfrm>
          <a:off x="0" y="0"/>
          <a:ext cx="0" cy="0"/>
          <a:chOff x="0" y="0"/>
          <a:chExt cx="0" cy="0"/>
        </a:xfrm>
      </p:grpSpPr>
      <p:sp>
        <p:nvSpPr>
          <p:cNvPr id="692" name="Google Shape;692;p92"/>
          <p:cNvSpPr>
            <a:spLocks noGrp="1"/>
          </p:cNvSpPr>
          <p:nvPr>
            <p:ph type="title" idx="4294967295"/>
          </p:nvPr>
        </p:nvSpPr>
        <p:spPr>
          <a:xfrm>
            <a:off x="609600" y="2300300"/>
            <a:ext cx="75810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4000" b="1" i="0" u="none" strike="noStrike" kern="0" cap="none" spc="0" normalizeH="0" baseline="0" noProof="0" dirty="0">
                <a:ln>
                  <a:noFill/>
                </a:ln>
                <a:solidFill>
                  <a:schemeClr val="dk1"/>
                </a:solidFill>
                <a:effectLst/>
                <a:uLnTx/>
                <a:uFillTx/>
                <a:latin typeface="Calibri"/>
                <a:ea typeface="Calibri"/>
                <a:cs typeface="Calibri"/>
                <a:sym typeface="Calibri"/>
              </a:rPr>
              <a:t>Why Readiness Matters</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97"/>
        <p:cNvGrpSpPr/>
        <p:nvPr/>
      </p:nvGrpSpPr>
      <p:grpSpPr>
        <a:xfrm>
          <a:off x="0" y="0"/>
          <a:ext cx="0" cy="0"/>
          <a:chOff x="0" y="0"/>
          <a:chExt cx="0" cy="0"/>
        </a:xfrm>
      </p:grpSpPr>
      <p:sp>
        <p:nvSpPr>
          <p:cNvPr id="698" name="Google Shape;698;p93">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93"/>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How Ready Is Your Agency for Change?</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700" name="Google Shape;700;p93"/>
          <p:cNvSpPr/>
          <p:nvPr/>
        </p:nvSpPr>
        <p:spPr>
          <a:xfrm>
            <a:off x="609600" y="1917750"/>
            <a:ext cx="7124700" cy="1308000"/>
          </a:xfrm>
          <a:prstGeom prst="rect">
            <a:avLst/>
          </a:prstGeom>
          <a:noFill/>
          <a:ln>
            <a:noFill/>
          </a:ln>
        </p:spPr>
        <p:txBody>
          <a:bodyPr spcFirstLastPara="1" wrap="square" lIns="91425" tIns="45700" rIns="91425" bIns="45700" anchor="ctr" anchorCtr="0">
            <a:noAutofit/>
          </a:bodyPr>
          <a:lstStyle/>
          <a:p>
            <a:pPr marL="400050" marR="0" lvl="0" indent="-285750" algn="l" rtl="0">
              <a:lnSpc>
                <a:spcPct val="100000"/>
              </a:lnSpc>
              <a:spcBef>
                <a:spcPts val="1200"/>
              </a:spcBef>
              <a:spcAft>
                <a:spcPts val="0"/>
              </a:spcAft>
              <a:buClr>
                <a:schemeClr val="dk1"/>
              </a:buClr>
              <a:buSzPts val="1800"/>
              <a:buFont typeface="Arial" panose="020B0604020202020204" pitchFamily="34" charset="0"/>
              <a:buChar char="•"/>
            </a:pPr>
            <a:r>
              <a:rPr lang="en" sz="1600" dirty="0">
                <a:solidFill>
                  <a:schemeClr val="dk1"/>
                </a:solidFill>
                <a:latin typeface="Inter"/>
                <a:ea typeface="Inter"/>
                <a:cs typeface="Inter"/>
                <a:sym typeface="Inter"/>
              </a:rPr>
              <a:t>Before you can drive change, you need to understand your starting point.</a:t>
            </a:r>
            <a:endParaRPr sz="1600" dirty="0">
              <a:solidFill>
                <a:schemeClr val="dk1"/>
              </a:solidFill>
              <a:latin typeface="Inter"/>
              <a:ea typeface="Inter"/>
              <a:cs typeface="Inter"/>
              <a:sym typeface="Inter"/>
            </a:endParaRPr>
          </a:p>
          <a:p>
            <a:pPr marL="400050" marR="0" lvl="0" indent="-285750" algn="l" rtl="0">
              <a:lnSpc>
                <a:spcPct val="100000"/>
              </a:lnSpc>
              <a:spcBef>
                <a:spcPts val="0"/>
              </a:spcBef>
              <a:spcAft>
                <a:spcPts val="0"/>
              </a:spcAft>
              <a:buClr>
                <a:schemeClr val="dk1"/>
              </a:buClr>
              <a:buSzPts val="1800"/>
              <a:buFont typeface="Arial" panose="020B0604020202020204" pitchFamily="34" charset="0"/>
              <a:buChar char="•"/>
            </a:pPr>
            <a:r>
              <a:rPr lang="en" sz="1600" dirty="0">
                <a:solidFill>
                  <a:schemeClr val="dk1"/>
                </a:solidFill>
                <a:latin typeface="Inter"/>
                <a:ea typeface="Inter"/>
                <a:cs typeface="Inter"/>
                <a:sym typeface="Inter"/>
              </a:rPr>
              <a:t>Today’s activity helps you reflect on your agency’s mindset, behaviors, and conditions that support (or block) innovation.</a:t>
            </a:r>
            <a:endParaRPr sz="1600" dirty="0">
              <a:solidFill>
                <a:schemeClr val="dk1"/>
              </a:solidFill>
              <a:latin typeface="Inter"/>
              <a:ea typeface="Inter"/>
              <a:cs typeface="Inter"/>
              <a:sym typeface="Inter"/>
            </a:endParaRPr>
          </a:p>
          <a:p>
            <a:pPr marL="400050" marR="0" lvl="0" indent="-285750" algn="l" rtl="0">
              <a:lnSpc>
                <a:spcPct val="100000"/>
              </a:lnSpc>
              <a:spcBef>
                <a:spcPts val="0"/>
              </a:spcBef>
              <a:spcAft>
                <a:spcPts val="0"/>
              </a:spcAft>
              <a:buClr>
                <a:schemeClr val="dk1"/>
              </a:buClr>
              <a:buSzPts val="1800"/>
              <a:buFont typeface="Arial" panose="020B0604020202020204" pitchFamily="34" charset="0"/>
              <a:buChar char="•"/>
            </a:pPr>
            <a:r>
              <a:rPr lang="en" sz="1600" dirty="0">
                <a:solidFill>
                  <a:schemeClr val="dk1"/>
                </a:solidFill>
                <a:latin typeface="Inter"/>
                <a:ea typeface="Inter"/>
                <a:cs typeface="Inter"/>
                <a:sym typeface="Inter"/>
              </a:rPr>
              <a:t>Think of this as a mirror, not a test—your responses will help surface opportunities where you can make an impact.</a:t>
            </a:r>
            <a:endParaRPr sz="1600" dirty="0">
              <a:solidFill>
                <a:schemeClr val="dk1"/>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5"/>
        <p:cNvGrpSpPr/>
        <p:nvPr/>
      </p:nvGrpSpPr>
      <p:grpSpPr>
        <a:xfrm>
          <a:off x="0" y="0"/>
          <a:ext cx="0" cy="0"/>
          <a:chOff x="0" y="0"/>
          <a:chExt cx="0" cy="0"/>
        </a:xfrm>
      </p:grpSpPr>
      <p:sp>
        <p:nvSpPr>
          <p:cNvPr id="706" name="Google Shape;706;p94">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94"/>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Activity: Change &amp; Innovation Readiness Survey</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708" name="Google Shape;708;p94"/>
          <p:cNvSpPr/>
          <p:nvPr/>
        </p:nvSpPr>
        <p:spPr>
          <a:xfrm>
            <a:off x="609600" y="2226175"/>
            <a:ext cx="4993500" cy="1308000"/>
          </a:xfrm>
          <a:prstGeom prst="rect">
            <a:avLst/>
          </a:prstGeom>
          <a:noFill/>
          <a:ln>
            <a:noFill/>
          </a:ln>
        </p:spPr>
        <p:txBody>
          <a:bodyPr spcFirstLastPara="1" wrap="square" lIns="91425" tIns="45700" rIns="91425" bIns="45700" anchor="ctr" anchorCtr="0">
            <a:noAutofit/>
          </a:bodyPr>
          <a:lstStyle/>
          <a:p>
            <a:pPr marL="457200" lvl="0" indent="-342900" algn="l" rtl="0">
              <a:spcBef>
                <a:spcPts val="1200"/>
              </a:spcBef>
              <a:spcAft>
                <a:spcPts val="0"/>
              </a:spcAft>
              <a:buClr>
                <a:schemeClr val="dk1"/>
              </a:buClr>
              <a:buSzPts val="1800"/>
              <a:buFont typeface="Inter"/>
              <a:buAutoNum type="arabicPeriod"/>
            </a:pPr>
            <a:r>
              <a:rPr lang="en" sz="1600" dirty="0">
                <a:solidFill>
                  <a:schemeClr val="dk1"/>
                </a:solidFill>
                <a:latin typeface="Inter"/>
                <a:ea typeface="Inter"/>
                <a:cs typeface="Inter"/>
                <a:sym typeface="Inter"/>
              </a:rPr>
              <a:t>Complete the survey individually.</a:t>
            </a:r>
            <a:endParaRPr sz="1600" dirty="0">
              <a:solidFill>
                <a:schemeClr val="dk1"/>
              </a:solidFill>
              <a:latin typeface="Inter"/>
              <a:ea typeface="Inter"/>
              <a:cs typeface="Inter"/>
              <a:sym typeface="Inter"/>
            </a:endParaRPr>
          </a:p>
          <a:p>
            <a:pPr marL="914400" lvl="1" indent="-342900" algn="l" rtl="0">
              <a:lnSpc>
                <a:spcPct val="115000"/>
              </a:lnSpc>
              <a:spcBef>
                <a:spcPts val="0"/>
              </a:spcBef>
              <a:spcAft>
                <a:spcPts val="0"/>
              </a:spcAft>
              <a:buClr>
                <a:schemeClr val="dk1"/>
              </a:buClr>
              <a:buSzPts val="1800"/>
              <a:buFont typeface="+mj-lt"/>
              <a:buAutoNum type="alphaLcPeriod"/>
            </a:pPr>
            <a:r>
              <a:rPr lang="en" sz="1600" dirty="0">
                <a:solidFill>
                  <a:schemeClr val="dk1"/>
                </a:solidFill>
                <a:latin typeface="Inter"/>
                <a:ea typeface="Inter"/>
                <a:cs typeface="Inter"/>
                <a:sym typeface="Inter"/>
              </a:rPr>
              <a:t>Rate your agency on a scale of 1–5 across 7 statements.</a:t>
            </a:r>
            <a:endParaRPr sz="1600" dirty="0">
              <a:solidFill>
                <a:schemeClr val="dk1"/>
              </a:solidFill>
              <a:latin typeface="Inter"/>
              <a:ea typeface="Inter"/>
              <a:cs typeface="Inter"/>
              <a:sym typeface="Inter"/>
            </a:endParaRPr>
          </a:p>
          <a:p>
            <a:pPr marL="914400" lvl="1" indent="-342900" algn="l" rtl="0">
              <a:lnSpc>
                <a:spcPct val="115000"/>
              </a:lnSpc>
              <a:spcBef>
                <a:spcPts val="0"/>
              </a:spcBef>
              <a:spcAft>
                <a:spcPts val="0"/>
              </a:spcAft>
              <a:buClr>
                <a:schemeClr val="dk1"/>
              </a:buClr>
              <a:buSzPts val="1800"/>
              <a:buFont typeface="+mj-lt"/>
              <a:buAutoNum type="alphaLcPeriod"/>
            </a:pPr>
            <a:r>
              <a:rPr lang="en" sz="1600" dirty="0">
                <a:solidFill>
                  <a:schemeClr val="dk1"/>
                </a:solidFill>
                <a:latin typeface="Inter"/>
                <a:ea typeface="Inter"/>
                <a:cs typeface="Inter"/>
                <a:sym typeface="Inter"/>
              </a:rPr>
              <a:t>Briefly explain why you gave each score.</a:t>
            </a:r>
            <a:endParaRPr sz="1600" dirty="0">
              <a:solidFill>
                <a:schemeClr val="dk1"/>
              </a:solidFill>
              <a:latin typeface="Inter"/>
              <a:ea typeface="Inter"/>
              <a:cs typeface="Inter"/>
              <a:sym typeface="Inter"/>
            </a:endParaRPr>
          </a:p>
          <a:p>
            <a:pPr marL="457200" lvl="0" indent="-342900" algn="l" rtl="0">
              <a:lnSpc>
                <a:spcPct val="115000"/>
              </a:lnSpc>
              <a:spcBef>
                <a:spcPts val="0"/>
              </a:spcBef>
              <a:spcAft>
                <a:spcPts val="0"/>
              </a:spcAft>
              <a:buClr>
                <a:schemeClr val="dk1"/>
              </a:buClr>
              <a:buSzPts val="1800"/>
              <a:buFont typeface="Inter"/>
              <a:buAutoNum type="arabicPeriod"/>
            </a:pPr>
            <a:r>
              <a:rPr lang="en" sz="1600" dirty="0">
                <a:solidFill>
                  <a:schemeClr val="dk1"/>
                </a:solidFill>
                <a:latin typeface="Inter"/>
                <a:ea typeface="Inter"/>
                <a:cs typeface="Inter"/>
                <a:sym typeface="Inter"/>
              </a:rPr>
              <a:t>Respond to the final reflection prompts.</a:t>
            </a:r>
            <a:endParaRPr sz="1600" dirty="0">
              <a:solidFill>
                <a:schemeClr val="dk1"/>
              </a:solidFill>
              <a:latin typeface="Inter"/>
              <a:ea typeface="Inter"/>
              <a:cs typeface="Inter"/>
              <a:sym typeface="Inter"/>
            </a:endParaRPr>
          </a:p>
          <a:p>
            <a:pPr marL="457200" lvl="0" indent="-342900" algn="l" rtl="0">
              <a:spcBef>
                <a:spcPts val="0"/>
              </a:spcBef>
              <a:spcAft>
                <a:spcPts val="0"/>
              </a:spcAft>
              <a:buClr>
                <a:schemeClr val="dk1"/>
              </a:buClr>
              <a:buSzPts val="1800"/>
              <a:buAutoNum type="arabicPeriod"/>
            </a:pPr>
            <a:r>
              <a:rPr lang="en" sz="1600" dirty="0">
                <a:solidFill>
                  <a:schemeClr val="dk1"/>
                </a:solidFill>
                <a:latin typeface="Inter"/>
                <a:ea typeface="Inter"/>
                <a:cs typeface="Inter"/>
                <a:sym typeface="Inter"/>
              </a:rPr>
              <a:t>Be ready to share any insights or patterns during our discussion.</a:t>
            </a:r>
            <a:endParaRPr sz="1600" dirty="0">
              <a:solidFill>
                <a:schemeClr val="dk1"/>
              </a:solidFill>
              <a:latin typeface="Inter"/>
              <a:ea typeface="Inter"/>
              <a:cs typeface="Inter"/>
              <a:sym typeface="Inter"/>
            </a:endParaRPr>
          </a:p>
          <a:p>
            <a:pPr marL="0" marR="0" lvl="0" indent="0" algn="l" rtl="0">
              <a:lnSpc>
                <a:spcPct val="140000"/>
              </a:lnSpc>
              <a:spcBef>
                <a:spcPts val="1200"/>
              </a:spcBef>
              <a:spcAft>
                <a:spcPts val="0"/>
              </a:spcAft>
              <a:buClr>
                <a:srgbClr val="000000"/>
              </a:buClr>
              <a:buSzPts val="1350"/>
              <a:buFont typeface="Inter"/>
              <a:buNone/>
            </a:pPr>
            <a:endParaRPr dirty="0">
              <a:latin typeface="Inter"/>
              <a:ea typeface="Inter"/>
              <a:cs typeface="Inter"/>
              <a:sym typeface="Inter"/>
            </a:endParaRPr>
          </a:p>
        </p:txBody>
      </p:sp>
      <p:pic>
        <p:nvPicPr>
          <p:cNvPr id="709" name="Google Shape;709;p94" descr="Group activity icon"/>
          <p:cNvPicPr preferRelativeResize="0"/>
          <p:nvPr/>
        </p:nvPicPr>
        <p:blipFill>
          <a:blip r:embed="rId3">
            <a:alphaModFix/>
          </a:blip>
          <a:stretch>
            <a:fillRect/>
          </a:stretch>
        </p:blipFill>
        <p:spPr>
          <a:xfrm>
            <a:off x="6214725" y="1664813"/>
            <a:ext cx="2266963" cy="226696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95"/>
          <p:cNvSpPr txBox="1">
            <a:spLocks noGrp="1"/>
          </p:cNvSpPr>
          <p:nvPr>
            <p:ph type="title"/>
          </p:nvPr>
        </p:nvSpPr>
        <p:spPr>
          <a:xfrm>
            <a:off x="697350" y="2538425"/>
            <a:ext cx="7749300" cy="876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Stakeholder and Customer Mapping</a:t>
            </a:r>
            <a:endParaRPr/>
          </a:p>
        </p:txBody>
      </p:sp>
      <p:sp>
        <p:nvSpPr>
          <p:cNvPr id="715" name="Google Shape;715;p95"/>
          <p:cNvSpPr txBox="1">
            <a:spLocks noGrp="1"/>
          </p:cNvSpPr>
          <p:nvPr>
            <p:ph type="title" idx="2"/>
          </p:nvPr>
        </p:nvSpPr>
        <p:spPr>
          <a:xfrm>
            <a:off x="2899200" y="1194450"/>
            <a:ext cx="3345600" cy="182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a:t>Sprint  2</a:t>
            </a:r>
            <a:endParaRPr sz="4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0"/>
        <p:cNvGrpSpPr/>
        <p:nvPr/>
      </p:nvGrpSpPr>
      <p:grpSpPr>
        <a:xfrm>
          <a:off x="0" y="0"/>
          <a:ext cx="0" cy="0"/>
          <a:chOff x="0" y="0"/>
          <a:chExt cx="0" cy="0"/>
        </a:xfrm>
      </p:grpSpPr>
      <p:sp>
        <p:nvSpPr>
          <p:cNvPr id="721" name="Google Shape;721;p96">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96"/>
          <p:cNvSpPr>
            <a:spLocks noGrp="1"/>
          </p:cNvSpPr>
          <p:nvPr>
            <p:ph type="title" idx="4294967295"/>
          </p:nvPr>
        </p:nvSpPr>
        <p:spPr>
          <a:xfrm>
            <a:off x="589500" y="2124075"/>
            <a:ext cx="79650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1200"/>
              </a:spcBef>
              <a:spcAft>
                <a:spcPts val="1200"/>
              </a:spcAft>
              <a:buClr>
                <a:srgbClr val="000000"/>
              </a:buClr>
              <a:buSzTx/>
              <a:buFont typeface="Arial"/>
              <a:buNone/>
              <a:tabLst/>
              <a:defRPr/>
            </a:pPr>
            <a:r>
              <a:rPr kumimoji="0" lang="en-US" sz="3600" b="1" i="0" u="none" strike="noStrike" kern="0" cap="none" spc="0" normalizeH="0" baseline="0" noProof="0" dirty="0">
                <a:ln>
                  <a:noFill/>
                </a:ln>
                <a:solidFill>
                  <a:schemeClr val="dk1"/>
                </a:solidFill>
                <a:effectLst/>
                <a:uLnTx/>
                <a:uFillTx/>
                <a:latin typeface="Inter"/>
                <a:ea typeface="Inter"/>
                <a:cs typeface="Inter"/>
                <a:sym typeface="Inter"/>
              </a:rPr>
              <a:t>Understanding Your Needs &amp; Mapping  Stakeholders for Change</a:t>
            </a:r>
          </a:p>
        </p:txBody>
      </p:sp>
      <p:sp>
        <p:nvSpPr>
          <p:cNvPr id="723" name="Google Shape;723;p96">
            <a:extLst>
              <a:ext uri="{C183D7F6-B498-43B3-948B-1728B52AA6E4}">
                <adec:decorative xmlns:adec="http://schemas.microsoft.com/office/drawing/2017/decorative" val="1"/>
              </a:ext>
            </a:extLst>
          </p:cNvPr>
          <p:cNvSpPr/>
          <p:nvPr/>
        </p:nvSpPr>
        <p:spPr>
          <a:xfrm>
            <a:off x="609600" y="3072188"/>
            <a:ext cx="6172200" cy="238200"/>
          </a:xfrm>
          <a:prstGeom prst="rect">
            <a:avLst/>
          </a:prstGeom>
          <a:noFill/>
          <a:ln>
            <a:noFill/>
          </a:ln>
        </p:spPr>
        <p:txBody>
          <a:bodyPr spcFirstLastPara="1" wrap="square" lIns="91425" tIns="45700" rIns="91425" bIns="45700" anchor="ctr" anchorCtr="0">
            <a:noAutofit/>
          </a:bodyPr>
          <a:lstStyle/>
          <a:p>
            <a:pPr marL="0" lvl="0" indent="0" algn="l" rtl="0">
              <a:spcBef>
                <a:spcPts val="1200"/>
              </a:spcBef>
              <a:spcAft>
                <a:spcPts val="1200"/>
              </a:spcAft>
              <a:buNone/>
            </a:pPr>
            <a:endParaRPr sz="1750" i="0" u="none" strike="noStrike" cap="none">
              <a:solidFill>
                <a:schemeClr val="dk1"/>
              </a:solidFill>
              <a:latin typeface="Inter"/>
              <a:ea typeface="Inter"/>
              <a:cs typeface="Inter"/>
              <a:sym typeface="Inter"/>
            </a:endParaRPr>
          </a:p>
        </p:txBody>
      </p:sp>
      <p:sp>
        <p:nvSpPr>
          <p:cNvPr id="724" name="Google Shape;724;p96"/>
          <p:cNvSpPr txBox="1"/>
          <p:nvPr/>
        </p:nvSpPr>
        <p:spPr>
          <a:xfrm>
            <a:off x="609600" y="3831175"/>
            <a:ext cx="3000000" cy="754200"/>
          </a:xfrm>
          <a:prstGeom prst="rect">
            <a:avLst/>
          </a:prstGeom>
          <a:noFill/>
          <a:ln>
            <a:noFill/>
          </a:ln>
        </p:spPr>
        <p:txBody>
          <a:bodyPr spcFirstLastPara="1" wrap="square" lIns="91425" tIns="91425" rIns="91425" bIns="91425" anchor="t" anchorCtr="0">
            <a:spAutoFit/>
          </a:bodyPr>
          <a:lstStyle/>
          <a:p>
            <a:pPr marL="0" lvl="0" indent="0" algn="l" rtl="0">
              <a:spcBef>
                <a:spcPts val="1200"/>
              </a:spcBef>
              <a:spcAft>
                <a:spcPts val="0"/>
              </a:spcAft>
              <a:buNone/>
            </a:pPr>
            <a:r>
              <a:rPr lang="en" sz="1350" b="1">
                <a:solidFill>
                  <a:schemeClr val="dk1"/>
                </a:solidFill>
                <a:latin typeface="Inter"/>
                <a:ea typeface="Inter"/>
                <a:cs typeface="Inter"/>
                <a:sym typeface="Inter"/>
              </a:rPr>
              <a:t>Presented by:</a:t>
            </a:r>
            <a:r>
              <a:rPr lang="en" sz="1350">
                <a:solidFill>
                  <a:schemeClr val="dk1"/>
                </a:solidFill>
                <a:latin typeface="Inter"/>
                <a:ea typeface="Inter"/>
                <a:cs typeface="Inter"/>
                <a:sym typeface="Inter"/>
              </a:rPr>
              <a:t> [Facilitator Name]</a:t>
            </a:r>
            <a:endParaRPr sz="1350">
              <a:solidFill>
                <a:schemeClr val="dk1"/>
              </a:solidFill>
              <a:latin typeface="Inter"/>
              <a:ea typeface="Inter"/>
              <a:cs typeface="Inter"/>
              <a:sym typeface="Inter"/>
            </a:endParaRPr>
          </a:p>
          <a:p>
            <a:pPr marL="0" lvl="0" indent="0" algn="l" rtl="0">
              <a:spcBef>
                <a:spcPts val="1200"/>
              </a:spcBef>
              <a:spcAft>
                <a:spcPts val="1200"/>
              </a:spcAft>
              <a:buNone/>
            </a:pPr>
            <a:r>
              <a:rPr lang="en" sz="1350" b="1">
                <a:solidFill>
                  <a:schemeClr val="dk1"/>
                </a:solidFill>
                <a:latin typeface="Inter"/>
                <a:ea typeface="Inter"/>
                <a:cs typeface="Inter"/>
                <a:sym typeface="Inter"/>
              </a:rPr>
              <a:t>Date:</a:t>
            </a:r>
            <a:r>
              <a:rPr lang="en" sz="1350">
                <a:solidFill>
                  <a:schemeClr val="dk1"/>
                </a:solidFill>
                <a:latin typeface="Inter"/>
                <a:ea typeface="Inter"/>
                <a:cs typeface="Inter"/>
                <a:sym typeface="Inter"/>
              </a:rPr>
              <a:t> [Session Date]</a:t>
            </a:r>
            <a:endParaRPr sz="1350">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9"/>
        <p:cNvGrpSpPr/>
        <p:nvPr/>
      </p:nvGrpSpPr>
      <p:grpSpPr>
        <a:xfrm>
          <a:off x="0" y="0"/>
          <a:ext cx="0" cy="0"/>
          <a:chOff x="0" y="0"/>
          <a:chExt cx="0" cy="0"/>
        </a:xfrm>
      </p:grpSpPr>
      <p:sp>
        <p:nvSpPr>
          <p:cNvPr id="730" name="Google Shape;730;p97">
            <a:extLst>
              <a:ext uri="{C183D7F6-B498-43B3-948B-1728B52AA6E4}">
                <adec:decorative xmlns:adec="http://schemas.microsoft.com/office/drawing/2017/decorative" val="1"/>
              </a:ext>
            </a:extLst>
          </p:cNvPr>
          <p:cNvSpPr/>
          <p:nvPr/>
        </p:nvSpPr>
        <p:spPr>
          <a:xfrm>
            <a:off x="4610100" y="130016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97">
            <a:extLst>
              <a:ext uri="{C183D7F6-B498-43B3-948B-1728B52AA6E4}">
                <adec:decorative xmlns:adec="http://schemas.microsoft.com/office/drawing/2017/decorative" val="1"/>
              </a:ext>
            </a:extLst>
          </p:cNvPr>
          <p:cNvSpPr/>
          <p:nvPr/>
        </p:nvSpPr>
        <p:spPr>
          <a:xfrm>
            <a:off x="4610100" y="2262188"/>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97">
            <a:extLst>
              <a:ext uri="{C183D7F6-B498-43B3-948B-1728B52AA6E4}">
                <adec:decorative xmlns:adec="http://schemas.microsoft.com/office/drawing/2017/decorative" val="1"/>
              </a:ext>
            </a:extLst>
          </p:cNvPr>
          <p:cNvSpPr/>
          <p:nvPr/>
        </p:nvSpPr>
        <p:spPr>
          <a:xfrm>
            <a:off x="4610100" y="322421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97"/>
          <p:cNvSpPr>
            <a:spLocks noGrp="1"/>
          </p:cNvSpPr>
          <p:nvPr>
            <p:ph type="title" idx="4294967295"/>
          </p:nvPr>
        </p:nvSpPr>
        <p:spPr>
          <a:xfrm>
            <a:off x="609600" y="2433638"/>
            <a:ext cx="3124200" cy="2763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1800"/>
              <a:buFont typeface="Inter"/>
              <a:buNone/>
              <a:tabLst/>
              <a:defRPr/>
            </a:pPr>
            <a:r>
              <a:rPr kumimoji="0" lang="en-US" sz="1800" b="1" i="0" u="none" strike="noStrike" kern="0" cap="none" spc="0" normalizeH="0" baseline="0" noProof="0" dirty="0">
                <a:ln>
                  <a:noFill/>
                </a:ln>
                <a:solidFill>
                  <a:srgbClr val="000000"/>
                </a:solidFill>
                <a:effectLst/>
                <a:uLnTx/>
                <a:uFillTx/>
                <a:latin typeface="Inter"/>
                <a:ea typeface="Inter"/>
                <a:cs typeface="Inter"/>
                <a:sym typeface="Inter"/>
              </a:rPr>
              <a:t>Agenda</a:t>
            </a:r>
            <a:endParaRPr kumimoji="0" lang="en-US" sz="18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734" name="Google Shape;734;p97"/>
          <p:cNvSpPr/>
          <p:nvPr/>
        </p:nvSpPr>
        <p:spPr>
          <a:xfrm>
            <a:off x="3446150" y="3224225"/>
            <a:ext cx="47775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None/>
            </a:pPr>
            <a:r>
              <a:rPr lang="en" sz="1450" b="1">
                <a:solidFill>
                  <a:schemeClr val="dk1"/>
                </a:solidFill>
                <a:latin typeface="Inter"/>
                <a:ea typeface="Inter"/>
                <a:cs typeface="Inter"/>
                <a:sym typeface="Inter"/>
              </a:rPr>
              <a:t>Explore techniques for stakeholder analysis and engagement</a:t>
            </a:r>
            <a:br>
              <a:rPr lang="en" sz="1500">
                <a:solidFill>
                  <a:schemeClr val="dk1"/>
                </a:solidFill>
                <a:latin typeface="Inter Medium"/>
                <a:ea typeface="Inter Medium"/>
                <a:cs typeface="Inter Medium"/>
                <a:sym typeface="Inter Medium"/>
              </a:rPr>
            </a:br>
            <a:endParaRPr sz="1350" i="0" u="none" strike="noStrike" cap="none">
              <a:solidFill>
                <a:schemeClr val="dk1"/>
              </a:solidFill>
              <a:latin typeface="Inter Medium"/>
              <a:ea typeface="Inter Medium"/>
              <a:cs typeface="Inter Medium"/>
              <a:sym typeface="Inter Medium"/>
            </a:endParaRPr>
          </a:p>
        </p:txBody>
      </p:sp>
      <p:sp>
        <p:nvSpPr>
          <p:cNvPr id="735" name="Google Shape;735;p97"/>
          <p:cNvSpPr/>
          <p:nvPr/>
        </p:nvSpPr>
        <p:spPr>
          <a:xfrm>
            <a:off x="3446150" y="2109800"/>
            <a:ext cx="47775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None/>
            </a:pPr>
            <a:r>
              <a:rPr lang="en" sz="1450" b="1" dirty="0">
                <a:solidFill>
                  <a:schemeClr val="dk1"/>
                </a:solidFill>
                <a:latin typeface="Inter"/>
                <a:ea typeface="Inter"/>
                <a:cs typeface="Inter"/>
                <a:sym typeface="Inter"/>
              </a:rPr>
              <a:t>Define stakeholders, users, and customers</a:t>
            </a:r>
            <a:endParaRPr sz="1450" b="1" dirty="0">
              <a:solidFill>
                <a:schemeClr val="dk1"/>
              </a:solidFill>
              <a:latin typeface="Inter"/>
              <a:ea typeface="Inter"/>
              <a:cs typeface="Inter"/>
              <a:sym typeface="Inter"/>
            </a:endParaRPr>
          </a:p>
        </p:txBody>
      </p:sp>
      <p:sp>
        <p:nvSpPr>
          <p:cNvPr id="736" name="Google Shape;736;p97">
            <a:extLst>
              <a:ext uri="{C183D7F6-B498-43B3-948B-1728B52AA6E4}">
                <adec:decorative xmlns:adec="http://schemas.microsoft.com/office/drawing/2017/decorative" val="1"/>
              </a:ext>
            </a:extLst>
          </p:cNvPr>
          <p:cNvSpPr/>
          <p:nvPr/>
        </p:nvSpPr>
        <p:spPr>
          <a:xfrm>
            <a:off x="3446150" y="1300175"/>
            <a:ext cx="4859700" cy="2286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1200"/>
              </a:spcAft>
              <a:buNone/>
            </a:pPr>
            <a:br>
              <a:rPr lang="en" sz="1450" b="1">
                <a:solidFill>
                  <a:schemeClr val="dk1"/>
                </a:solidFill>
                <a:latin typeface="Inter"/>
                <a:ea typeface="Inter"/>
                <a:cs typeface="Inter"/>
                <a:sym typeface="Inter"/>
              </a:rPr>
            </a:br>
            <a:endParaRPr sz="1450" b="1" i="0" u="none" strike="noStrike" cap="none">
              <a:solidFill>
                <a:schemeClr val="dk1"/>
              </a:solidFill>
              <a:latin typeface="Inter"/>
              <a:ea typeface="Inter"/>
              <a:cs typeface="Inter"/>
              <a:sym typeface="Inter"/>
            </a:endParaRPr>
          </a:p>
        </p:txBody>
      </p:sp>
      <p:sp>
        <p:nvSpPr>
          <p:cNvPr id="737" name="Google Shape;737;p97">
            <a:extLst>
              <a:ext uri="{C183D7F6-B498-43B3-948B-1728B52AA6E4}">
                <adec:decorative xmlns:adec="http://schemas.microsoft.com/office/drawing/2017/decorative" val="1"/>
              </a:ext>
            </a:extLst>
          </p:cNvPr>
          <p:cNvSpPr/>
          <p:nvPr/>
        </p:nvSpPr>
        <p:spPr>
          <a:xfrm>
            <a:off x="3446150" y="4186250"/>
            <a:ext cx="46539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32000"/>
              </a:lnSpc>
              <a:spcBef>
                <a:spcPts val="0"/>
              </a:spcBef>
              <a:spcAft>
                <a:spcPts val="0"/>
              </a:spcAft>
              <a:buClr>
                <a:srgbClr val="000000"/>
              </a:buClr>
              <a:buSzPts val="1350"/>
              <a:buFont typeface="Inter"/>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42"/>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Google Shape;744;p98"/>
          <p:cNvSpPr>
            <a:spLocks noGrp="1"/>
          </p:cNvSpPr>
          <p:nvPr>
            <p:ph type="title" idx="4294967295"/>
          </p:nvPr>
        </p:nvSpPr>
        <p:spPr>
          <a:xfrm>
            <a:off x="479161" y="479394"/>
            <a:ext cx="2678858" cy="2680137"/>
          </a:xfrm>
          <a:prstGeom prst="rect">
            <a:avLst/>
          </a:prstGeom>
        </p:spPr>
        <p:txBody>
          <a:bodyPr rot="0" spcFirstLastPara="1" vertOverflow="overflow" horzOverflow="overflow" vert="horz" lIns="91440" tIns="45720" rIns="91440" bIns="45720" numCol="1" spcCol="0" rtlCol="0" fromWordArt="0" anchor="b" anchorCtr="0" forceAA="0" compatLnSpc="1">
            <a:prstTxWarp prst="textNoShape">
              <a:avLst/>
            </a:prstTxWarp>
            <a:normAutofit/>
          </a:bodyPr>
          <a:lstStyle/>
          <a:p>
            <a:pPr marL="0" marR="0" lvl="0" indent="0" fontAlgn="auto">
              <a:lnSpc>
                <a:spcPct val="90000"/>
              </a:lnSpc>
              <a:spcBef>
                <a:spcPct val="0"/>
              </a:spcBef>
              <a:spcAft>
                <a:spcPts val="0"/>
              </a:spcAft>
              <a:buClr>
                <a:schemeClr val="dk1"/>
              </a:buClr>
              <a:buSzPts val="1100"/>
              <a:tabLst/>
              <a:defRPr/>
            </a:pPr>
            <a:r>
              <a:rPr kumimoji="0" lang="en-US" sz="2800" b="1" i="0" u="none" strike="noStrike" kern="1200" cap="none" spc="0" normalizeH="0" baseline="0" noProof="0" dirty="0">
                <a:ln>
                  <a:noFill/>
                </a:ln>
                <a:solidFill>
                  <a:schemeClr val="tx1"/>
                </a:solidFill>
                <a:effectLst/>
                <a:uLnTx/>
                <a:uFillTx/>
                <a:latin typeface="Inter" panose="020B0604020202020204" charset="0"/>
                <a:ea typeface="Inter" panose="020B0604020202020204" charset="0"/>
                <a:cs typeface="+mj-cs"/>
                <a:sym typeface="Inter"/>
              </a:rPr>
              <a:t>Seeing the Big Picture with Stakeholders </a:t>
            </a:r>
          </a:p>
        </p:txBody>
      </p:sp>
      <p:sp>
        <p:nvSpPr>
          <p:cNvPr id="103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3306950"/>
            <a:ext cx="2441321" cy="13716"/>
          </a:xfrm>
          <a:custGeom>
            <a:avLst/>
            <a:gdLst>
              <a:gd name="csX0" fmla="*/ 0 w 2441321"/>
              <a:gd name="csY0" fmla="*/ 0 h 13716"/>
              <a:gd name="csX1" fmla="*/ 585917 w 2441321"/>
              <a:gd name="csY1" fmla="*/ 0 h 13716"/>
              <a:gd name="csX2" fmla="*/ 1196247 w 2441321"/>
              <a:gd name="csY2" fmla="*/ 0 h 13716"/>
              <a:gd name="csX3" fmla="*/ 1806578 w 2441321"/>
              <a:gd name="csY3" fmla="*/ 0 h 13716"/>
              <a:gd name="csX4" fmla="*/ 2441321 w 2441321"/>
              <a:gd name="csY4" fmla="*/ 0 h 13716"/>
              <a:gd name="csX5" fmla="*/ 2441321 w 2441321"/>
              <a:gd name="csY5" fmla="*/ 13716 h 13716"/>
              <a:gd name="csX6" fmla="*/ 1830991 w 2441321"/>
              <a:gd name="csY6" fmla="*/ 13716 h 13716"/>
              <a:gd name="csX7" fmla="*/ 1269487 w 2441321"/>
              <a:gd name="csY7" fmla="*/ 13716 h 13716"/>
              <a:gd name="csX8" fmla="*/ 707983 w 2441321"/>
              <a:gd name="csY8" fmla="*/ 13716 h 13716"/>
              <a:gd name="csX9" fmla="*/ 0 w 2441321"/>
              <a:gd name="csY9" fmla="*/ 13716 h 13716"/>
              <a:gd name="csX10" fmla="*/ 0 w 2441321"/>
              <a:gd name="csY10"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3716"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939" y="4363"/>
                  <a:pt x="2441580" y="8857"/>
                  <a:pt x="2441321" y="13716"/>
                </a:cubicBezTo>
                <a:cubicBezTo>
                  <a:pt x="2169723" y="25934"/>
                  <a:pt x="2045712" y="34568"/>
                  <a:pt x="1830991" y="13716"/>
                </a:cubicBezTo>
                <a:cubicBezTo>
                  <a:pt x="1616270" y="-7136"/>
                  <a:pt x="1505876" y="-623"/>
                  <a:pt x="1269487" y="13716"/>
                </a:cubicBezTo>
                <a:cubicBezTo>
                  <a:pt x="1033098" y="28055"/>
                  <a:pt x="908661" y="36619"/>
                  <a:pt x="707983" y="13716"/>
                </a:cubicBezTo>
                <a:cubicBezTo>
                  <a:pt x="507305" y="-9187"/>
                  <a:pt x="333592" y="16187"/>
                  <a:pt x="0" y="13716"/>
                </a:cubicBezTo>
                <a:cubicBezTo>
                  <a:pt x="-459" y="8317"/>
                  <a:pt x="190" y="2744"/>
                  <a:pt x="0" y="0"/>
                </a:cubicBezTo>
                <a:close/>
              </a:path>
              <a:path w="2441321" h="13716"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507" y="3335"/>
                  <a:pt x="2441322" y="9457"/>
                  <a:pt x="2441321" y="13716"/>
                </a:cubicBezTo>
                <a:cubicBezTo>
                  <a:pt x="2166745" y="24201"/>
                  <a:pt x="2078726" y="10904"/>
                  <a:pt x="1879817" y="13716"/>
                </a:cubicBezTo>
                <a:cubicBezTo>
                  <a:pt x="1680908" y="16528"/>
                  <a:pt x="1548770" y="-8699"/>
                  <a:pt x="1318313" y="13716"/>
                </a:cubicBezTo>
                <a:cubicBezTo>
                  <a:pt x="1087856" y="36131"/>
                  <a:pt x="894613" y="-645"/>
                  <a:pt x="659157" y="13716"/>
                </a:cubicBezTo>
                <a:cubicBezTo>
                  <a:pt x="423701" y="28077"/>
                  <a:pt x="246611" y="29403"/>
                  <a:pt x="0" y="13716"/>
                </a:cubicBezTo>
                <a:cubicBezTo>
                  <a:pt x="-120" y="7867"/>
                  <a:pt x="674" y="391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 circular stakeholder map for digital services acquisition, showing categories like Acquisition Stakeholders, Oversight/Governance, Advocates/Influencers, and Partners/Suppliers/Co-Creators, with 'Digital Services Acquisition Partnership' at the center.">
            <a:extLst>
              <a:ext uri="{FF2B5EF4-FFF2-40B4-BE49-F238E27FC236}">
                <a16:creationId xmlns:a16="http://schemas.microsoft.com/office/drawing/2014/main" id="{8F0BB5D9-187D-5CD2-3075-D5E86FC5E14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490722" y="552643"/>
            <a:ext cx="5410962" cy="4017639"/>
          </a:xfrm>
          <a:prstGeom prst="rect">
            <a:avLst/>
          </a:prstGeom>
          <a:noFill/>
          <a:extLst>
            <a:ext uri="{909E8E84-426E-40DD-AFC4-6F175D3DCCD1}">
              <a14:hiddenFill xmlns:a14="http://schemas.microsoft.com/office/drawing/2010/main">
                <a:solidFill>
                  <a:srgbClr val="FFFFFF"/>
                </a:solidFill>
              </a14:hiddenFill>
            </a:ext>
          </a:extLst>
        </p:spPr>
      </p:pic>
      <p:sp>
        <p:nvSpPr>
          <p:cNvPr id="743" name="Google Shape;743;p98">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0"/>
        <p:cNvGrpSpPr/>
        <p:nvPr/>
      </p:nvGrpSpPr>
      <p:grpSpPr>
        <a:xfrm>
          <a:off x="0" y="0"/>
          <a:ext cx="0" cy="0"/>
          <a:chOff x="0" y="0"/>
          <a:chExt cx="0" cy="0"/>
        </a:xfrm>
      </p:grpSpPr>
      <p:sp>
        <p:nvSpPr>
          <p:cNvPr id="751" name="Google Shape;751;p99">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99"/>
          <p:cNvSpPr>
            <a:spLocks noGrp="1"/>
          </p:cNvSpPr>
          <p:nvPr>
            <p:ph type="title" idx="4294967295"/>
          </p:nvPr>
        </p:nvSpPr>
        <p:spPr>
          <a:xfrm>
            <a:off x="551100" y="611875"/>
            <a:ext cx="80418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Stakeholders vs. Users vs. Customers</a:t>
            </a:r>
            <a:endParaRPr kumimoji="0" lang="en-US" sz="2250" b="1" i="0" u="none" strike="noStrike" kern="0" cap="none" spc="0" normalizeH="0" baseline="0" noProof="0" dirty="0">
              <a:ln>
                <a:noFill/>
              </a:ln>
              <a:solidFill>
                <a:schemeClr val="dk1"/>
              </a:solidFill>
              <a:effectLst/>
              <a:uLnTx/>
              <a:uFillTx/>
              <a:latin typeface="Inter"/>
              <a:ea typeface="Inter"/>
              <a:cs typeface="Inter"/>
              <a:sym typeface="Inter"/>
            </a:endParaRPr>
          </a:p>
        </p:txBody>
      </p:sp>
      <p:sp>
        <p:nvSpPr>
          <p:cNvPr id="753" name="Google Shape;753;p99"/>
          <p:cNvSpPr/>
          <p:nvPr/>
        </p:nvSpPr>
        <p:spPr>
          <a:xfrm>
            <a:off x="609600" y="1615200"/>
            <a:ext cx="6767400" cy="1913100"/>
          </a:xfrm>
          <a:prstGeom prst="rect">
            <a:avLst/>
          </a:prstGeom>
          <a:noFill/>
          <a:ln>
            <a:noFill/>
          </a:ln>
        </p:spPr>
        <p:txBody>
          <a:bodyPr spcFirstLastPara="1" wrap="square" lIns="91425" tIns="45700" rIns="91425" bIns="45700" anchor="ctr" anchorCtr="0">
            <a:noAutofit/>
          </a:bodyPr>
          <a:lstStyle/>
          <a:p>
            <a:pPr marL="412750" lvl="0" indent="-285750" algn="l" rtl="0">
              <a:lnSpc>
                <a:spcPct val="115000"/>
              </a:lnSpc>
              <a:spcBef>
                <a:spcPts val="1200"/>
              </a:spcBef>
              <a:spcAft>
                <a:spcPts val="0"/>
              </a:spcAft>
              <a:buClr>
                <a:schemeClr val="dk1"/>
              </a:buClr>
              <a:buSzPts val="1600"/>
              <a:buFont typeface="Arial" panose="020B0604020202020204" pitchFamily="34" charset="0"/>
              <a:buChar char="•"/>
            </a:pPr>
            <a:r>
              <a:rPr lang="en" sz="1600" b="1" dirty="0">
                <a:solidFill>
                  <a:schemeClr val="dk1"/>
                </a:solidFill>
                <a:latin typeface="Inter"/>
                <a:ea typeface="Inter"/>
                <a:cs typeface="Inter"/>
                <a:sym typeface="Inter"/>
              </a:rPr>
              <a:t>Strategic </a:t>
            </a:r>
            <a:r>
              <a:rPr lang="en" sz="1600" dirty="0">
                <a:solidFill>
                  <a:schemeClr val="dk1"/>
                </a:solidFill>
                <a:latin typeface="Inter"/>
                <a:ea typeface="Inter"/>
                <a:cs typeface="Inter"/>
                <a:sym typeface="Inter"/>
              </a:rPr>
              <a:t>(Exec leadership, CXOs)</a:t>
            </a:r>
            <a:endParaRPr sz="1600" dirty="0">
              <a:solidFill>
                <a:schemeClr val="dk1"/>
              </a:solidFill>
              <a:latin typeface="Inter"/>
              <a:ea typeface="Inter"/>
              <a:cs typeface="Inter"/>
              <a:sym typeface="Inter"/>
            </a:endParaRPr>
          </a:p>
          <a:p>
            <a:pPr marL="412750" lvl="0" indent="-285750" algn="l" rtl="0">
              <a:lnSpc>
                <a:spcPct val="115000"/>
              </a:lnSpc>
              <a:spcBef>
                <a:spcPts val="0"/>
              </a:spcBef>
              <a:spcAft>
                <a:spcPts val="0"/>
              </a:spcAft>
              <a:buClr>
                <a:schemeClr val="dk1"/>
              </a:buClr>
              <a:buSzPts val="1600"/>
              <a:buFont typeface="Arial" panose="020B0604020202020204" pitchFamily="34" charset="0"/>
              <a:buChar char="•"/>
            </a:pPr>
            <a:r>
              <a:rPr lang="en" sz="1600" b="1" dirty="0">
                <a:solidFill>
                  <a:schemeClr val="dk1"/>
                </a:solidFill>
                <a:latin typeface="Inter"/>
                <a:ea typeface="Inter"/>
                <a:cs typeface="Inter"/>
                <a:sym typeface="Inter"/>
              </a:rPr>
              <a:t>Operational </a:t>
            </a:r>
            <a:r>
              <a:rPr lang="en" sz="1600" dirty="0">
                <a:solidFill>
                  <a:schemeClr val="dk1"/>
                </a:solidFill>
                <a:latin typeface="Inter"/>
                <a:ea typeface="Inter"/>
                <a:cs typeface="Inter"/>
                <a:sym typeface="Inter"/>
              </a:rPr>
              <a:t>(Contracting, Tech Leads) - could be graphic </a:t>
            </a:r>
            <a:endParaRPr sz="1600" dirty="0">
              <a:solidFill>
                <a:schemeClr val="dk1"/>
              </a:solidFill>
              <a:latin typeface="Inter"/>
              <a:ea typeface="Inter"/>
              <a:cs typeface="Inter"/>
              <a:sym typeface="Inter"/>
            </a:endParaRPr>
          </a:p>
          <a:p>
            <a:pPr marL="412750" lvl="0" indent="-285750" algn="l" rtl="0">
              <a:lnSpc>
                <a:spcPct val="115000"/>
              </a:lnSpc>
              <a:spcBef>
                <a:spcPts val="0"/>
              </a:spcBef>
              <a:spcAft>
                <a:spcPts val="0"/>
              </a:spcAft>
              <a:buClr>
                <a:schemeClr val="dk1"/>
              </a:buClr>
              <a:buSzPts val="1600"/>
              <a:buFont typeface="Arial" panose="020B0604020202020204" pitchFamily="34" charset="0"/>
              <a:buChar char="•"/>
            </a:pPr>
            <a:r>
              <a:rPr lang="en" sz="1600" b="1" dirty="0">
                <a:solidFill>
                  <a:schemeClr val="dk1"/>
                </a:solidFill>
                <a:latin typeface="Inter"/>
                <a:ea typeface="Inter"/>
                <a:cs typeface="Inter"/>
                <a:sym typeface="Inter"/>
              </a:rPr>
              <a:t>Regulatory </a:t>
            </a:r>
            <a:r>
              <a:rPr lang="en" sz="1600" dirty="0">
                <a:solidFill>
                  <a:schemeClr val="dk1"/>
                </a:solidFill>
                <a:latin typeface="Inter"/>
                <a:ea typeface="Inter"/>
                <a:cs typeface="Inter"/>
                <a:sym typeface="Inter"/>
              </a:rPr>
              <a:t>(Privacy, Security, Legal)</a:t>
            </a:r>
            <a:endParaRPr sz="1600" dirty="0">
              <a:solidFill>
                <a:schemeClr val="dk1"/>
              </a:solidFill>
              <a:latin typeface="Inter"/>
              <a:ea typeface="Inter"/>
              <a:cs typeface="Inter"/>
              <a:sym typeface="Inter"/>
            </a:endParaRPr>
          </a:p>
          <a:p>
            <a:pPr marL="412750" lvl="0" indent="-285750" algn="l" rtl="0">
              <a:lnSpc>
                <a:spcPct val="115000"/>
              </a:lnSpc>
              <a:spcBef>
                <a:spcPts val="0"/>
              </a:spcBef>
              <a:spcAft>
                <a:spcPts val="0"/>
              </a:spcAft>
              <a:buClr>
                <a:schemeClr val="dk1"/>
              </a:buClr>
              <a:buSzPts val="1600"/>
              <a:buFont typeface="Arial" panose="020B0604020202020204" pitchFamily="34" charset="0"/>
              <a:buChar char="•"/>
            </a:pPr>
            <a:r>
              <a:rPr lang="en" sz="1600" b="1" dirty="0">
                <a:solidFill>
                  <a:schemeClr val="dk1"/>
                </a:solidFill>
                <a:latin typeface="Inter"/>
                <a:ea typeface="Inter"/>
                <a:cs typeface="Inter"/>
                <a:sym typeface="Inter"/>
              </a:rPr>
              <a:t>End Users</a:t>
            </a:r>
            <a:r>
              <a:rPr lang="en" sz="1600" dirty="0">
                <a:solidFill>
                  <a:schemeClr val="dk1"/>
                </a:solidFill>
                <a:latin typeface="Inter"/>
                <a:ea typeface="Inter"/>
                <a:cs typeface="Inter"/>
                <a:sym typeface="Inter"/>
              </a:rPr>
              <a:t> (Public, Internal staff)</a:t>
            </a:r>
            <a:endParaRPr sz="1600" dirty="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8"/>
        <p:cNvGrpSpPr/>
        <p:nvPr/>
      </p:nvGrpSpPr>
      <p:grpSpPr>
        <a:xfrm>
          <a:off x="0" y="0"/>
          <a:ext cx="0" cy="0"/>
          <a:chOff x="0" y="0"/>
          <a:chExt cx="0" cy="0"/>
        </a:xfrm>
      </p:grpSpPr>
      <p:sp>
        <p:nvSpPr>
          <p:cNvPr id="759" name="Google Shape;759;p100">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00"/>
          <p:cNvSpPr>
            <a:spLocks noGrp="1"/>
          </p:cNvSpPr>
          <p:nvPr>
            <p:ph type="title" idx="4294967295"/>
          </p:nvPr>
        </p:nvSpPr>
        <p:spPr>
          <a:xfrm>
            <a:off x="551100" y="611875"/>
            <a:ext cx="80418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Class Activity </a:t>
            </a:r>
            <a:endParaRPr kumimoji="0" lang="en-US" sz="2250" b="1" i="0" u="none" strike="noStrike" kern="0" cap="none" spc="0" normalizeH="0" baseline="0" noProof="0" dirty="0">
              <a:ln>
                <a:noFill/>
              </a:ln>
              <a:solidFill>
                <a:schemeClr val="dk1"/>
              </a:solidFill>
              <a:effectLst/>
              <a:uLnTx/>
              <a:uFillTx/>
              <a:latin typeface="Inter"/>
              <a:ea typeface="Inter"/>
              <a:cs typeface="Inter"/>
              <a:sym typeface="Inter"/>
            </a:endParaRPr>
          </a:p>
        </p:txBody>
      </p:sp>
      <p:sp>
        <p:nvSpPr>
          <p:cNvPr id="761" name="Google Shape;761;p100"/>
          <p:cNvSpPr/>
          <p:nvPr/>
        </p:nvSpPr>
        <p:spPr>
          <a:xfrm>
            <a:off x="609600" y="1242425"/>
            <a:ext cx="6767400" cy="1913100"/>
          </a:xfrm>
          <a:prstGeom prst="rect">
            <a:avLst/>
          </a:prstGeom>
          <a:noFill/>
          <a:ln>
            <a:noFill/>
          </a:ln>
        </p:spPr>
        <p:txBody>
          <a:bodyPr spcFirstLastPara="1" wrap="square" lIns="91425" tIns="45700" rIns="91425" bIns="45700" anchor="ctr" anchorCtr="0">
            <a:noAutofit/>
          </a:bodyPr>
          <a:lstStyle/>
          <a:p>
            <a:pPr marL="457200" lvl="0" indent="0" algn="ctr" rtl="0">
              <a:lnSpc>
                <a:spcPct val="115000"/>
              </a:lnSpc>
              <a:spcBef>
                <a:spcPts val="1200"/>
              </a:spcBef>
              <a:spcAft>
                <a:spcPts val="1200"/>
              </a:spcAft>
              <a:buNone/>
            </a:pPr>
            <a:r>
              <a:rPr lang="en" sz="2200" b="1" dirty="0">
                <a:solidFill>
                  <a:schemeClr val="dk1"/>
                </a:solidFill>
                <a:latin typeface="Inter"/>
                <a:ea typeface="Inter"/>
                <a:cs typeface="Inter"/>
                <a:sym typeface="Inter"/>
              </a:rPr>
              <a:t>Name that Stakeholder Type (Quiz) </a:t>
            </a:r>
            <a:endParaRPr sz="2200" b="1" dirty="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66"/>
        <p:cNvGrpSpPr/>
        <p:nvPr/>
      </p:nvGrpSpPr>
      <p:grpSpPr>
        <a:xfrm>
          <a:off x="0" y="0"/>
          <a:ext cx="0" cy="0"/>
          <a:chOff x="0" y="0"/>
          <a:chExt cx="0" cy="0"/>
        </a:xfrm>
      </p:grpSpPr>
      <p:sp>
        <p:nvSpPr>
          <p:cNvPr id="767" name="Google Shape;767;p101">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01"/>
          <p:cNvSpPr>
            <a:spLocks noGrp="1"/>
          </p:cNvSpPr>
          <p:nvPr>
            <p:ph type="title" idx="4294967295"/>
          </p:nvPr>
        </p:nvSpPr>
        <p:spPr>
          <a:xfrm>
            <a:off x="551100" y="611875"/>
            <a:ext cx="80418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Stakeholder Quiz </a:t>
            </a:r>
            <a:endParaRPr kumimoji="0" lang="en-US" sz="2250" b="1" i="0" u="none" strike="noStrike" kern="0" cap="none" spc="0" normalizeH="0" baseline="0" noProof="0" dirty="0">
              <a:ln>
                <a:noFill/>
              </a:ln>
              <a:solidFill>
                <a:schemeClr val="dk1"/>
              </a:solidFill>
              <a:effectLst/>
              <a:uLnTx/>
              <a:uFillTx/>
              <a:latin typeface="Inter"/>
              <a:ea typeface="Inter"/>
              <a:cs typeface="Inter"/>
              <a:sym typeface="Inter"/>
            </a:endParaRPr>
          </a:p>
        </p:txBody>
      </p:sp>
      <p:sp>
        <p:nvSpPr>
          <p:cNvPr id="769" name="Google Shape;769;p101"/>
          <p:cNvSpPr/>
          <p:nvPr/>
        </p:nvSpPr>
        <p:spPr>
          <a:xfrm>
            <a:off x="1056300" y="1615200"/>
            <a:ext cx="6767400" cy="19131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200"/>
              </a:spcBef>
              <a:spcAft>
                <a:spcPts val="1200"/>
              </a:spcAft>
              <a:buNone/>
            </a:pPr>
            <a:r>
              <a:rPr lang="en" sz="2100" dirty="0">
                <a:solidFill>
                  <a:schemeClr val="dk1"/>
                </a:solidFill>
                <a:latin typeface="Inter"/>
                <a:ea typeface="Inter"/>
                <a:cs typeface="Inter"/>
                <a:sym typeface="Inter"/>
              </a:rPr>
              <a:t>Deputy CIO who approves cloud services? </a:t>
            </a:r>
            <a:br>
              <a:rPr lang="en" sz="2100" dirty="0">
                <a:solidFill>
                  <a:schemeClr val="dk1"/>
                </a:solidFill>
                <a:latin typeface="Inter"/>
                <a:ea typeface="Inter"/>
                <a:cs typeface="Inter"/>
                <a:sym typeface="Inter"/>
              </a:rPr>
            </a:br>
            <a:br>
              <a:rPr lang="en" sz="2100" dirty="0">
                <a:solidFill>
                  <a:schemeClr val="dk1"/>
                </a:solidFill>
                <a:latin typeface="Inter"/>
                <a:ea typeface="Inter"/>
                <a:cs typeface="Inter"/>
                <a:sym typeface="Inter"/>
              </a:rPr>
            </a:br>
            <a:r>
              <a:rPr lang="en" sz="2100" b="1" dirty="0">
                <a:solidFill>
                  <a:schemeClr val="dk1"/>
                </a:solidFill>
                <a:latin typeface="Inter"/>
                <a:ea typeface="Inter"/>
                <a:cs typeface="Inter"/>
                <a:sym typeface="Inter"/>
              </a:rPr>
              <a:t>(Answer: Strategic Stakeholder) </a:t>
            </a:r>
            <a:endParaRPr sz="2200" b="1" dirty="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4"/>
        <p:cNvGrpSpPr/>
        <p:nvPr/>
      </p:nvGrpSpPr>
      <p:grpSpPr>
        <a:xfrm>
          <a:off x="0" y="0"/>
          <a:ext cx="0" cy="0"/>
          <a:chOff x="0" y="0"/>
          <a:chExt cx="0" cy="0"/>
        </a:xfrm>
      </p:grpSpPr>
      <p:sp>
        <p:nvSpPr>
          <p:cNvPr id="775" name="Google Shape;775;p102">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02"/>
          <p:cNvSpPr>
            <a:spLocks noGrp="1"/>
          </p:cNvSpPr>
          <p:nvPr>
            <p:ph type="title" idx="4294967295"/>
          </p:nvPr>
        </p:nvSpPr>
        <p:spPr>
          <a:xfrm>
            <a:off x="551100" y="611875"/>
            <a:ext cx="80418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Stakeholder Quiz </a:t>
            </a:r>
            <a:endParaRPr kumimoji="0" lang="en-US" sz="2250" b="1" i="0" u="none" strike="noStrike" kern="0" cap="none" spc="0" normalizeH="0" baseline="0" noProof="0" dirty="0">
              <a:ln>
                <a:noFill/>
              </a:ln>
              <a:solidFill>
                <a:schemeClr val="dk1"/>
              </a:solidFill>
              <a:effectLst/>
              <a:uLnTx/>
              <a:uFillTx/>
              <a:latin typeface="Inter"/>
              <a:ea typeface="Inter"/>
              <a:cs typeface="Inter"/>
              <a:sym typeface="Inter"/>
            </a:endParaRPr>
          </a:p>
        </p:txBody>
      </p:sp>
      <p:sp>
        <p:nvSpPr>
          <p:cNvPr id="777" name="Google Shape;777;p102"/>
          <p:cNvSpPr/>
          <p:nvPr/>
        </p:nvSpPr>
        <p:spPr>
          <a:xfrm>
            <a:off x="1094600" y="1615200"/>
            <a:ext cx="6767400" cy="19131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200"/>
              </a:spcBef>
              <a:spcAft>
                <a:spcPts val="1200"/>
              </a:spcAft>
              <a:buClr>
                <a:schemeClr val="dk1"/>
              </a:buClr>
              <a:buSzPts val="1100"/>
              <a:buFont typeface="Arial"/>
              <a:buNone/>
            </a:pPr>
            <a:r>
              <a:rPr lang="en" sz="2100" dirty="0">
                <a:solidFill>
                  <a:schemeClr val="dk1"/>
                </a:solidFill>
                <a:latin typeface="Inter"/>
                <a:ea typeface="Inter"/>
                <a:cs typeface="Inter"/>
                <a:sym typeface="Inter"/>
              </a:rPr>
              <a:t>Veteran Applying for Benefits Online </a:t>
            </a:r>
            <a:br>
              <a:rPr lang="en" sz="2100" dirty="0">
                <a:solidFill>
                  <a:schemeClr val="dk1"/>
                </a:solidFill>
                <a:latin typeface="Inter"/>
                <a:ea typeface="Inter"/>
                <a:cs typeface="Inter"/>
                <a:sym typeface="Inter"/>
              </a:rPr>
            </a:br>
            <a:br>
              <a:rPr lang="en" sz="2100" dirty="0">
                <a:solidFill>
                  <a:schemeClr val="dk1"/>
                </a:solidFill>
                <a:latin typeface="Inter"/>
                <a:ea typeface="Inter"/>
                <a:cs typeface="Inter"/>
                <a:sym typeface="Inter"/>
              </a:rPr>
            </a:br>
            <a:r>
              <a:rPr lang="en" sz="2100" b="1" dirty="0">
                <a:solidFill>
                  <a:schemeClr val="dk1"/>
                </a:solidFill>
                <a:latin typeface="Inter"/>
                <a:ea typeface="Inter"/>
                <a:cs typeface="Inter"/>
                <a:sym typeface="Inter"/>
              </a:rPr>
              <a:t>(Answer: Customer) </a:t>
            </a:r>
            <a:endParaRPr sz="2200" b="1" dirty="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2"/>
        <p:cNvGrpSpPr/>
        <p:nvPr/>
      </p:nvGrpSpPr>
      <p:grpSpPr>
        <a:xfrm>
          <a:off x="0" y="0"/>
          <a:ext cx="0" cy="0"/>
          <a:chOff x="0" y="0"/>
          <a:chExt cx="0" cy="0"/>
        </a:xfrm>
      </p:grpSpPr>
      <p:sp>
        <p:nvSpPr>
          <p:cNvPr id="783" name="Google Shape;783;p103">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03"/>
          <p:cNvSpPr>
            <a:spLocks noGrp="1"/>
          </p:cNvSpPr>
          <p:nvPr>
            <p:ph type="title" idx="4294967295"/>
          </p:nvPr>
        </p:nvSpPr>
        <p:spPr>
          <a:xfrm>
            <a:off x="551100" y="611875"/>
            <a:ext cx="80418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Stakeholder Quiz </a:t>
            </a:r>
            <a:endParaRPr kumimoji="0" lang="en-US" sz="2250" b="1" i="0" u="none" strike="noStrike" kern="0" cap="none" spc="0" normalizeH="0" baseline="0" noProof="0" dirty="0">
              <a:ln>
                <a:noFill/>
              </a:ln>
              <a:solidFill>
                <a:schemeClr val="dk1"/>
              </a:solidFill>
              <a:effectLst/>
              <a:uLnTx/>
              <a:uFillTx/>
              <a:latin typeface="Inter"/>
              <a:ea typeface="Inter"/>
              <a:cs typeface="Inter"/>
              <a:sym typeface="Inter"/>
            </a:endParaRPr>
          </a:p>
        </p:txBody>
      </p:sp>
      <p:sp>
        <p:nvSpPr>
          <p:cNvPr id="785" name="Google Shape;785;p103"/>
          <p:cNvSpPr/>
          <p:nvPr/>
        </p:nvSpPr>
        <p:spPr>
          <a:xfrm>
            <a:off x="1094600" y="1615200"/>
            <a:ext cx="6767400" cy="19131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200"/>
              </a:spcBef>
              <a:spcAft>
                <a:spcPts val="1200"/>
              </a:spcAft>
              <a:buClr>
                <a:schemeClr val="dk1"/>
              </a:buClr>
              <a:buSzPts val="1100"/>
              <a:buFont typeface="Arial"/>
              <a:buNone/>
            </a:pPr>
            <a:r>
              <a:rPr lang="en" sz="2100" dirty="0">
                <a:solidFill>
                  <a:schemeClr val="dk1"/>
                </a:solidFill>
                <a:latin typeface="Inter"/>
                <a:ea typeface="Inter"/>
                <a:cs typeface="Inter"/>
                <a:sym typeface="Inter"/>
              </a:rPr>
              <a:t>Benefits Call Center Representative</a:t>
            </a:r>
            <a:br>
              <a:rPr lang="en" sz="2100" dirty="0">
                <a:solidFill>
                  <a:schemeClr val="dk1"/>
                </a:solidFill>
                <a:latin typeface="Inter"/>
                <a:ea typeface="Inter"/>
                <a:cs typeface="Inter"/>
                <a:sym typeface="Inter"/>
              </a:rPr>
            </a:br>
            <a:br>
              <a:rPr lang="en" sz="2100" dirty="0">
                <a:solidFill>
                  <a:schemeClr val="dk1"/>
                </a:solidFill>
                <a:latin typeface="Inter"/>
                <a:ea typeface="Inter"/>
                <a:cs typeface="Inter"/>
                <a:sym typeface="Inter"/>
              </a:rPr>
            </a:br>
            <a:r>
              <a:rPr lang="en" sz="2100" b="1" dirty="0">
                <a:solidFill>
                  <a:schemeClr val="dk1"/>
                </a:solidFill>
                <a:latin typeface="Inter"/>
                <a:ea typeface="Inter"/>
                <a:cs typeface="Inter"/>
                <a:sym typeface="Inter"/>
              </a:rPr>
              <a:t>(Answer: End User) </a:t>
            </a:r>
            <a:endParaRPr sz="2100" b="1" dirty="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0"/>
        <p:cNvGrpSpPr/>
        <p:nvPr/>
      </p:nvGrpSpPr>
      <p:grpSpPr>
        <a:xfrm>
          <a:off x="0" y="0"/>
          <a:ext cx="0" cy="0"/>
          <a:chOff x="0" y="0"/>
          <a:chExt cx="0" cy="0"/>
        </a:xfrm>
      </p:grpSpPr>
      <p:sp>
        <p:nvSpPr>
          <p:cNvPr id="791" name="Google Shape;791;p104">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04"/>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Common Stakeholder Mapping Mistakes </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793" name="Google Shape;793;p104"/>
          <p:cNvSpPr/>
          <p:nvPr/>
        </p:nvSpPr>
        <p:spPr>
          <a:xfrm>
            <a:off x="609600" y="2370075"/>
            <a:ext cx="7354500" cy="1308000"/>
          </a:xfrm>
          <a:prstGeom prst="rect">
            <a:avLst/>
          </a:prstGeom>
          <a:noFill/>
          <a:ln>
            <a:noFill/>
          </a:ln>
        </p:spPr>
        <p:txBody>
          <a:bodyPr spcFirstLastPara="1" wrap="square" lIns="91425" tIns="45700" rIns="91425" bIns="45700" anchor="ctr" anchorCtr="0">
            <a:noAutofit/>
          </a:bodyPr>
          <a:lstStyle/>
          <a:p>
            <a:pPr marL="406400" lvl="0" indent="-285750" algn="l" rtl="0">
              <a:spcBef>
                <a:spcPts val="0"/>
              </a:spcBef>
              <a:spcAft>
                <a:spcPts val="0"/>
              </a:spcAft>
              <a:buClr>
                <a:schemeClr val="dk1"/>
              </a:buClr>
              <a:buSzPts val="1700"/>
              <a:buFont typeface="Arial" panose="020B0604020202020204" pitchFamily="34" charset="0"/>
              <a:buChar char="•"/>
            </a:pPr>
            <a:r>
              <a:rPr lang="en" sz="1600" dirty="0">
                <a:solidFill>
                  <a:schemeClr val="dk1"/>
                </a:solidFill>
                <a:latin typeface="Inter"/>
                <a:ea typeface="Inter"/>
                <a:cs typeface="Inter"/>
                <a:sym typeface="Inter"/>
              </a:rPr>
              <a:t>Mapping only based on title or org chart</a:t>
            </a:r>
            <a:endParaRPr sz="1600" dirty="0">
              <a:solidFill>
                <a:schemeClr val="dk1"/>
              </a:solidFill>
              <a:latin typeface="Inter"/>
              <a:ea typeface="Inter"/>
              <a:cs typeface="Inter"/>
              <a:sym typeface="Inter"/>
            </a:endParaRPr>
          </a:p>
          <a:p>
            <a:pPr marL="406400" lvl="0" indent="-285750" algn="l" rtl="0">
              <a:spcBef>
                <a:spcPts val="0"/>
              </a:spcBef>
              <a:spcAft>
                <a:spcPts val="0"/>
              </a:spcAft>
              <a:buClr>
                <a:schemeClr val="dk1"/>
              </a:buClr>
              <a:buSzPts val="1700"/>
              <a:buFont typeface="Arial" panose="020B0604020202020204" pitchFamily="34" charset="0"/>
              <a:buChar char="•"/>
            </a:pPr>
            <a:r>
              <a:rPr lang="en" sz="1600" dirty="0">
                <a:solidFill>
                  <a:schemeClr val="dk1"/>
                </a:solidFill>
                <a:latin typeface="Inter"/>
                <a:ea typeface="Inter"/>
                <a:cs typeface="Inter"/>
                <a:sym typeface="Inter"/>
              </a:rPr>
              <a:t>Ignoring behind-the-scenes influencers (like admin officers or project analysts who have influence with leadership)</a:t>
            </a:r>
            <a:endParaRPr sz="1600" dirty="0">
              <a:solidFill>
                <a:schemeClr val="dk1"/>
              </a:solidFill>
              <a:latin typeface="Inter"/>
              <a:ea typeface="Inter"/>
              <a:cs typeface="Inter"/>
              <a:sym typeface="Inter"/>
            </a:endParaRPr>
          </a:p>
          <a:p>
            <a:pPr marL="406400" lvl="0" indent="-285750" algn="l" rtl="0">
              <a:spcBef>
                <a:spcPts val="0"/>
              </a:spcBef>
              <a:spcAft>
                <a:spcPts val="0"/>
              </a:spcAft>
              <a:buClr>
                <a:schemeClr val="dk1"/>
              </a:buClr>
              <a:buSzPts val="1700"/>
              <a:buFont typeface="Arial" panose="020B0604020202020204" pitchFamily="34" charset="0"/>
              <a:buChar char="•"/>
            </a:pPr>
            <a:r>
              <a:rPr lang="en" sz="1600" dirty="0">
                <a:solidFill>
                  <a:schemeClr val="dk1"/>
                </a:solidFill>
                <a:latin typeface="Inter"/>
                <a:ea typeface="Inter"/>
                <a:cs typeface="Inter"/>
                <a:sym typeface="Inter"/>
              </a:rPr>
              <a:t>Forgetting contractors, policy advisors, or legal reviewers</a:t>
            </a:r>
            <a:br>
              <a:rPr lang="en" sz="1600" dirty="0">
                <a:solidFill>
                  <a:schemeClr val="dk1"/>
                </a:solidFill>
                <a:latin typeface="Inter"/>
                <a:ea typeface="Inter"/>
                <a:cs typeface="Inter"/>
                <a:sym typeface="Inter"/>
              </a:rPr>
            </a:br>
            <a:r>
              <a:rPr lang="en" sz="1600" dirty="0">
                <a:solidFill>
                  <a:schemeClr val="dk1"/>
                </a:solidFill>
                <a:latin typeface="Inter"/>
                <a:ea typeface="Inter"/>
                <a:cs typeface="Inter"/>
                <a:sym typeface="Inter"/>
              </a:rPr>
              <a:t>Underestimating interest shifts during different phases of a project</a:t>
            </a:r>
            <a:endParaRPr sz="1600" dirty="0">
              <a:solidFill>
                <a:schemeClr val="dk1"/>
              </a:solidFill>
              <a:latin typeface="Inter"/>
              <a:ea typeface="Inter"/>
              <a:cs typeface="Inter"/>
              <a:sym typeface="Inter"/>
            </a:endParaRPr>
          </a:p>
          <a:p>
            <a:pPr marL="0" marR="0" lvl="0" indent="0" algn="l" rtl="0">
              <a:lnSpc>
                <a:spcPct val="140000"/>
              </a:lnSpc>
              <a:spcBef>
                <a:spcPts val="1200"/>
              </a:spcBef>
              <a:spcAft>
                <a:spcPts val="0"/>
              </a:spcAft>
              <a:buClr>
                <a:srgbClr val="000000"/>
              </a:buClr>
              <a:buSzPts val="1350"/>
              <a:buFont typeface="Inter"/>
              <a:buNone/>
            </a:pPr>
            <a:endParaRPr sz="1350" dirty="0">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8"/>
        <p:cNvGrpSpPr/>
        <p:nvPr/>
      </p:nvGrpSpPr>
      <p:grpSpPr>
        <a:xfrm>
          <a:off x="0" y="0"/>
          <a:ext cx="0" cy="0"/>
          <a:chOff x="0" y="0"/>
          <a:chExt cx="0" cy="0"/>
        </a:xfrm>
      </p:grpSpPr>
      <p:sp>
        <p:nvSpPr>
          <p:cNvPr id="799" name="Google Shape;799;p105">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05"/>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00" b="1" i="0" u="none" strike="noStrike" kern="0" cap="none" spc="0" normalizeH="0" baseline="0" noProof="0" dirty="0">
                <a:ln>
                  <a:noFill/>
                </a:ln>
                <a:solidFill>
                  <a:srgbClr val="000000"/>
                </a:solidFill>
                <a:effectLst/>
                <a:uLnTx/>
                <a:uFillTx/>
                <a:latin typeface="Inter"/>
                <a:ea typeface="Inter"/>
                <a:cs typeface="Inter"/>
                <a:sym typeface="Inter"/>
              </a:rPr>
              <a:t>Optional Activity: Power Matrix </a:t>
            </a:r>
            <a:endParaRPr kumimoji="0" lang="en-US" sz="22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graphicFrame>
        <p:nvGraphicFramePr>
          <p:cNvPr id="801" name="Google Shape;801;p105"/>
          <p:cNvGraphicFramePr/>
          <p:nvPr>
            <p:extLst>
              <p:ext uri="{D42A27DB-BD31-4B8C-83A1-F6EECF244321}">
                <p14:modId xmlns:p14="http://schemas.microsoft.com/office/powerpoint/2010/main" val="209919453"/>
              </p:ext>
            </p:extLst>
          </p:nvPr>
        </p:nvGraphicFramePr>
        <p:xfrm>
          <a:off x="952500" y="1619250"/>
          <a:ext cx="7239000" cy="2845750"/>
        </p:xfrm>
        <a:graphic>
          <a:graphicData uri="http://schemas.openxmlformats.org/drawingml/2006/table">
            <a:tbl>
              <a:tblPr firstRow="1">
                <a:noFill/>
                <a:tableStyleId>{B07BE7ED-69B6-4617-9742-D4B8E28752A2}</a:tableStyleId>
              </a:tblPr>
              <a:tblGrid>
                <a:gridCol w="2334039">
                  <a:extLst>
                    <a:ext uri="{9D8B030D-6E8A-4147-A177-3AD203B41FA5}">
                      <a16:colId xmlns:a16="http://schemas.microsoft.com/office/drawing/2014/main" val="20000"/>
                    </a:ext>
                  </a:extLst>
                </a:gridCol>
                <a:gridCol w="2491961">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616550">
                <a:tc>
                  <a:txBody>
                    <a:bodyPr/>
                    <a:lstStyle/>
                    <a:p>
                      <a:pPr marL="0" lvl="0" indent="0" algn="l" rtl="0">
                        <a:spcBef>
                          <a:spcPts val="0"/>
                        </a:spcBef>
                        <a:spcAft>
                          <a:spcPts val="0"/>
                        </a:spcAft>
                        <a:buNone/>
                      </a:pPr>
                      <a:endParaRPr sz="1600">
                        <a:latin typeface="Inter"/>
                        <a:ea typeface="Inter"/>
                        <a:cs typeface="Inter"/>
                        <a:sym typeface="Inter"/>
                      </a:endParaRPr>
                    </a:p>
                  </a:txBody>
                  <a:tcPr marL="91425" marR="91425" marT="91425" marB="91425"/>
                </a:tc>
                <a:tc>
                  <a:txBody>
                    <a:bodyPr/>
                    <a:lstStyle/>
                    <a:p>
                      <a:pPr marL="0" lvl="0" indent="0" algn="ctr" rtl="0">
                        <a:spcBef>
                          <a:spcPts val="0"/>
                        </a:spcBef>
                        <a:spcAft>
                          <a:spcPts val="0"/>
                        </a:spcAft>
                        <a:buNone/>
                      </a:pPr>
                      <a:r>
                        <a:rPr lang="en-US" sz="1600" b="1" dirty="0">
                          <a:latin typeface="Inter"/>
                          <a:ea typeface="Inter"/>
                          <a:cs typeface="Inter"/>
                          <a:sym typeface="Inter"/>
                        </a:rPr>
                        <a:t>High Interest</a:t>
                      </a:r>
                      <a:endParaRPr sz="1600" b="1" dirty="0">
                        <a:latin typeface="Inter"/>
                        <a:ea typeface="Inter"/>
                        <a:cs typeface="Inter"/>
                        <a:sym typeface="Inter"/>
                      </a:endParaRPr>
                    </a:p>
                  </a:txBody>
                  <a:tcPr marL="91425" marR="91425" marT="91425" marB="91425" anchor="ctr"/>
                </a:tc>
                <a:tc>
                  <a:txBody>
                    <a:bodyPr/>
                    <a:lstStyle/>
                    <a:p>
                      <a:pPr marL="0" lvl="0" indent="0" algn="ctr" rtl="0">
                        <a:spcBef>
                          <a:spcPts val="0"/>
                        </a:spcBef>
                        <a:spcAft>
                          <a:spcPts val="0"/>
                        </a:spcAft>
                        <a:buNone/>
                      </a:pPr>
                      <a:r>
                        <a:rPr lang="en-US" sz="1600" b="1" dirty="0">
                          <a:latin typeface="Inter"/>
                          <a:ea typeface="Inter"/>
                          <a:cs typeface="Inter"/>
                          <a:sym typeface="Inter"/>
                        </a:rPr>
                        <a:t>Low Interest</a:t>
                      </a:r>
                      <a:endParaRPr sz="1600" b="1" dirty="0">
                        <a:latin typeface="Inter"/>
                        <a:ea typeface="Inter"/>
                        <a:cs typeface="Inter"/>
                        <a:sym typeface="Inter"/>
                      </a:endParaRPr>
                    </a:p>
                  </a:txBody>
                  <a:tcPr marL="91425" marR="91425" marT="91425" marB="91425" anchor="ctr"/>
                </a:tc>
                <a:extLst>
                  <a:ext uri="{0D108BD9-81ED-4DB2-BD59-A6C34878D82A}">
                    <a16:rowId xmlns:a16="http://schemas.microsoft.com/office/drawing/2014/main" val="3522409318"/>
                  </a:ext>
                </a:extLst>
              </a:tr>
              <a:tr h="1280625">
                <a:tc>
                  <a:txBody>
                    <a:bodyPr/>
                    <a:lstStyle/>
                    <a:p>
                      <a:pPr marL="0" lvl="0" indent="0" algn="l" rtl="0">
                        <a:spcBef>
                          <a:spcPts val="0"/>
                        </a:spcBef>
                        <a:spcAft>
                          <a:spcPts val="0"/>
                        </a:spcAft>
                        <a:buNone/>
                      </a:pPr>
                      <a:r>
                        <a:rPr lang="en" sz="1600" b="1" dirty="0">
                          <a:latin typeface="Inter"/>
                          <a:ea typeface="Inter"/>
                          <a:cs typeface="Inter"/>
                          <a:sym typeface="Inter"/>
                        </a:rPr>
                        <a:t>High Influence (Key stakeholders, e.g. SES, program leaders)</a:t>
                      </a:r>
                      <a:endParaRPr sz="1600" b="1" dirty="0">
                        <a:latin typeface="Inter"/>
                        <a:ea typeface="Inter"/>
                        <a:cs typeface="Inter"/>
                        <a:sym typeface="Inter"/>
                      </a:endParaRPr>
                    </a:p>
                  </a:txBody>
                  <a:tcPr marL="91425" marR="91425" marT="91425" marB="91425" anchor="ctr"/>
                </a:tc>
                <a:tc>
                  <a:txBody>
                    <a:bodyPr/>
                    <a:lstStyle/>
                    <a:p>
                      <a:pPr marL="0" lvl="0" indent="0" algn="ctr" rtl="0">
                        <a:spcBef>
                          <a:spcPts val="0"/>
                        </a:spcBef>
                        <a:spcAft>
                          <a:spcPts val="0"/>
                        </a:spcAft>
                        <a:buNone/>
                      </a:pPr>
                      <a:r>
                        <a:rPr lang="en" sz="1600" dirty="0">
                          <a:latin typeface="Inter"/>
                          <a:ea typeface="Inter"/>
                          <a:cs typeface="Inter"/>
                          <a:sym typeface="Inter"/>
                        </a:rPr>
                        <a:t>Manage Closely </a:t>
                      </a:r>
                      <a:endParaRPr sz="1600" dirty="0">
                        <a:latin typeface="Inter"/>
                        <a:ea typeface="Inter"/>
                        <a:cs typeface="Inter"/>
                        <a:sym typeface="Inter"/>
                      </a:endParaRPr>
                    </a:p>
                  </a:txBody>
                  <a:tcPr marL="91425" marR="91425" marT="91425" marB="91425" anchor="ctr"/>
                </a:tc>
                <a:tc>
                  <a:txBody>
                    <a:bodyPr/>
                    <a:lstStyle/>
                    <a:p>
                      <a:pPr marL="0" lvl="0" indent="0" algn="ctr" rtl="0">
                        <a:spcBef>
                          <a:spcPts val="0"/>
                        </a:spcBef>
                        <a:spcAft>
                          <a:spcPts val="0"/>
                        </a:spcAft>
                        <a:buNone/>
                      </a:pPr>
                      <a:r>
                        <a:rPr lang="en" sz="1600" dirty="0">
                          <a:latin typeface="Inter"/>
                          <a:ea typeface="Inter"/>
                          <a:cs typeface="Inter"/>
                          <a:sym typeface="Inter"/>
                        </a:rPr>
                        <a:t>Keep Satisfied</a:t>
                      </a:r>
                      <a:endParaRPr sz="1600" dirty="0">
                        <a:latin typeface="Inter"/>
                        <a:ea typeface="Inter"/>
                        <a:cs typeface="Inter"/>
                        <a:sym typeface="Inter"/>
                      </a:endParaRPr>
                    </a:p>
                  </a:txBody>
                  <a:tcPr marL="91425" marR="91425" marT="91425" marB="91425" anchor="ctr"/>
                </a:tc>
                <a:extLst>
                  <a:ext uri="{0D108BD9-81ED-4DB2-BD59-A6C34878D82A}">
                    <a16:rowId xmlns:a16="http://schemas.microsoft.com/office/drawing/2014/main" val="10001"/>
                  </a:ext>
                </a:extLst>
              </a:tr>
              <a:tr h="948575">
                <a:tc>
                  <a:txBody>
                    <a:bodyPr/>
                    <a:lstStyle/>
                    <a:p>
                      <a:pPr marL="0" lvl="0" indent="0" algn="l" rtl="0">
                        <a:spcBef>
                          <a:spcPts val="0"/>
                        </a:spcBef>
                        <a:spcAft>
                          <a:spcPts val="0"/>
                        </a:spcAft>
                        <a:buNone/>
                      </a:pPr>
                      <a:r>
                        <a:rPr lang="en" sz="1600" b="1" dirty="0">
                          <a:latin typeface="Inter"/>
                          <a:ea typeface="Inter"/>
                          <a:cs typeface="Inter"/>
                          <a:sym typeface="Inter"/>
                        </a:rPr>
                        <a:t>Low Influence </a:t>
                      </a:r>
                      <a:r>
                        <a:rPr lang="en" sz="1600" b="1" dirty="0">
                          <a:solidFill>
                            <a:srgbClr val="000000"/>
                          </a:solidFill>
                          <a:latin typeface="Inter"/>
                          <a:ea typeface="Inter"/>
                          <a:cs typeface="Inter"/>
                          <a:sym typeface="Inter"/>
                        </a:rPr>
                        <a:t>(less involved, low-impact)</a:t>
                      </a:r>
                      <a:r>
                        <a:rPr lang="en" sz="1600" b="1" dirty="0">
                          <a:latin typeface="Inter"/>
                          <a:ea typeface="Inter"/>
                          <a:cs typeface="Inter"/>
                          <a:sym typeface="Inter"/>
                        </a:rPr>
                        <a:t> </a:t>
                      </a:r>
                      <a:endParaRPr sz="1600" b="1" dirty="0">
                        <a:latin typeface="Inter"/>
                        <a:ea typeface="Inter"/>
                        <a:cs typeface="Inter"/>
                        <a:sym typeface="Inter"/>
                      </a:endParaRPr>
                    </a:p>
                  </a:txBody>
                  <a:tcPr marL="91425" marR="91425" marT="91425" marB="91425" anchor="ctr"/>
                </a:tc>
                <a:tc>
                  <a:txBody>
                    <a:bodyPr/>
                    <a:lstStyle/>
                    <a:p>
                      <a:pPr marL="0" lvl="0" indent="0" algn="ctr" rtl="0">
                        <a:spcBef>
                          <a:spcPts val="0"/>
                        </a:spcBef>
                        <a:spcAft>
                          <a:spcPts val="0"/>
                        </a:spcAft>
                        <a:buNone/>
                      </a:pPr>
                      <a:r>
                        <a:rPr lang="en" sz="1600" dirty="0">
                          <a:latin typeface="Inter"/>
                          <a:ea typeface="Inter"/>
                          <a:cs typeface="Inter"/>
                          <a:sym typeface="Inter"/>
                        </a:rPr>
                        <a:t>Keep informed </a:t>
                      </a:r>
                      <a:endParaRPr sz="1600" dirty="0">
                        <a:latin typeface="Inter"/>
                        <a:ea typeface="Inter"/>
                        <a:cs typeface="Inter"/>
                        <a:sym typeface="Inter"/>
                      </a:endParaRPr>
                    </a:p>
                  </a:txBody>
                  <a:tcPr marL="91425" marR="91425" marT="91425" marB="91425" anchor="ctr"/>
                </a:tc>
                <a:tc>
                  <a:txBody>
                    <a:bodyPr/>
                    <a:lstStyle/>
                    <a:p>
                      <a:pPr marL="0" lvl="0" indent="0" algn="ctr" rtl="0">
                        <a:spcBef>
                          <a:spcPts val="0"/>
                        </a:spcBef>
                        <a:spcAft>
                          <a:spcPts val="0"/>
                        </a:spcAft>
                        <a:buNone/>
                      </a:pPr>
                      <a:r>
                        <a:rPr lang="en" sz="1600" dirty="0">
                          <a:latin typeface="Inter"/>
                          <a:ea typeface="Inter"/>
                          <a:cs typeface="Inter"/>
                          <a:sym typeface="Inter"/>
                        </a:rPr>
                        <a:t>Monitor (minimal effort) </a:t>
                      </a:r>
                      <a:endParaRPr sz="1600" dirty="0">
                        <a:latin typeface="Inter"/>
                        <a:ea typeface="Inter"/>
                        <a:cs typeface="Inter"/>
                        <a:sym typeface="Inter"/>
                      </a:endParaRPr>
                    </a:p>
                  </a:txBody>
                  <a:tcPr marL="91425" marR="91425" marT="91425" marB="91425"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6"/>
        <p:cNvGrpSpPr/>
        <p:nvPr/>
      </p:nvGrpSpPr>
      <p:grpSpPr>
        <a:xfrm>
          <a:off x="0" y="0"/>
          <a:ext cx="0" cy="0"/>
          <a:chOff x="0" y="0"/>
          <a:chExt cx="0" cy="0"/>
        </a:xfrm>
      </p:grpSpPr>
      <p:sp>
        <p:nvSpPr>
          <p:cNvPr id="807" name="Google Shape;807;p106">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06"/>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What Drives Them: Stakeholder Psychology 101 </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graphicFrame>
        <p:nvGraphicFramePr>
          <p:cNvPr id="809" name="Google Shape;809;p106"/>
          <p:cNvGraphicFramePr/>
          <p:nvPr>
            <p:extLst>
              <p:ext uri="{D42A27DB-BD31-4B8C-83A1-F6EECF244321}">
                <p14:modId xmlns:p14="http://schemas.microsoft.com/office/powerpoint/2010/main" val="2933089335"/>
              </p:ext>
            </p:extLst>
          </p:nvPr>
        </p:nvGraphicFramePr>
        <p:xfrm>
          <a:off x="952500" y="1164855"/>
          <a:ext cx="7239000" cy="3474600"/>
        </p:xfrm>
        <a:graphic>
          <a:graphicData uri="http://schemas.openxmlformats.org/drawingml/2006/table">
            <a:tbl>
              <a:tblPr firstRow="1">
                <a:noFill/>
                <a:tableStyleId>{B07BE7ED-69B6-4617-9742-D4B8E28752A2}</a:tableStyleId>
              </a:tblPr>
              <a:tblGrid>
                <a:gridCol w="2292125">
                  <a:extLst>
                    <a:ext uri="{9D8B030D-6E8A-4147-A177-3AD203B41FA5}">
                      <a16:colId xmlns:a16="http://schemas.microsoft.com/office/drawing/2014/main" val="20000"/>
                    </a:ext>
                  </a:extLst>
                </a:gridCol>
                <a:gridCol w="4946875">
                  <a:extLst>
                    <a:ext uri="{9D8B030D-6E8A-4147-A177-3AD203B41FA5}">
                      <a16:colId xmlns:a16="http://schemas.microsoft.com/office/drawing/2014/main" val="20001"/>
                    </a:ext>
                  </a:extLst>
                </a:gridCol>
              </a:tblGrid>
              <a:tr h="349750">
                <a:tc>
                  <a:txBody>
                    <a:bodyPr/>
                    <a:lstStyle/>
                    <a:p>
                      <a:pPr marL="0" lvl="0" indent="0" algn="l" rtl="0">
                        <a:spcBef>
                          <a:spcPts val="0"/>
                        </a:spcBef>
                        <a:spcAft>
                          <a:spcPts val="0"/>
                        </a:spcAft>
                        <a:buNone/>
                      </a:pPr>
                      <a:r>
                        <a:rPr lang="en-US" sz="1500" b="1" dirty="0">
                          <a:latin typeface="Inter"/>
                          <a:ea typeface="Inter"/>
                          <a:cs typeface="Inter"/>
                          <a:sym typeface="Inter"/>
                        </a:rPr>
                        <a:t>Zone</a:t>
                      </a:r>
                      <a:endParaRPr sz="1500" b="1" dirty="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US" sz="1500" b="1" dirty="0">
                          <a:latin typeface="Inter"/>
                          <a:ea typeface="Inter"/>
                          <a:cs typeface="Inter"/>
                          <a:sym typeface="Inter"/>
                        </a:rPr>
                        <a:t>Traits or Behaviors</a:t>
                      </a:r>
                      <a:endParaRPr sz="1500" b="1" dirty="0">
                        <a:latin typeface="Inter"/>
                        <a:ea typeface="Inter"/>
                        <a:cs typeface="Inter"/>
                        <a:sym typeface="Inter"/>
                      </a:endParaRPr>
                    </a:p>
                  </a:txBody>
                  <a:tcPr marL="91425" marR="91425" marT="91425" marB="91425"/>
                </a:tc>
                <a:extLst>
                  <a:ext uri="{0D108BD9-81ED-4DB2-BD59-A6C34878D82A}">
                    <a16:rowId xmlns:a16="http://schemas.microsoft.com/office/drawing/2014/main" val="3147043842"/>
                  </a:ext>
                </a:extLst>
              </a:tr>
              <a:tr h="834100">
                <a:tc>
                  <a:txBody>
                    <a:bodyPr/>
                    <a:lstStyle/>
                    <a:p>
                      <a:pPr marL="0" lvl="0" indent="0" algn="l" rtl="0">
                        <a:spcBef>
                          <a:spcPts val="0"/>
                        </a:spcBef>
                        <a:spcAft>
                          <a:spcPts val="0"/>
                        </a:spcAft>
                        <a:buClr>
                          <a:srgbClr val="000000"/>
                        </a:buClr>
                        <a:buSzPts val="1100"/>
                        <a:buFont typeface="Arial"/>
                        <a:buNone/>
                      </a:pPr>
                      <a:r>
                        <a:rPr lang="en" sz="1500" b="1" dirty="0">
                          <a:solidFill>
                            <a:srgbClr val="000000"/>
                          </a:solidFill>
                          <a:latin typeface="Inter"/>
                          <a:ea typeface="Inter"/>
                          <a:cs typeface="Inter"/>
                          <a:sym typeface="Inter"/>
                        </a:rPr>
                        <a:t>🟥 Risk-Averse </a:t>
                      </a:r>
                      <a:endParaRPr sz="1500" b="1" dirty="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Clr>
                          <a:srgbClr val="000000"/>
                        </a:buClr>
                        <a:buSzPts val="1100"/>
                        <a:buFont typeface="Arial"/>
                        <a:buNone/>
                      </a:pPr>
                      <a:r>
                        <a:rPr lang="en" sz="1500" dirty="0">
                          <a:latin typeface="Inter"/>
                          <a:ea typeface="Inter"/>
                          <a:cs typeface="Inter"/>
                          <a:sym typeface="Inter"/>
                        </a:rPr>
                        <a:t>Avoids uncertainty</a:t>
                      </a:r>
                      <a:br>
                        <a:rPr lang="en" sz="1500" dirty="0">
                          <a:latin typeface="Inter"/>
                          <a:ea typeface="Inter"/>
                          <a:cs typeface="Inter"/>
                          <a:sym typeface="Inter"/>
                        </a:rPr>
                      </a:br>
                      <a:r>
                        <a:rPr lang="en" sz="1500" dirty="0">
                          <a:latin typeface="Inter"/>
                          <a:ea typeface="Inter"/>
                          <a:cs typeface="Inter"/>
                          <a:sym typeface="Inter"/>
                        </a:rPr>
                        <a:t>Focused on policy compliance</a:t>
                      </a:r>
                      <a:endParaRPr sz="1500" dirty="0">
                        <a:latin typeface="Inter"/>
                        <a:ea typeface="Inter"/>
                        <a:cs typeface="Inter"/>
                        <a:sym typeface="Inter"/>
                      </a:endParaRPr>
                    </a:p>
                    <a:p>
                      <a:pPr marL="0" lvl="0" indent="0" algn="l" rtl="0">
                        <a:spcBef>
                          <a:spcPts val="0"/>
                        </a:spcBef>
                        <a:spcAft>
                          <a:spcPts val="0"/>
                        </a:spcAft>
                        <a:buClr>
                          <a:srgbClr val="000000"/>
                        </a:buClr>
                        <a:buSzPts val="1100"/>
                        <a:buFont typeface="Arial"/>
                        <a:buNone/>
                      </a:pPr>
                      <a:r>
                        <a:rPr lang="en" sz="1500" dirty="0">
                          <a:latin typeface="Inter"/>
                          <a:ea typeface="Inter"/>
                          <a:cs typeface="Inter"/>
                          <a:sym typeface="Inter"/>
                        </a:rPr>
                        <a:t>Often senior leaders or legal advisors </a:t>
                      </a:r>
                      <a:endParaRPr sz="1500" dirty="0">
                        <a:latin typeface="Inter"/>
                        <a:ea typeface="Inter"/>
                        <a:cs typeface="Inter"/>
                        <a:sym typeface="Inter"/>
                      </a:endParaRPr>
                    </a:p>
                  </a:txBody>
                  <a:tcPr marL="91425" marR="91425" marT="91425" marB="91425"/>
                </a:tc>
                <a:extLst>
                  <a:ext uri="{0D108BD9-81ED-4DB2-BD59-A6C34878D82A}">
                    <a16:rowId xmlns:a16="http://schemas.microsoft.com/office/drawing/2014/main" val="10001"/>
                  </a:ext>
                </a:extLst>
              </a:tr>
              <a:tr h="901350">
                <a:tc>
                  <a:txBody>
                    <a:bodyPr/>
                    <a:lstStyle/>
                    <a:p>
                      <a:pPr marL="0" lvl="0" indent="0" algn="l" rtl="0">
                        <a:spcBef>
                          <a:spcPts val="0"/>
                        </a:spcBef>
                        <a:spcAft>
                          <a:spcPts val="0"/>
                        </a:spcAft>
                        <a:buClr>
                          <a:srgbClr val="000000"/>
                        </a:buClr>
                        <a:buSzPts val="1100"/>
                        <a:buFont typeface="Arial"/>
                        <a:buNone/>
                      </a:pPr>
                      <a:r>
                        <a:rPr lang="en" sz="1500" b="1" dirty="0">
                          <a:latin typeface="Inter"/>
                          <a:ea typeface="Inter"/>
                          <a:cs typeface="Inter"/>
                          <a:sym typeface="Inter"/>
                        </a:rPr>
                        <a:t>🟨 Ambivalent</a:t>
                      </a:r>
                      <a:endParaRPr sz="1500" b="1" dirty="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Clr>
                          <a:srgbClr val="000000"/>
                        </a:buClr>
                        <a:buSzPts val="1100"/>
                        <a:buFont typeface="Arial"/>
                        <a:buNone/>
                      </a:pPr>
                      <a:r>
                        <a:rPr lang="en" sz="1500" dirty="0">
                          <a:latin typeface="Inter"/>
                          <a:ea typeface="Inter"/>
                          <a:cs typeface="Inter"/>
                          <a:sym typeface="Inter"/>
                        </a:rPr>
                        <a:t>Open to new ideas, but needs proof</a:t>
                      </a:r>
                      <a:endParaRPr sz="1500" dirty="0">
                        <a:latin typeface="Inter"/>
                        <a:ea typeface="Inter"/>
                        <a:cs typeface="Inter"/>
                        <a:sym typeface="Inter"/>
                      </a:endParaRPr>
                    </a:p>
                    <a:p>
                      <a:pPr marL="0" lvl="0" indent="0" algn="l" rtl="0">
                        <a:spcBef>
                          <a:spcPts val="0"/>
                        </a:spcBef>
                        <a:spcAft>
                          <a:spcPts val="0"/>
                        </a:spcAft>
                        <a:buClr>
                          <a:srgbClr val="000000"/>
                        </a:buClr>
                        <a:buSzPts val="1100"/>
                        <a:buFont typeface="Arial"/>
                        <a:buNone/>
                      </a:pPr>
                      <a:r>
                        <a:rPr lang="en" sz="1500" dirty="0">
                          <a:latin typeface="Inter"/>
                          <a:ea typeface="Inter"/>
                          <a:cs typeface="Inter"/>
                          <a:sym typeface="Inter"/>
                        </a:rPr>
                        <a:t>Asks a lot of “what if” questions</a:t>
                      </a:r>
                      <a:endParaRPr sz="1500" dirty="0">
                        <a:latin typeface="Inter"/>
                        <a:ea typeface="Inter"/>
                        <a:cs typeface="Inter"/>
                        <a:sym typeface="Inter"/>
                      </a:endParaRPr>
                    </a:p>
                    <a:p>
                      <a:pPr marL="0" lvl="0" indent="0" algn="l" rtl="0">
                        <a:spcBef>
                          <a:spcPts val="0"/>
                        </a:spcBef>
                        <a:spcAft>
                          <a:spcPts val="0"/>
                        </a:spcAft>
                        <a:buClr>
                          <a:srgbClr val="000000"/>
                        </a:buClr>
                        <a:buSzPts val="1100"/>
                        <a:buFont typeface="Arial"/>
                        <a:buNone/>
                      </a:pPr>
                      <a:r>
                        <a:rPr lang="en" sz="1500" dirty="0">
                          <a:latin typeface="Inter"/>
                          <a:ea typeface="Inter"/>
                          <a:cs typeface="Inter"/>
                          <a:sym typeface="Inter"/>
                        </a:rPr>
                        <a:t>Watches others before acting</a:t>
                      </a:r>
                      <a:endParaRPr sz="1500" dirty="0">
                        <a:latin typeface="Inter"/>
                        <a:ea typeface="Inter"/>
                        <a:cs typeface="Inter"/>
                        <a:sym typeface="Inter"/>
                      </a:endParaRPr>
                    </a:p>
                    <a:p>
                      <a:pPr marL="0" lvl="0" indent="0" algn="l" rtl="0">
                        <a:spcBef>
                          <a:spcPts val="0"/>
                        </a:spcBef>
                        <a:spcAft>
                          <a:spcPts val="0"/>
                        </a:spcAft>
                        <a:buClr>
                          <a:srgbClr val="000000"/>
                        </a:buClr>
                        <a:buSzPts val="1100"/>
                        <a:buFont typeface="Arial"/>
                        <a:buNone/>
                      </a:pPr>
                      <a:r>
                        <a:rPr lang="en" sz="1500" dirty="0">
                          <a:latin typeface="Inter"/>
                          <a:ea typeface="Inter"/>
                          <a:cs typeface="Inter"/>
                          <a:sym typeface="Inter"/>
                        </a:rPr>
                        <a:t>Needs influence from others to tip them one way</a:t>
                      </a:r>
                      <a:endParaRPr sz="1500" dirty="0">
                        <a:latin typeface="Inter"/>
                        <a:ea typeface="Inter"/>
                        <a:cs typeface="Inter"/>
                        <a:sym typeface="Inter"/>
                      </a:endParaRPr>
                    </a:p>
                  </a:txBody>
                  <a:tcPr marL="91425" marR="91425" marT="91425" marB="91425"/>
                </a:tc>
                <a:extLst>
                  <a:ext uri="{0D108BD9-81ED-4DB2-BD59-A6C34878D82A}">
                    <a16:rowId xmlns:a16="http://schemas.microsoft.com/office/drawing/2014/main" val="10002"/>
                  </a:ext>
                </a:extLst>
              </a:tr>
              <a:tr h="901350">
                <a:tc>
                  <a:txBody>
                    <a:bodyPr/>
                    <a:lstStyle/>
                    <a:p>
                      <a:pPr marL="0" lvl="0" indent="0" algn="l" rtl="0">
                        <a:spcBef>
                          <a:spcPts val="0"/>
                        </a:spcBef>
                        <a:spcAft>
                          <a:spcPts val="0"/>
                        </a:spcAft>
                        <a:buClr>
                          <a:srgbClr val="000000"/>
                        </a:buClr>
                        <a:buSzPts val="1100"/>
                        <a:buFont typeface="Arial"/>
                        <a:buNone/>
                      </a:pPr>
                      <a:r>
                        <a:rPr lang="en" sz="1500" b="1" dirty="0">
                          <a:latin typeface="Inter"/>
                          <a:ea typeface="Inter"/>
                          <a:cs typeface="Inter"/>
                          <a:sym typeface="Inter"/>
                        </a:rPr>
                        <a:t> 🟩 Risk-Tolerant</a:t>
                      </a:r>
                      <a:endParaRPr sz="1500" b="1" dirty="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dirty="0">
                          <a:latin typeface="Inter"/>
                          <a:ea typeface="Inter"/>
                          <a:cs typeface="Inter"/>
                          <a:sym typeface="Inter"/>
                        </a:rPr>
                        <a:t>Asks “What’s the upside?”</a:t>
                      </a:r>
                      <a:br>
                        <a:rPr lang="en" sz="1500" dirty="0">
                          <a:latin typeface="Inter"/>
                          <a:ea typeface="Inter"/>
                          <a:cs typeface="Inter"/>
                          <a:sym typeface="Inter"/>
                        </a:rPr>
                      </a:br>
                      <a:r>
                        <a:rPr lang="en" sz="1500" dirty="0">
                          <a:latin typeface="Inter"/>
                          <a:ea typeface="Inter"/>
                          <a:cs typeface="Inter"/>
                          <a:sym typeface="Inter"/>
                        </a:rPr>
                        <a:t>Excited by new approaches</a:t>
                      </a:r>
                      <a:br>
                        <a:rPr lang="en" sz="1500" dirty="0">
                          <a:latin typeface="Inter"/>
                          <a:ea typeface="Inter"/>
                          <a:cs typeface="Inter"/>
                          <a:sym typeface="Inter"/>
                        </a:rPr>
                      </a:br>
                      <a:r>
                        <a:rPr lang="en" sz="1500" dirty="0">
                          <a:latin typeface="Inter"/>
                          <a:ea typeface="Inter"/>
                          <a:cs typeface="Inter"/>
                          <a:sym typeface="Inter"/>
                        </a:rPr>
                        <a:t>Willing to test and iterate</a:t>
                      </a:r>
                      <a:br>
                        <a:rPr lang="en" sz="1500" dirty="0">
                          <a:latin typeface="Inter"/>
                          <a:ea typeface="Inter"/>
                          <a:cs typeface="Inter"/>
                          <a:sym typeface="Inter"/>
                        </a:rPr>
                      </a:br>
                      <a:r>
                        <a:rPr lang="en" sz="1500" dirty="0">
                          <a:latin typeface="Inter"/>
                          <a:ea typeface="Inter"/>
                          <a:cs typeface="Inter"/>
                          <a:sym typeface="Inter"/>
                        </a:rPr>
                        <a:t>May be frustrated by red tape or slowness </a:t>
                      </a:r>
                      <a:endParaRPr sz="1500" dirty="0">
                        <a:latin typeface="Inter"/>
                        <a:ea typeface="Inter"/>
                        <a:cs typeface="Inter"/>
                        <a:sym typeface="Inte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4"/>
        <p:cNvGrpSpPr/>
        <p:nvPr/>
      </p:nvGrpSpPr>
      <p:grpSpPr>
        <a:xfrm>
          <a:off x="0" y="0"/>
          <a:ext cx="0" cy="0"/>
          <a:chOff x="0" y="0"/>
          <a:chExt cx="0" cy="0"/>
        </a:xfrm>
      </p:grpSpPr>
      <p:sp>
        <p:nvSpPr>
          <p:cNvPr id="816" name="Google Shape;816;p107"/>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What’s Your Plan When You Hear No?</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graphicFrame>
        <p:nvGraphicFramePr>
          <p:cNvPr id="817" name="Google Shape;817;p107"/>
          <p:cNvGraphicFramePr/>
          <p:nvPr>
            <p:extLst>
              <p:ext uri="{D42A27DB-BD31-4B8C-83A1-F6EECF244321}">
                <p14:modId xmlns:p14="http://schemas.microsoft.com/office/powerpoint/2010/main" val="191624175"/>
              </p:ext>
            </p:extLst>
          </p:nvPr>
        </p:nvGraphicFramePr>
        <p:xfrm>
          <a:off x="742122" y="1262177"/>
          <a:ext cx="7143503" cy="3611700"/>
        </p:xfrm>
        <a:graphic>
          <a:graphicData uri="http://schemas.openxmlformats.org/drawingml/2006/table">
            <a:tbl>
              <a:tblPr firstRow="1">
                <a:noFill/>
                <a:tableStyleId>{B07BE7ED-69B6-4617-9742-D4B8E28752A2}</a:tableStyleId>
              </a:tblPr>
              <a:tblGrid>
                <a:gridCol w="2317503">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sz="1500" b="1" dirty="0">
                          <a:latin typeface="Inter"/>
                          <a:ea typeface="Inter"/>
                          <a:cs typeface="Inter"/>
                          <a:sym typeface="Inter"/>
                        </a:rPr>
                        <a:t>Objection</a:t>
                      </a:r>
                      <a:endParaRPr sz="1500" b="1" dirty="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b="1">
                          <a:latin typeface="Inter"/>
                          <a:ea typeface="Inter"/>
                          <a:cs typeface="Inter"/>
                          <a:sym typeface="Inter"/>
                        </a:rPr>
                        <a:t>Underlying Fear </a:t>
                      </a:r>
                      <a:endParaRPr sz="1500" b="1">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b="1">
                          <a:latin typeface="Inter"/>
                          <a:ea typeface="Inter"/>
                          <a:cs typeface="Inter"/>
                          <a:sym typeface="Inter"/>
                        </a:rPr>
                        <a:t>Influence Strategy</a:t>
                      </a:r>
                      <a:endParaRPr sz="1500" b="1">
                        <a:latin typeface="Inter"/>
                        <a:ea typeface="Inter"/>
                        <a:cs typeface="Inter"/>
                        <a:sym typeface="Inte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500" dirty="0">
                          <a:latin typeface="Inter"/>
                          <a:ea typeface="Inter"/>
                          <a:cs typeface="Inter"/>
                          <a:sym typeface="Inter"/>
                        </a:rPr>
                        <a:t>“That’s not compliant”</a:t>
                      </a:r>
                      <a:endParaRPr sz="1500" dirty="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dirty="0">
                          <a:latin typeface="Inter"/>
                          <a:ea typeface="Inter"/>
                          <a:cs typeface="Inter"/>
                          <a:sym typeface="Inter"/>
                        </a:rPr>
                        <a:t>Fear of doing something wrong</a:t>
                      </a:r>
                      <a:endParaRPr sz="1500" dirty="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a:latin typeface="Inter"/>
                          <a:ea typeface="Inter"/>
                          <a:cs typeface="Inter"/>
                          <a:sym typeface="Inter"/>
                        </a:rPr>
                        <a:t>Ask for FAR citation, offer legal POV</a:t>
                      </a:r>
                      <a:endParaRPr sz="1500">
                        <a:latin typeface="Inter"/>
                        <a:ea typeface="Inter"/>
                        <a:cs typeface="Inter"/>
                        <a:sym typeface="Inte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500">
                          <a:latin typeface="Inter"/>
                          <a:ea typeface="Inter"/>
                          <a:cs typeface="Inter"/>
                          <a:sym typeface="Inter"/>
                        </a:rPr>
                        <a:t>“It’s too risky”</a:t>
                      </a:r>
                      <a:endParaRPr sz="150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dirty="0">
                          <a:latin typeface="Inter"/>
                          <a:ea typeface="Inter"/>
                          <a:cs typeface="Inter"/>
                          <a:sym typeface="Inter"/>
                        </a:rPr>
                        <a:t>Fear of failure or blame </a:t>
                      </a:r>
                      <a:endParaRPr sz="1500" dirty="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a:latin typeface="Inter"/>
                          <a:ea typeface="Inter"/>
                          <a:cs typeface="Inter"/>
                          <a:sym typeface="Inter"/>
                        </a:rPr>
                        <a:t>Offer pilot, show proof of concept </a:t>
                      </a:r>
                      <a:endParaRPr sz="1500">
                        <a:latin typeface="Inter"/>
                        <a:ea typeface="Inter"/>
                        <a:cs typeface="Inter"/>
                        <a:sym typeface="Inte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500">
                          <a:latin typeface="Inter"/>
                          <a:ea typeface="Inter"/>
                          <a:cs typeface="Inter"/>
                          <a:sym typeface="Inter"/>
                        </a:rPr>
                        <a:t>“We’ve never done it that way’</a:t>
                      </a:r>
                      <a:endParaRPr sz="150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dirty="0">
                          <a:latin typeface="Inter"/>
                          <a:ea typeface="Inter"/>
                          <a:cs typeface="Inter"/>
                          <a:sym typeface="Inter"/>
                        </a:rPr>
                        <a:t>Fear of change, loss of control</a:t>
                      </a:r>
                      <a:endParaRPr sz="1500" dirty="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a:latin typeface="Inter"/>
                          <a:ea typeface="Inter"/>
                          <a:cs typeface="Inter"/>
                          <a:sym typeface="Inter"/>
                        </a:rPr>
                        <a:t>Share agency examples, start small</a:t>
                      </a:r>
                      <a:endParaRPr sz="1500">
                        <a:latin typeface="Inter"/>
                        <a:ea typeface="Inter"/>
                        <a:cs typeface="Inter"/>
                        <a:sym typeface="Inte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500">
                          <a:latin typeface="Inter"/>
                          <a:ea typeface="Inter"/>
                          <a:cs typeface="Inter"/>
                          <a:sym typeface="Inter"/>
                        </a:rPr>
                        <a:t>“Leadership won’t go for it”</a:t>
                      </a:r>
                      <a:endParaRPr sz="150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dirty="0">
                          <a:latin typeface="Inter"/>
                          <a:ea typeface="Inter"/>
                          <a:cs typeface="Inter"/>
                          <a:sym typeface="Inter"/>
                        </a:rPr>
                        <a:t>Fear of wasting time</a:t>
                      </a:r>
                      <a:endParaRPr sz="1500" dirty="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dirty="0">
                          <a:latin typeface="Inter"/>
                          <a:ea typeface="Inter"/>
                          <a:cs typeface="Inter"/>
                          <a:sym typeface="Inter"/>
                        </a:rPr>
                        <a:t>Ask: What would make it feel worth it?</a:t>
                      </a:r>
                      <a:endParaRPr sz="1500" dirty="0">
                        <a:latin typeface="Inter"/>
                        <a:ea typeface="Inter"/>
                        <a:cs typeface="Inter"/>
                        <a:sym typeface="Inte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500">
                          <a:latin typeface="Inter"/>
                          <a:ea typeface="Inter"/>
                          <a:cs typeface="Inter"/>
                          <a:sym typeface="Inter"/>
                        </a:rPr>
                        <a:t>“We don’t have time”</a:t>
                      </a:r>
                      <a:endParaRPr sz="150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a:latin typeface="Inter"/>
                          <a:ea typeface="Inter"/>
                          <a:cs typeface="Inter"/>
                          <a:sym typeface="Inter"/>
                        </a:rPr>
                        <a:t>Overwhelm, prioritization challenges</a:t>
                      </a:r>
                      <a:endParaRPr sz="1500">
                        <a:latin typeface="Inter"/>
                        <a:ea typeface="Inter"/>
                        <a:cs typeface="Inter"/>
                        <a:sym typeface="Inter"/>
                      </a:endParaRPr>
                    </a:p>
                  </a:txBody>
                  <a:tcPr marL="91425" marR="91425" marT="91425" marB="91425"/>
                </a:tc>
                <a:tc>
                  <a:txBody>
                    <a:bodyPr/>
                    <a:lstStyle/>
                    <a:p>
                      <a:pPr marL="0" lvl="0" indent="0" algn="l" rtl="0">
                        <a:spcBef>
                          <a:spcPts val="0"/>
                        </a:spcBef>
                        <a:spcAft>
                          <a:spcPts val="0"/>
                        </a:spcAft>
                        <a:buNone/>
                      </a:pPr>
                      <a:r>
                        <a:rPr lang="en" sz="1500" dirty="0">
                          <a:latin typeface="Inter"/>
                          <a:ea typeface="Inter"/>
                          <a:cs typeface="Inter"/>
                          <a:sym typeface="Inter"/>
                        </a:rPr>
                        <a:t>Show how this saves time</a:t>
                      </a:r>
                      <a:endParaRPr sz="1500" dirty="0">
                        <a:latin typeface="Inter"/>
                        <a:ea typeface="Inter"/>
                        <a:cs typeface="Inter"/>
                        <a:sym typeface="Inte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22"/>
        <p:cNvGrpSpPr/>
        <p:nvPr/>
      </p:nvGrpSpPr>
      <p:grpSpPr>
        <a:xfrm>
          <a:off x="0" y="0"/>
          <a:ext cx="0" cy="0"/>
          <a:chOff x="0" y="0"/>
          <a:chExt cx="0" cy="0"/>
        </a:xfrm>
      </p:grpSpPr>
      <p:sp>
        <p:nvSpPr>
          <p:cNvPr id="823" name="Google Shape;823;p108">
            <a:extLst>
              <a:ext uri="{C183D7F6-B498-43B3-948B-1728B52AA6E4}">
                <adec:decorative xmlns:adec="http://schemas.microsoft.com/office/drawing/2017/decorative" val="1"/>
              </a:ext>
            </a:extLst>
          </p:cNvPr>
          <p:cNvSpPr/>
          <p:nvPr/>
        </p:nvSpPr>
        <p:spPr>
          <a:xfrm>
            <a:off x="609600" y="609600"/>
            <a:ext cx="3381300" cy="68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08"/>
          <p:cNvSpPr>
            <a:spLocks noGrp="1"/>
          </p:cNvSpPr>
          <p:nvPr>
            <p:ph type="title" idx="4294967295"/>
          </p:nvPr>
        </p:nvSpPr>
        <p:spPr>
          <a:xfrm>
            <a:off x="609600" y="609600"/>
            <a:ext cx="7355400" cy="685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225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Case Study Activity: </a:t>
            </a:r>
          </a:p>
          <a:p>
            <a:pPr marL="0" marR="0" lvl="0" indent="0" algn="l" defTabSz="914400" rtl="0" eaLnBrk="1" fontAlgn="auto" latinLnBrk="0" hangingPunct="1">
              <a:lnSpc>
                <a:spcPct val="120000"/>
              </a:lnSpc>
              <a:spcBef>
                <a:spcPts val="0"/>
              </a:spcBef>
              <a:spcAft>
                <a:spcPts val="0"/>
              </a:spcAft>
              <a:buClr>
                <a:srgbClr val="000000"/>
              </a:buClr>
              <a:buSzPts val="225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Mapping Casey’s Stakeholders</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824" name="Google Shape;824;p108"/>
          <p:cNvSpPr/>
          <p:nvPr/>
        </p:nvSpPr>
        <p:spPr>
          <a:xfrm>
            <a:off x="609600" y="1295400"/>
            <a:ext cx="4494900" cy="26181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None/>
            </a:pPr>
            <a:r>
              <a:rPr lang="en" sz="1600" dirty="0">
                <a:solidFill>
                  <a:schemeClr val="dk1"/>
                </a:solidFill>
                <a:latin typeface="Inter" panose="02000503000000020004" pitchFamily="2" charset="0"/>
                <a:ea typeface="Proxima Nova"/>
                <a:cs typeface="Calibri" panose="020F0502020204030204" pitchFamily="34" charset="0"/>
                <a:sym typeface="Proxima Nova"/>
              </a:rPr>
              <a:t>Map out the key stakeholders in the case, using Milestone 1.</a:t>
            </a:r>
            <a:endParaRPr sz="1600" dirty="0">
              <a:latin typeface="Inter" panose="02000503000000020004" pitchFamily="2" charset="0"/>
              <a:ea typeface="Inter"/>
              <a:cs typeface="Calibri" panose="020F0502020204030204" pitchFamily="34" charset="0"/>
              <a:sym typeface="Inter"/>
            </a:endParaRPr>
          </a:p>
        </p:txBody>
      </p:sp>
      <p:pic>
        <p:nvPicPr>
          <p:cNvPr id="826" name="Google Shape;826;p108" descr="Case study activity icon. Magnifying glass. "/>
          <p:cNvPicPr preferRelativeResize="0"/>
          <p:nvPr/>
        </p:nvPicPr>
        <p:blipFill>
          <a:blip r:embed="rId3">
            <a:alphaModFix/>
          </a:blip>
          <a:stretch>
            <a:fillRect/>
          </a:stretch>
        </p:blipFill>
        <p:spPr>
          <a:xfrm>
            <a:off x="5481300" y="1295400"/>
            <a:ext cx="3311499" cy="33114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1"/>
        <p:cNvGrpSpPr/>
        <p:nvPr/>
      </p:nvGrpSpPr>
      <p:grpSpPr>
        <a:xfrm>
          <a:off x="0" y="0"/>
          <a:ext cx="0" cy="0"/>
          <a:chOff x="0" y="0"/>
          <a:chExt cx="0" cy="0"/>
        </a:xfrm>
      </p:grpSpPr>
      <p:sp>
        <p:nvSpPr>
          <p:cNvPr id="832" name="Google Shape;832;p109">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09"/>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Optional Role Play Activity: Stakeholder Influence </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834" name="Google Shape;834;p109"/>
          <p:cNvSpPr/>
          <p:nvPr/>
        </p:nvSpPr>
        <p:spPr>
          <a:xfrm>
            <a:off x="533400" y="2530975"/>
            <a:ext cx="5772000" cy="13080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None/>
            </a:pPr>
            <a:r>
              <a:rPr lang="en" sz="1600" b="1" dirty="0">
                <a:solidFill>
                  <a:schemeClr val="dk1"/>
                </a:solidFill>
                <a:latin typeface="Inter"/>
                <a:ea typeface="Inter"/>
                <a:cs typeface="Inter"/>
                <a:sym typeface="Inter"/>
              </a:rPr>
              <a:t>Roles Overview:</a:t>
            </a:r>
            <a:endParaRPr sz="1600" b="1" dirty="0">
              <a:solidFill>
                <a:schemeClr val="dk1"/>
              </a:solidFill>
              <a:latin typeface="Inter"/>
              <a:ea typeface="Inter"/>
              <a:cs typeface="Inter"/>
              <a:sym typeface="Inter"/>
            </a:endParaRPr>
          </a:p>
          <a:p>
            <a:pPr marL="457200" lvl="0" indent="-323850" algn="l" rtl="0">
              <a:lnSpc>
                <a:spcPct val="115000"/>
              </a:lnSpc>
              <a:spcBef>
                <a:spcPts val="1200"/>
              </a:spcBef>
              <a:spcAft>
                <a:spcPts val="0"/>
              </a:spcAft>
              <a:buClr>
                <a:schemeClr val="dk1"/>
              </a:buClr>
              <a:buSzPts val="1500"/>
              <a:buFont typeface="Open Sans"/>
              <a:buChar char="●"/>
            </a:pPr>
            <a:r>
              <a:rPr lang="en" sz="1600" b="1" dirty="0">
                <a:solidFill>
                  <a:schemeClr val="dk1"/>
                </a:solidFill>
                <a:latin typeface="Inter"/>
                <a:ea typeface="Inter"/>
                <a:cs typeface="Inter"/>
                <a:sym typeface="Inter"/>
              </a:rPr>
              <a:t>Role A</a:t>
            </a:r>
            <a:r>
              <a:rPr lang="en" sz="1600" dirty="0">
                <a:solidFill>
                  <a:schemeClr val="dk1"/>
                </a:solidFill>
                <a:latin typeface="Inter"/>
                <a:ea typeface="Inter"/>
                <a:cs typeface="Inter"/>
                <a:sym typeface="Inter"/>
              </a:rPr>
              <a:t>: Digital service or acquisition professional with a specific goal/request.</a:t>
            </a:r>
            <a:endParaRPr sz="1600" dirty="0">
              <a:solidFill>
                <a:schemeClr val="dk1"/>
              </a:solidFill>
              <a:latin typeface="Inter"/>
              <a:ea typeface="Inter"/>
              <a:cs typeface="Inter"/>
              <a:sym typeface="Inter"/>
            </a:endParaRPr>
          </a:p>
          <a:p>
            <a:pPr marL="457200" lvl="0" indent="-323850" algn="l" rtl="0">
              <a:lnSpc>
                <a:spcPct val="115000"/>
              </a:lnSpc>
              <a:spcBef>
                <a:spcPts val="0"/>
              </a:spcBef>
              <a:spcAft>
                <a:spcPts val="0"/>
              </a:spcAft>
              <a:buClr>
                <a:schemeClr val="dk1"/>
              </a:buClr>
              <a:buSzPts val="1500"/>
              <a:buFont typeface="Open Sans"/>
              <a:buChar char="●"/>
            </a:pPr>
            <a:r>
              <a:rPr lang="en" sz="1600" b="1" dirty="0">
                <a:solidFill>
                  <a:schemeClr val="dk1"/>
                </a:solidFill>
                <a:latin typeface="Inter"/>
                <a:ea typeface="Inter"/>
                <a:cs typeface="Inter"/>
                <a:sym typeface="Inter"/>
              </a:rPr>
              <a:t>Role B: </a:t>
            </a:r>
            <a:r>
              <a:rPr lang="en" sz="1600" dirty="0">
                <a:solidFill>
                  <a:schemeClr val="dk1"/>
                </a:solidFill>
                <a:latin typeface="Inter"/>
                <a:ea typeface="Inter"/>
                <a:cs typeface="Inter"/>
                <a:sym typeface="Inter"/>
              </a:rPr>
              <a:t>A key stakeholder with decision-making authority who may resist the request (e.g., OGC Attorney, Procurement Executive, IT Governance Lead). Ideally played by a facilitator or guest actor.</a:t>
            </a:r>
            <a:endParaRPr sz="1600" dirty="0">
              <a:solidFill>
                <a:schemeClr val="dk1"/>
              </a:solidFill>
              <a:latin typeface="Inter"/>
              <a:ea typeface="Inter"/>
              <a:cs typeface="Inter"/>
              <a:sym typeface="Inter"/>
            </a:endParaRPr>
          </a:p>
          <a:p>
            <a:pPr marL="457200" lvl="0" indent="-323850" algn="l" rtl="0">
              <a:lnSpc>
                <a:spcPct val="115000"/>
              </a:lnSpc>
              <a:spcBef>
                <a:spcPts val="0"/>
              </a:spcBef>
              <a:spcAft>
                <a:spcPts val="0"/>
              </a:spcAft>
              <a:buClr>
                <a:schemeClr val="dk1"/>
              </a:buClr>
              <a:buSzPts val="1500"/>
              <a:buFont typeface="Open Sans"/>
              <a:buChar char="●"/>
            </a:pPr>
            <a:r>
              <a:rPr lang="en" sz="1600" b="1" dirty="0">
                <a:solidFill>
                  <a:schemeClr val="dk1"/>
                </a:solidFill>
                <a:latin typeface="Inter"/>
                <a:ea typeface="Inter"/>
                <a:cs typeface="Inter"/>
                <a:sym typeface="Inter"/>
              </a:rPr>
              <a:t>Role C:</a:t>
            </a:r>
            <a:r>
              <a:rPr lang="en" sz="1600" dirty="0">
                <a:solidFill>
                  <a:schemeClr val="dk1"/>
                </a:solidFill>
                <a:latin typeface="Inter"/>
                <a:ea typeface="Inter"/>
                <a:cs typeface="Inter"/>
                <a:sym typeface="Inter"/>
              </a:rPr>
              <a:t> Observers and debrief leaders who evaluate the scenario and provide feedback on the influencing strategies used.</a:t>
            </a:r>
            <a:endParaRPr sz="1600" dirty="0">
              <a:solidFill>
                <a:schemeClr val="dk1"/>
              </a:solidFill>
              <a:latin typeface="Inter"/>
              <a:ea typeface="Inter"/>
              <a:cs typeface="Inter"/>
              <a:sym typeface="Inter"/>
            </a:endParaRPr>
          </a:p>
          <a:p>
            <a:pPr marL="457200" lvl="0" indent="0" algn="l" rtl="0">
              <a:spcBef>
                <a:spcPts val="1200"/>
              </a:spcBef>
              <a:spcAft>
                <a:spcPts val="0"/>
              </a:spcAft>
              <a:buNone/>
            </a:pPr>
            <a:endParaRPr sz="1800" dirty="0">
              <a:solidFill>
                <a:schemeClr val="dk1"/>
              </a:solidFill>
              <a:latin typeface="Inter"/>
              <a:ea typeface="Inter"/>
              <a:cs typeface="Inter"/>
              <a:sym typeface="Inter"/>
            </a:endParaRPr>
          </a:p>
          <a:p>
            <a:pPr marL="0" marR="0" lvl="0" indent="0" algn="l" rtl="0">
              <a:lnSpc>
                <a:spcPct val="140000"/>
              </a:lnSpc>
              <a:spcBef>
                <a:spcPts val="1200"/>
              </a:spcBef>
              <a:spcAft>
                <a:spcPts val="0"/>
              </a:spcAft>
              <a:buClr>
                <a:srgbClr val="000000"/>
              </a:buClr>
              <a:buSzPts val="1350"/>
              <a:buFont typeface="Inter"/>
              <a:buNone/>
            </a:pPr>
            <a:endParaRPr dirty="0">
              <a:latin typeface="Inter"/>
              <a:ea typeface="Inter"/>
              <a:cs typeface="Inter"/>
              <a:sym typeface="Inter"/>
            </a:endParaRPr>
          </a:p>
        </p:txBody>
      </p:sp>
      <p:pic>
        <p:nvPicPr>
          <p:cNvPr id="835" name="Google Shape;835;p109" descr="group activity icon"/>
          <p:cNvPicPr preferRelativeResize="0"/>
          <p:nvPr/>
        </p:nvPicPr>
        <p:blipFill>
          <a:blip r:embed="rId3">
            <a:alphaModFix/>
          </a:blip>
          <a:stretch>
            <a:fillRect/>
          </a:stretch>
        </p:blipFill>
        <p:spPr>
          <a:xfrm>
            <a:off x="6629400" y="1730600"/>
            <a:ext cx="2057400" cy="20574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0"/>
        <p:cNvGrpSpPr/>
        <p:nvPr/>
      </p:nvGrpSpPr>
      <p:grpSpPr>
        <a:xfrm>
          <a:off x="0" y="0"/>
          <a:ext cx="0" cy="0"/>
          <a:chOff x="0" y="0"/>
          <a:chExt cx="0" cy="0"/>
        </a:xfrm>
      </p:grpSpPr>
      <p:sp>
        <p:nvSpPr>
          <p:cNvPr id="841" name="Google Shape;841;p110">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10"/>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Optional Role Play Activity: Structure Per Scenario </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843" name="Google Shape;843;p110"/>
          <p:cNvSpPr/>
          <p:nvPr/>
        </p:nvSpPr>
        <p:spPr>
          <a:xfrm>
            <a:off x="533400" y="2949875"/>
            <a:ext cx="4038600" cy="1308000"/>
          </a:xfrm>
          <a:prstGeom prst="rect">
            <a:avLst/>
          </a:prstGeom>
          <a:noFill/>
          <a:ln>
            <a:noFill/>
          </a:ln>
        </p:spPr>
        <p:txBody>
          <a:bodyPr spcFirstLastPara="1" wrap="square" lIns="91425" tIns="45700" rIns="91425" bIns="45700" anchor="ctr" anchorCtr="0">
            <a:noAutofit/>
          </a:bodyPr>
          <a:lstStyle/>
          <a:p>
            <a:pPr marL="419100" lvl="0" indent="-285750" algn="l" rtl="0">
              <a:lnSpc>
                <a:spcPct val="115000"/>
              </a:lnSpc>
              <a:spcBef>
                <a:spcPts val="1200"/>
              </a:spcBef>
              <a:spcAft>
                <a:spcPts val="0"/>
              </a:spcAft>
              <a:buClr>
                <a:schemeClr val="dk1"/>
              </a:buClr>
              <a:buSzPts val="1500"/>
              <a:buFont typeface="Arial" panose="020B0604020202020204" pitchFamily="34" charset="0"/>
              <a:buChar char="•"/>
            </a:pPr>
            <a:r>
              <a:rPr lang="en" sz="1600" b="1" dirty="0">
                <a:solidFill>
                  <a:schemeClr val="dk1"/>
                </a:solidFill>
                <a:latin typeface="Inter"/>
                <a:ea typeface="Inter"/>
                <a:cs typeface="Inter"/>
                <a:sym typeface="Inter"/>
              </a:rPr>
              <a:t>5 minutes – Prep:</a:t>
            </a:r>
            <a:endParaRPr sz="1600" b="1" dirty="0">
              <a:solidFill>
                <a:schemeClr val="dk1"/>
              </a:solidFill>
              <a:latin typeface="Inter"/>
              <a:ea typeface="Inter"/>
              <a:cs typeface="Inter"/>
              <a:sym typeface="Inter"/>
            </a:endParaRPr>
          </a:p>
          <a:p>
            <a:pPr marL="876300" lvl="1" indent="-285750" algn="l" rtl="0">
              <a:lnSpc>
                <a:spcPct val="115000"/>
              </a:lnSpc>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Role A prepares their strategy.</a:t>
            </a:r>
            <a:endParaRPr sz="1600" dirty="0">
              <a:solidFill>
                <a:schemeClr val="dk1"/>
              </a:solidFill>
              <a:latin typeface="Inter"/>
              <a:ea typeface="Inter"/>
              <a:cs typeface="Inter"/>
              <a:sym typeface="Inter"/>
            </a:endParaRPr>
          </a:p>
          <a:p>
            <a:pPr marL="876300" lvl="1" indent="-285750" algn="l" rtl="0">
              <a:lnSpc>
                <a:spcPct val="115000"/>
              </a:lnSpc>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Role B reviews their stakeholder stance.</a:t>
            </a:r>
            <a:endParaRPr sz="1600" dirty="0">
              <a:solidFill>
                <a:schemeClr val="dk1"/>
              </a:solidFill>
              <a:latin typeface="Inter"/>
              <a:ea typeface="Inter"/>
              <a:cs typeface="Inter"/>
              <a:sym typeface="Inter"/>
            </a:endParaRPr>
          </a:p>
          <a:p>
            <a:pPr marL="876300" lvl="1" indent="-285750" algn="l" rtl="0">
              <a:lnSpc>
                <a:spcPct val="115000"/>
              </a:lnSpc>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Role C reviews the scenario and prepares to lead the debrief.</a:t>
            </a:r>
            <a:endParaRPr sz="1600" dirty="0">
              <a:solidFill>
                <a:schemeClr val="dk1"/>
              </a:solidFill>
              <a:latin typeface="Inter"/>
              <a:ea typeface="Inter"/>
              <a:cs typeface="Inter"/>
              <a:sym typeface="Inter"/>
            </a:endParaRPr>
          </a:p>
          <a:p>
            <a:pPr marL="419100" lvl="0" indent="-285750" algn="l" rtl="0">
              <a:lnSpc>
                <a:spcPct val="115000"/>
              </a:lnSpc>
              <a:spcBef>
                <a:spcPts val="0"/>
              </a:spcBef>
              <a:spcAft>
                <a:spcPts val="0"/>
              </a:spcAft>
              <a:buClr>
                <a:schemeClr val="dk1"/>
              </a:buClr>
              <a:buSzPts val="1500"/>
              <a:buFont typeface="Arial" panose="020B0604020202020204" pitchFamily="34" charset="0"/>
              <a:buChar char="•"/>
            </a:pPr>
            <a:r>
              <a:rPr lang="en" sz="1600" b="1" dirty="0">
                <a:solidFill>
                  <a:schemeClr val="dk1"/>
                </a:solidFill>
                <a:latin typeface="Inter"/>
                <a:ea typeface="Inter"/>
                <a:cs typeface="Inter"/>
                <a:sym typeface="Inter"/>
              </a:rPr>
              <a:t>5 minutes – Role Play:</a:t>
            </a:r>
            <a:endParaRPr sz="1600" b="1" dirty="0">
              <a:solidFill>
                <a:schemeClr val="dk1"/>
              </a:solidFill>
              <a:latin typeface="Inter"/>
              <a:ea typeface="Inter"/>
              <a:cs typeface="Inter"/>
              <a:sym typeface="Inter"/>
            </a:endParaRPr>
          </a:p>
          <a:p>
            <a:pPr marL="876300" lvl="1" indent="-285750" algn="l" rtl="0">
              <a:lnSpc>
                <a:spcPct val="115000"/>
              </a:lnSpc>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Roles A and B engage in the conversation.</a:t>
            </a:r>
            <a:endParaRPr sz="1600" dirty="0">
              <a:solidFill>
                <a:schemeClr val="dk1"/>
              </a:solidFill>
              <a:latin typeface="Inter"/>
              <a:ea typeface="Inter"/>
              <a:cs typeface="Inter"/>
              <a:sym typeface="Inter"/>
            </a:endParaRPr>
          </a:p>
          <a:p>
            <a:pPr marL="876300" lvl="1" indent="-285750" algn="l" rtl="0">
              <a:lnSpc>
                <a:spcPct val="115000"/>
              </a:lnSpc>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Facilitator may lightly guide if needed.</a:t>
            </a:r>
            <a:endParaRPr sz="1600" dirty="0">
              <a:solidFill>
                <a:schemeClr val="dk1"/>
              </a:solidFill>
              <a:latin typeface="Inter"/>
              <a:ea typeface="Inter"/>
              <a:cs typeface="Inter"/>
              <a:sym typeface="Inter"/>
            </a:endParaRPr>
          </a:p>
          <a:p>
            <a:pPr marL="457200" lvl="0" indent="0" algn="l" rtl="0">
              <a:spcBef>
                <a:spcPts val="1200"/>
              </a:spcBef>
              <a:spcAft>
                <a:spcPts val="0"/>
              </a:spcAft>
              <a:buNone/>
            </a:pPr>
            <a:endParaRPr sz="1600" dirty="0">
              <a:solidFill>
                <a:schemeClr val="dk1"/>
              </a:solidFill>
              <a:latin typeface="Inter"/>
              <a:ea typeface="Inter"/>
              <a:cs typeface="Inter"/>
              <a:sym typeface="Inter"/>
            </a:endParaRPr>
          </a:p>
          <a:p>
            <a:pPr marL="0" marR="0" lvl="0" indent="0" algn="l" rtl="0">
              <a:lnSpc>
                <a:spcPct val="140000"/>
              </a:lnSpc>
              <a:spcBef>
                <a:spcPts val="1200"/>
              </a:spcBef>
              <a:spcAft>
                <a:spcPts val="0"/>
              </a:spcAft>
              <a:buClr>
                <a:srgbClr val="000000"/>
              </a:buClr>
              <a:buSzPts val="1350"/>
              <a:buFont typeface="Inter"/>
              <a:buNone/>
            </a:pPr>
            <a:endParaRPr sz="1600" dirty="0">
              <a:latin typeface="Inter"/>
              <a:ea typeface="Inter"/>
              <a:cs typeface="Inter"/>
              <a:sym typeface="Inter"/>
            </a:endParaRPr>
          </a:p>
        </p:txBody>
      </p:sp>
      <p:sp>
        <p:nvSpPr>
          <p:cNvPr id="844" name="Google Shape;844;p110"/>
          <p:cNvSpPr/>
          <p:nvPr/>
        </p:nvSpPr>
        <p:spPr>
          <a:xfrm>
            <a:off x="4628425" y="2067337"/>
            <a:ext cx="3654184" cy="1824645"/>
          </a:xfrm>
          <a:prstGeom prst="rect">
            <a:avLst/>
          </a:prstGeom>
          <a:noFill/>
          <a:ln>
            <a:noFill/>
          </a:ln>
        </p:spPr>
        <p:txBody>
          <a:bodyPr spcFirstLastPara="1" wrap="square" lIns="91425" tIns="45700" rIns="91425" bIns="45700" anchor="ctr" anchorCtr="0">
            <a:noAutofit/>
          </a:bodyPr>
          <a:lstStyle/>
          <a:p>
            <a:pPr marL="419100" lvl="0" indent="-285750" algn="l" rtl="0">
              <a:lnSpc>
                <a:spcPct val="115000"/>
              </a:lnSpc>
              <a:spcBef>
                <a:spcPts val="1200"/>
              </a:spcBef>
              <a:spcAft>
                <a:spcPts val="0"/>
              </a:spcAft>
              <a:buClr>
                <a:schemeClr val="dk1"/>
              </a:buClr>
              <a:buSzPts val="1500"/>
              <a:buFont typeface="Arial" panose="020B0604020202020204" pitchFamily="34" charset="0"/>
              <a:buChar char="•"/>
            </a:pPr>
            <a:r>
              <a:rPr lang="en" sz="1600" b="1" dirty="0">
                <a:solidFill>
                  <a:schemeClr val="dk1"/>
                </a:solidFill>
                <a:latin typeface="Inter"/>
                <a:ea typeface="Inter"/>
                <a:cs typeface="Inter"/>
                <a:sym typeface="Inter"/>
              </a:rPr>
              <a:t>5 minutes – Debrief:</a:t>
            </a:r>
            <a:endParaRPr sz="1600" b="1" dirty="0">
              <a:solidFill>
                <a:schemeClr val="dk1"/>
              </a:solidFill>
              <a:latin typeface="Inter"/>
              <a:ea typeface="Inter"/>
              <a:cs typeface="Inter"/>
              <a:sym typeface="Inter"/>
            </a:endParaRPr>
          </a:p>
          <a:p>
            <a:pPr marL="876300" lvl="1" indent="-285750" algn="l" rtl="0">
              <a:lnSpc>
                <a:spcPct val="115000"/>
              </a:lnSpc>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Role C leads the reflection using a set of structured prompts.</a:t>
            </a:r>
            <a:endParaRPr sz="1600" dirty="0">
              <a:solidFill>
                <a:schemeClr val="dk1"/>
              </a:solidFill>
              <a:latin typeface="Inter"/>
              <a:ea typeface="Inter"/>
              <a:cs typeface="Inter"/>
              <a:sym typeface="Inter"/>
            </a:endParaRPr>
          </a:p>
          <a:p>
            <a:pPr marL="419100" lvl="0" indent="-285750" algn="l" rtl="0">
              <a:lnSpc>
                <a:spcPct val="115000"/>
              </a:lnSpc>
              <a:spcBef>
                <a:spcPts val="0"/>
              </a:spcBef>
              <a:spcAft>
                <a:spcPts val="0"/>
              </a:spcAft>
              <a:buClr>
                <a:schemeClr val="dk1"/>
              </a:buClr>
              <a:buSzPts val="1500"/>
              <a:buFont typeface="Arial" panose="020B0604020202020204" pitchFamily="34" charset="0"/>
              <a:buChar char="•"/>
            </a:pPr>
            <a:r>
              <a:rPr lang="en" sz="1600" b="1" dirty="0">
                <a:solidFill>
                  <a:schemeClr val="dk1"/>
                </a:solidFill>
                <a:latin typeface="Inter"/>
                <a:ea typeface="Inter"/>
                <a:cs typeface="Inter"/>
                <a:sym typeface="Inter"/>
              </a:rPr>
              <a:t>5 minutes – Transition:</a:t>
            </a:r>
            <a:endParaRPr sz="1600" b="1" dirty="0">
              <a:solidFill>
                <a:schemeClr val="dk1"/>
              </a:solidFill>
              <a:latin typeface="Inter"/>
              <a:ea typeface="Inter"/>
              <a:cs typeface="Inter"/>
              <a:sym typeface="Inter"/>
            </a:endParaRPr>
          </a:p>
          <a:p>
            <a:pPr marL="876300" lvl="1" indent="-285750" algn="l" rtl="0">
              <a:lnSpc>
                <a:spcPct val="115000"/>
              </a:lnSpc>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Return to main room.</a:t>
            </a:r>
            <a:endParaRPr sz="1600" dirty="0">
              <a:solidFill>
                <a:schemeClr val="dk1"/>
              </a:solidFill>
              <a:latin typeface="Inter"/>
              <a:ea typeface="Inter"/>
              <a:cs typeface="Inter"/>
              <a:sym typeface="Inter"/>
            </a:endParaRPr>
          </a:p>
          <a:p>
            <a:pPr marL="876300" lvl="1" indent="-285750" algn="l" rtl="0">
              <a:lnSpc>
                <a:spcPct val="115000"/>
              </a:lnSpc>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Share key takeaways.</a:t>
            </a:r>
            <a:endParaRPr sz="1600" dirty="0">
              <a:solidFill>
                <a:schemeClr val="dk1"/>
              </a:solidFill>
              <a:latin typeface="Inter"/>
              <a:ea typeface="Inter"/>
              <a:cs typeface="Inter"/>
              <a:sym typeface="Inter"/>
            </a:endParaRPr>
          </a:p>
          <a:p>
            <a:pPr marL="876300" lvl="1" indent="-285750" algn="l" rtl="0">
              <a:lnSpc>
                <a:spcPct val="115000"/>
              </a:lnSpc>
              <a:spcBef>
                <a:spcPts val="0"/>
              </a:spcBef>
              <a:spcAft>
                <a:spcPts val="0"/>
              </a:spcAft>
              <a:buClr>
                <a:schemeClr val="dk1"/>
              </a:buClr>
              <a:buSzPts val="1500"/>
              <a:buFont typeface="Courier New" panose="02070309020205020404" pitchFamily="49" charset="0"/>
              <a:buChar char="o"/>
            </a:pPr>
            <a:r>
              <a:rPr lang="en" sz="1600" dirty="0">
                <a:solidFill>
                  <a:schemeClr val="dk1"/>
                </a:solidFill>
                <a:latin typeface="Inter"/>
                <a:ea typeface="Inter"/>
                <a:cs typeface="Inter"/>
                <a:sym typeface="Inter"/>
              </a:rPr>
              <a:t>Rotate participants and assign the next scenario.</a:t>
            </a:r>
            <a:endParaRPr sz="1600" dirty="0">
              <a:solidFill>
                <a:schemeClr val="dk1"/>
              </a:solidFill>
              <a:latin typeface="Inter"/>
              <a:ea typeface="Inter"/>
              <a:cs typeface="Inter"/>
              <a:sym typeface="Inter"/>
            </a:endParaRPr>
          </a:p>
          <a:p>
            <a:pPr marL="0" marR="0" lvl="0" indent="0" algn="l" rtl="0">
              <a:lnSpc>
                <a:spcPct val="140000"/>
              </a:lnSpc>
              <a:spcBef>
                <a:spcPts val="1200"/>
              </a:spcBef>
              <a:spcAft>
                <a:spcPts val="0"/>
              </a:spcAft>
              <a:buClr>
                <a:srgbClr val="000000"/>
              </a:buClr>
              <a:buSzPts val="1350"/>
              <a:buFont typeface="Inter"/>
              <a:buNone/>
            </a:pPr>
            <a:endParaRPr sz="1600" dirty="0">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111"/>
          <p:cNvSpPr txBox="1">
            <a:spLocks noGrp="1"/>
          </p:cNvSpPr>
          <p:nvPr>
            <p:ph type="title" idx="4294967295"/>
          </p:nvPr>
        </p:nvSpPr>
        <p:spPr>
          <a:xfrm>
            <a:off x="493950" y="2279250"/>
            <a:ext cx="8004000" cy="738633"/>
          </a:xfrm>
          <a:prstGeom prst="rect">
            <a:avLst/>
          </a:prstGeom>
          <a:noFill/>
          <a:ln>
            <a:noFill/>
            <a:prstDash/>
          </a:ln>
          <a:effectLst/>
        </p:spPr>
        <p:txBody>
          <a:bodyPr rot="0" spcFirstLastPara="1" vertOverflow="overflow" horzOverflow="overflow" vert="horz" wrap="square" lIns="91425" tIns="91425" rIns="91425" bIns="91425"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Stakeholder Interview Assignment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4"/>
        <p:cNvGrpSpPr/>
        <p:nvPr/>
      </p:nvGrpSpPr>
      <p:grpSpPr>
        <a:xfrm>
          <a:off x="0" y="0"/>
          <a:ext cx="0" cy="0"/>
          <a:chOff x="0" y="0"/>
          <a:chExt cx="0" cy="0"/>
        </a:xfrm>
      </p:grpSpPr>
      <p:sp>
        <p:nvSpPr>
          <p:cNvPr id="856" name="Google Shape;856;p112"/>
          <p:cNvSpPr/>
          <p:nvPr/>
        </p:nvSpPr>
        <p:spPr>
          <a:xfrm>
            <a:off x="609600" y="418575"/>
            <a:ext cx="75069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rgbClr val="000000"/>
              </a:buClr>
              <a:buSzPts val="3600"/>
              <a:buFont typeface="Inter"/>
              <a:buNone/>
            </a:pPr>
            <a:r>
              <a:rPr lang="en" sz="2250" b="1" dirty="0">
                <a:latin typeface="Inter"/>
                <a:ea typeface="Inter"/>
                <a:cs typeface="Inter"/>
                <a:sym typeface="Inter"/>
              </a:rPr>
              <a:t>Assignment Prep: Stakeholder Selection </a:t>
            </a:r>
            <a:endParaRPr sz="2250" b="0" i="0" u="none" strike="noStrike" cap="none" dirty="0">
              <a:solidFill>
                <a:schemeClr val="dk1"/>
              </a:solidFill>
              <a:latin typeface="Calibri"/>
              <a:ea typeface="Calibri"/>
              <a:cs typeface="Calibri"/>
              <a:sym typeface="Calibri"/>
            </a:endParaRPr>
          </a:p>
        </p:txBody>
      </p:sp>
      <p:sp>
        <p:nvSpPr>
          <p:cNvPr id="857" name="Google Shape;857;p112"/>
          <p:cNvSpPr>
            <a:spLocks noGrp="1"/>
          </p:cNvSpPr>
          <p:nvPr>
            <p:ph type="title" idx="4294967295"/>
          </p:nvPr>
        </p:nvSpPr>
        <p:spPr>
          <a:xfrm>
            <a:off x="533400" y="1191718"/>
            <a:ext cx="5772000" cy="3725056"/>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15000"/>
              </a:lnSpc>
              <a:spcBef>
                <a:spcPts val="1200"/>
              </a:spcBef>
              <a:spcAft>
                <a:spcPts val="0"/>
              </a:spcAft>
              <a:buClr>
                <a:srgbClr val="000000"/>
              </a:buClr>
              <a:buSzTx/>
              <a:buFont typeface="Arial"/>
              <a:buNone/>
              <a:tabLst/>
              <a:defRPr/>
            </a:pPr>
            <a:r>
              <a:rPr kumimoji="0" lang="en-US" sz="2300" b="1" i="0" u="none" strike="noStrike" kern="0" cap="none" spc="0" normalizeH="0" baseline="0" noProof="0" dirty="0">
                <a:ln>
                  <a:noFill/>
                </a:ln>
                <a:solidFill>
                  <a:schemeClr val="dk1"/>
                </a:solidFill>
                <a:effectLst/>
                <a:uLnTx/>
                <a:uFillTx/>
                <a:latin typeface="Inter"/>
                <a:ea typeface="Inter"/>
                <a:cs typeface="Inter"/>
                <a:sym typeface="Inter"/>
              </a:rPr>
              <a:t>Part 1: Prepare</a:t>
            </a:r>
          </a:p>
          <a:p>
            <a:pPr marL="457200" marR="0" lvl="0" indent="-336550" algn="l" defTabSz="914400" rtl="0" eaLnBrk="1" fontAlgn="auto" latinLnBrk="0" hangingPunct="1">
              <a:lnSpc>
                <a:spcPct val="115000"/>
              </a:lnSpc>
              <a:spcBef>
                <a:spcPts val="1200"/>
              </a:spcBef>
              <a:spcAft>
                <a:spcPts val="0"/>
              </a:spcAft>
              <a:buClr>
                <a:schemeClr val="dk1"/>
              </a:buClr>
              <a:buSzPts val="1700"/>
              <a:buFont typeface="Arial" panose="020B0604020202020204" pitchFamily="34" charset="0"/>
              <a:buChar char="•"/>
              <a:tabLst/>
              <a:defRPr/>
            </a:pPr>
            <a:r>
              <a:rPr kumimoji="0" lang="en-US" sz="1600" b="0" i="0" u="none" strike="noStrike" kern="0" cap="none" spc="0" normalizeH="0" baseline="0" noProof="0" dirty="0">
                <a:ln>
                  <a:noFill/>
                </a:ln>
                <a:solidFill>
                  <a:schemeClr val="dk1"/>
                </a:solidFill>
                <a:effectLst/>
                <a:uLnTx/>
                <a:uFillTx/>
                <a:latin typeface="Inter"/>
                <a:ea typeface="Inter"/>
                <a:cs typeface="Inter"/>
                <a:sym typeface="Inter"/>
              </a:rPr>
              <a:t>Identify 2–4 key stakeholders or gatekeepers</a:t>
            </a:r>
          </a:p>
          <a:p>
            <a:pPr marL="457200" marR="0" lvl="0" indent="-336550" algn="l" defTabSz="914400" rtl="0" eaLnBrk="1" fontAlgn="auto" latinLnBrk="0" hangingPunct="1">
              <a:lnSpc>
                <a:spcPct val="115000"/>
              </a:lnSpc>
              <a:spcBef>
                <a:spcPts val="0"/>
              </a:spcBef>
              <a:spcAft>
                <a:spcPts val="0"/>
              </a:spcAft>
              <a:buClr>
                <a:schemeClr val="dk1"/>
              </a:buClr>
              <a:buSzPts val="1700"/>
              <a:buFont typeface="Arial" panose="020B0604020202020204" pitchFamily="34" charset="0"/>
              <a:buChar char="•"/>
              <a:tabLst/>
              <a:defRPr/>
            </a:pPr>
            <a:r>
              <a:rPr kumimoji="0" lang="en-US" sz="1600" b="0" i="0" u="none" strike="noStrike" kern="0" cap="none" spc="0" normalizeH="0" baseline="0" noProof="0" dirty="0">
                <a:ln>
                  <a:noFill/>
                </a:ln>
                <a:solidFill>
                  <a:schemeClr val="dk1"/>
                </a:solidFill>
                <a:effectLst/>
                <a:uLnTx/>
                <a:uFillTx/>
                <a:latin typeface="Inter"/>
                <a:ea typeface="Inter"/>
                <a:cs typeface="Inter"/>
                <a:sym typeface="Inter"/>
              </a:rPr>
              <a:t>Research their role, responsibilities, and relationships</a:t>
            </a:r>
          </a:p>
          <a:p>
            <a:pPr marL="457200" marR="0" lvl="0" indent="-336550" algn="l" defTabSz="914400" rtl="0" eaLnBrk="1" fontAlgn="auto" latinLnBrk="0" hangingPunct="1">
              <a:lnSpc>
                <a:spcPct val="115000"/>
              </a:lnSpc>
              <a:spcBef>
                <a:spcPts val="0"/>
              </a:spcBef>
              <a:spcAft>
                <a:spcPts val="0"/>
              </a:spcAft>
              <a:buClr>
                <a:schemeClr val="dk1"/>
              </a:buClr>
              <a:buSzPts val="1700"/>
              <a:buFont typeface="Arial" panose="020B0604020202020204" pitchFamily="34" charset="0"/>
              <a:buChar char="•"/>
              <a:tabLst/>
              <a:defRPr/>
            </a:pPr>
            <a:r>
              <a:rPr kumimoji="0" lang="en-US" sz="1600" b="0" i="0" u="none" strike="noStrike" kern="0" cap="none" spc="0" normalizeH="0" baseline="0" noProof="0" dirty="0">
                <a:ln>
                  <a:noFill/>
                </a:ln>
                <a:solidFill>
                  <a:schemeClr val="dk1"/>
                </a:solidFill>
                <a:effectLst/>
                <a:uLnTx/>
                <a:uFillTx/>
                <a:latin typeface="Inter"/>
                <a:ea typeface="Inter"/>
                <a:cs typeface="Inter"/>
                <a:sym typeface="Inter"/>
              </a:rPr>
              <a:t>Develop your influence strategy and questions</a:t>
            </a:r>
          </a:p>
          <a:p>
            <a:pPr marL="457200" marR="0" lvl="0" indent="-336550" algn="l" defTabSz="914400" rtl="0" eaLnBrk="1" fontAlgn="auto" latinLnBrk="0" hangingPunct="1">
              <a:lnSpc>
                <a:spcPct val="115000"/>
              </a:lnSpc>
              <a:spcBef>
                <a:spcPts val="0"/>
              </a:spcBef>
              <a:spcAft>
                <a:spcPts val="0"/>
              </a:spcAft>
              <a:buClr>
                <a:schemeClr val="dk1"/>
              </a:buClr>
              <a:buSzPts val="1700"/>
              <a:buFont typeface="Arial" panose="020B0604020202020204" pitchFamily="34" charset="0"/>
              <a:buChar char="•"/>
              <a:tabLst/>
              <a:defRPr/>
            </a:pPr>
            <a:r>
              <a:rPr kumimoji="0" lang="en-US" sz="1600" b="0" i="0" u="none" strike="noStrike" kern="0" cap="none" spc="0" normalizeH="0" baseline="0" noProof="0" dirty="0">
                <a:ln>
                  <a:noFill/>
                </a:ln>
                <a:solidFill>
                  <a:schemeClr val="dk1"/>
                </a:solidFill>
                <a:effectLst/>
                <a:uLnTx/>
                <a:uFillTx/>
                <a:latin typeface="Inter"/>
                <a:ea typeface="Inter"/>
                <a:cs typeface="Inter"/>
                <a:sym typeface="Inter"/>
              </a:rPr>
              <a:t>(Optional) Practice with a peer</a:t>
            </a:r>
          </a:p>
          <a:p>
            <a:pPr marL="457200" marR="0" lvl="0" indent="-336550" algn="l" defTabSz="914400" rtl="0" eaLnBrk="1" fontAlgn="auto" latinLnBrk="0" hangingPunct="1">
              <a:lnSpc>
                <a:spcPct val="115000"/>
              </a:lnSpc>
              <a:spcBef>
                <a:spcPts val="0"/>
              </a:spcBef>
              <a:spcAft>
                <a:spcPts val="0"/>
              </a:spcAft>
              <a:buClr>
                <a:schemeClr val="dk1"/>
              </a:buClr>
              <a:buSzPts val="1700"/>
              <a:buFont typeface="Arial" panose="020B0604020202020204" pitchFamily="34" charset="0"/>
              <a:buChar char="•"/>
              <a:tabLst/>
              <a:defRPr/>
            </a:pPr>
            <a:r>
              <a:rPr kumimoji="0" lang="en-US" sz="1600" b="0" i="0" u="none" strike="noStrike" kern="0" cap="none" spc="0" normalizeH="0" baseline="0" noProof="0" dirty="0">
                <a:ln>
                  <a:noFill/>
                </a:ln>
                <a:solidFill>
                  <a:schemeClr val="dk1"/>
                </a:solidFill>
                <a:effectLst/>
                <a:uLnTx/>
                <a:uFillTx/>
                <a:latin typeface="Inter"/>
                <a:ea typeface="Inter"/>
                <a:cs typeface="Inter"/>
                <a:sym typeface="Inter"/>
              </a:rPr>
              <a:t>Submit your prep by end of Module 2</a:t>
            </a:r>
          </a:p>
          <a:p>
            <a:pPr marL="0" marR="0" lvl="0" indent="0" algn="l" defTabSz="914400" rtl="0" eaLnBrk="1" fontAlgn="auto" latinLnBrk="0" hangingPunct="1">
              <a:lnSpc>
                <a:spcPct val="140000"/>
              </a:lnSpc>
              <a:spcBef>
                <a:spcPts val="1200"/>
              </a:spcBef>
              <a:spcAft>
                <a:spcPts val="0"/>
              </a:spcAft>
              <a:buClr>
                <a:srgbClr val="000000"/>
              </a:buClr>
              <a:buSzPts val="1350"/>
              <a:buFont typeface="Inter"/>
              <a:buNone/>
              <a:tabLst/>
              <a:defRPr/>
            </a:pPr>
            <a:endParaRPr kumimoji="0" lang="en-US"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pic>
        <p:nvPicPr>
          <p:cNvPr id="858" name="Google Shape;858;p112" descr="assignment icon"/>
          <p:cNvPicPr preferRelativeResize="0"/>
          <p:nvPr/>
        </p:nvPicPr>
        <p:blipFill>
          <a:blip r:embed="rId3">
            <a:alphaModFix/>
          </a:blip>
          <a:stretch>
            <a:fillRect/>
          </a:stretch>
        </p:blipFill>
        <p:spPr>
          <a:xfrm>
            <a:off x="6183450" y="1314450"/>
            <a:ext cx="2514599" cy="251459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3"/>
        <p:cNvGrpSpPr/>
        <p:nvPr/>
      </p:nvGrpSpPr>
      <p:grpSpPr>
        <a:xfrm>
          <a:off x="0" y="0"/>
          <a:ext cx="0" cy="0"/>
          <a:chOff x="0" y="0"/>
          <a:chExt cx="0" cy="0"/>
        </a:xfrm>
      </p:grpSpPr>
      <p:sp>
        <p:nvSpPr>
          <p:cNvPr id="864" name="Google Shape;864;p113">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13"/>
          <p:cNvSpPr>
            <a:spLocks noGrp="1"/>
          </p:cNvSpPr>
          <p:nvPr>
            <p:ph type="title" idx="4294967295"/>
          </p:nvPr>
        </p:nvSpPr>
        <p:spPr>
          <a:xfrm>
            <a:off x="533400" y="362825"/>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Assignment Prep: Stakeholder Selection </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866" name="Google Shape;866;p113"/>
          <p:cNvSpPr/>
          <p:nvPr/>
        </p:nvSpPr>
        <p:spPr>
          <a:xfrm>
            <a:off x="533400" y="2530975"/>
            <a:ext cx="5772000" cy="13080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None/>
            </a:pPr>
            <a:r>
              <a:rPr lang="en" sz="2300" b="1" dirty="0">
                <a:solidFill>
                  <a:schemeClr val="dk1"/>
                </a:solidFill>
                <a:latin typeface="Inter"/>
                <a:ea typeface="Inter"/>
                <a:cs typeface="Inter"/>
                <a:sym typeface="Inter"/>
              </a:rPr>
              <a:t>Part 2: Engage</a:t>
            </a:r>
            <a:endParaRPr sz="2300" b="1" dirty="0">
              <a:solidFill>
                <a:schemeClr val="dk1"/>
              </a:solidFill>
              <a:latin typeface="Inter"/>
              <a:ea typeface="Inter"/>
              <a:cs typeface="Inter"/>
              <a:sym typeface="Inter"/>
            </a:endParaRPr>
          </a:p>
          <a:p>
            <a:pPr marL="406400" lvl="0" indent="-285750" algn="l" rtl="0">
              <a:lnSpc>
                <a:spcPct val="115000"/>
              </a:lnSpc>
              <a:spcBef>
                <a:spcPts val="1200"/>
              </a:spcBef>
              <a:spcAft>
                <a:spcPts val="0"/>
              </a:spcAft>
              <a:buClr>
                <a:schemeClr val="dk1"/>
              </a:buClr>
              <a:buSzPts val="1700"/>
              <a:buFont typeface="Arial" panose="020B0604020202020204" pitchFamily="34" charset="0"/>
              <a:buChar char="•"/>
            </a:pPr>
            <a:r>
              <a:rPr lang="en" sz="1600" dirty="0">
                <a:solidFill>
                  <a:schemeClr val="dk1"/>
                </a:solidFill>
                <a:latin typeface="Inter"/>
                <a:ea typeface="Inter"/>
                <a:cs typeface="Inter"/>
                <a:sym typeface="Inter"/>
              </a:rPr>
              <a:t>Conduct 2–4 interviews</a:t>
            </a:r>
            <a:endParaRPr sz="1600" dirty="0">
              <a:solidFill>
                <a:schemeClr val="dk1"/>
              </a:solidFill>
              <a:latin typeface="Inter"/>
              <a:ea typeface="Inter"/>
              <a:cs typeface="Inter"/>
              <a:sym typeface="Inter"/>
            </a:endParaRPr>
          </a:p>
          <a:p>
            <a:pPr marL="406400" lvl="0" indent="-285750" algn="l" rtl="0">
              <a:lnSpc>
                <a:spcPct val="115000"/>
              </a:lnSpc>
              <a:spcBef>
                <a:spcPts val="0"/>
              </a:spcBef>
              <a:spcAft>
                <a:spcPts val="0"/>
              </a:spcAft>
              <a:buClr>
                <a:schemeClr val="dk1"/>
              </a:buClr>
              <a:buSzPts val="1700"/>
              <a:buFont typeface="Arial" panose="020B0604020202020204" pitchFamily="34" charset="0"/>
              <a:buChar char="•"/>
            </a:pPr>
            <a:r>
              <a:rPr lang="en" sz="1600" dirty="0">
                <a:solidFill>
                  <a:schemeClr val="dk1"/>
                </a:solidFill>
                <a:latin typeface="Inter"/>
                <a:ea typeface="Inter"/>
                <a:cs typeface="Inter"/>
                <a:sym typeface="Inter"/>
              </a:rPr>
              <a:t>Test your assumptions and influence strategies</a:t>
            </a:r>
            <a:endParaRPr sz="1600" dirty="0">
              <a:solidFill>
                <a:schemeClr val="dk1"/>
              </a:solidFill>
              <a:latin typeface="Inter"/>
              <a:ea typeface="Inter"/>
              <a:cs typeface="Inter"/>
              <a:sym typeface="Inter"/>
            </a:endParaRPr>
          </a:p>
          <a:p>
            <a:pPr marL="406400" lvl="0" indent="-285750" algn="l" rtl="0">
              <a:lnSpc>
                <a:spcPct val="115000"/>
              </a:lnSpc>
              <a:spcBef>
                <a:spcPts val="0"/>
              </a:spcBef>
              <a:spcAft>
                <a:spcPts val="0"/>
              </a:spcAft>
              <a:buClr>
                <a:schemeClr val="dk1"/>
              </a:buClr>
              <a:buSzPts val="1700"/>
              <a:buFont typeface="Arial" panose="020B0604020202020204" pitchFamily="34" charset="0"/>
              <a:buChar char="•"/>
            </a:pPr>
            <a:r>
              <a:rPr lang="en" sz="1600" dirty="0">
                <a:solidFill>
                  <a:schemeClr val="dk1"/>
                </a:solidFill>
                <a:latin typeface="Inter"/>
                <a:ea typeface="Inter"/>
                <a:cs typeface="Inter"/>
                <a:sym typeface="Inter"/>
              </a:rPr>
              <a:t>Reflect on what you learned</a:t>
            </a:r>
            <a:endParaRPr sz="1600" dirty="0">
              <a:solidFill>
                <a:schemeClr val="dk1"/>
              </a:solidFill>
              <a:latin typeface="Inter"/>
              <a:ea typeface="Inter"/>
              <a:cs typeface="Inter"/>
              <a:sym typeface="Inter"/>
            </a:endParaRPr>
          </a:p>
          <a:p>
            <a:pPr marL="406400" lvl="0" indent="-285750" algn="l" rtl="0">
              <a:lnSpc>
                <a:spcPct val="115000"/>
              </a:lnSpc>
              <a:spcBef>
                <a:spcPts val="0"/>
              </a:spcBef>
              <a:spcAft>
                <a:spcPts val="0"/>
              </a:spcAft>
              <a:buClr>
                <a:schemeClr val="dk1"/>
              </a:buClr>
              <a:buSzPts val="1700"/>
              <a:buFont typeface="Arial" panose="020B0604020202020204" pitchFamily="34" charset="0"/>
              <a:buChar char="•"/>
            </a:pPr>
            <a:r>
              <a:rPr lang="en" sz="1600" dirty="0">
                <a:solidFill>
                  <a:schemeClr val="dk1"/>
                </a:solidFill>
                <a:latin typeface="Inter"/>
                <a:ea typeface="Inter"/>
                <a:cs typeface="Inter"/>
                <a:sym typeface="Inter"/>
              </a:rPr>
              <a:t>Submit a short write-up + insights</a:t>
            </a:r>
            <a:endParaRPr sz="1700" b="1" dirty="0">
              <a:solidFill>
                <a:schemeClr val="dk1"/>
              </a:solidFill>
              <a:latin typeface="Inter"/>
              <a:ea typeface="Inter"/>
              <a:cs typeface="Inter"/>
              <a:sym typeface="Inter"/>
            </a:endParaRPr>
          </a:p>
          <a:p>
            <a:pPr marL="457200" lvl="0" indent="0" algn="l" rtl="0">
              <a:spcBef>
                <a:spcPts val="1200"/>
              </a:spcBef>
              <a:spcAft>
                <a:spcPts val="0"/>
              </a:spcAft>
              <a:buNone/>
            </a:pPr>
            <a:endParaRPr sz="1800" dirty="0">
              <a:solidFill>
                <a:schemeClr val="dk1"/>
              </a:solidFill>
              <a:latin typeface="Inter"/>
              <a:ea typeface="Inter"/>
              <a:cs typeface="Inter"/>
              <a:sym typeface="Inter"/>
            </a:endParaRPr>
          </a:p>
          <a:p>
            <a:pPr marL="0" marR="0" lvl="0" indent="0" algn="l" rtl="0">
              <a:lnSpc>
                <a:spcPct val="140000"/>
              </a:lnSpc>
              <a:spcBef>
                <a:spcPts val="1200"/>
              </a:spcBef>
              <a:spcAft>
                <a:spcPts val="0"/>
              </a:spcAft>
              <a:buClr>
                <a:srgbClr val="000000"/>
              </a:buClr>
              <a:buSzPts val="1350"/>
              <a:buFont typeface="Inter"/>
              <a:buNone/>
            </a:pPr>
            <a:endParaRPr dirty="0">
              <a:latin typeface="Inter"/>
              <a:ea typeface="Inter"/>
              <a:cs typeface="Inter"/>
              <a:sym typeface="Inter"/>
            </a:endParaRPr>
          </a:p>
        </p:txBody>
      </p:sp>
      <p:pic>
        <p:nvPicPr>
          <p:cNvPr id="867" name="Google Shape;867;p113" descr="assignment icon"/>
          <p:cNvPicPr preferRelativeResize="0"/>
          <p:nvPr/>
        </p:nvPicPr>
        <p:blipFill>
          <a:blip r:embed="rId3">
            <a:alphaModFix/>
          </a:blip>
          <a:stretch>
            <a:fillRect/>
          </a:stretch>
        </p:blipFill>
        <p:spPr>
          <a:xfrm>
            <a:off x="6183450" y="1314450"/>
            <a:ext cx="2514599" cy="251459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114"/>
          <p:cNvSpPr txBox="1">
            <a:spLocks noGrp="1"/>
          </p:cNvSpPr>
          <p:nvPr>
            <p:ph type="title"/>
          </p:nvPr>
        </p:nvSpPr>
        <p:spPr>
          <a:xfrm>
            <a:off x="697350" y="2538425"/>
            <a:ext cx="7749300" cy="876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Defining Success for Your Digital Services Acquisition</a:t>
            </a:r>
            <a:endParaRPr/>
          </a:p>
        </p:txBody>
      </p:sp>
      <p:sp>
        <p:nvSpPr>
          <p:cNvPr id="873" name="Google Shape;873;p114"/>
          <p:cNvSpPr txBox="1">
            <a:spLocks noGrp="1"/>
          </p:cNvSpPr>
          <p:nvPr>
            <p:ph type="title" idx="2"/>
          </p:nvPr>
        </p:nvSpPr>
        <p:spPr>
          <a:xfrm>
            <a:off x="2899200" y="1194450"/>
            <a:ext cx="3345600" cy="182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a:t>Sprint  3</a:t>
            </a:r>
            <a:endParaRPr sz="4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78"/>
        <p:cNvGrpSpPr/>
        <p:nvPr/>
      </p:nvGrpSpPr>
      <p:grpSpPr>
        <a:xfrm>
          <a:off x="0" y="0"/>
          <a:ext cx="0" cy="0"/>
          <a:chOff x="0" y="0"/>
          <a:chExt cx="0" cy="0"/>
        </a:xfrm>
      </p:grpSpPr>
      <p:sp>
        <p:nvSpPr>
          <p:cNvPr id="879" name="Google Shape;879;p115">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15"/>
          <p:cNvSpPr>
            <a:spLocks noGrp="1"/>
          </p:cNvSpPr>
          <p:nvPr>
            <p:ph type="title" idx="4294967295"/>
          </p:nvPr>
        </p:nvSpPr>
        <p:spPr>
          <a:xfrm>
            <a:off x="589500" y="2124075"/>
            <a:ext cx="79650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1200"/>
              </a:spcBef>
              <a:spcAft>
                <a:spcPts val="1200"/>
              </a:spcAft>
              <a:buClr>
                <a:srgbClr val="000000"/>
              </a:buClr>
              <a:buSzTx/>
              <a:buFont typeface="Arial"/>
              <a:buNone/>
              <a:tabLst/>
              <a:defRPr/>
            </a:pPr>
            <a:r>
              <a:rPr kumimoji="0" lang="en-US" sz="3600" b="1" i="0" u="none" strike="noStrike" kern="0" cap="none" spc="0" normalizeH="0" baseline="0" noProof="0" dirty="0">
                <a:ln>
                  <a:noFill/>
                </a:ln>
                <a:solidFill>
                  <a:schemeClr val="dk1"/>
                </a:solidFill>
                <a:effectLst/>
                <a:uLnTx/>
                <a:uFillTx/>
                <a:latin typeface="Inter"/>
                <a:ea typeface="Inter"/>
                <a:cs typeface="Inter"/>
                <a:sym typeface="Inter"/>
              </a:rPr>
              <a:t>Defining Success </a:t>
            </a:r>
          </a:p>
        </p:txBody>
      </p:sp>
      <p:sp>
        <p:nvSpPr>
          <p:cNvPr id="881" name="Google Shape;881;p115">
            <a:extLst>
              <a:ext uri="{C183D7F6-B498-43B3-948B-1728B52AA6E4}">
                <adec:decorative xmlns:adec="http://schemas.microsoft.com/office/drawing/2017/decorative" val="1"/>
              </a:ext>
            </a:extLst>
          </p:cNvPr>
          <p:cNvSpPr/>
          <p:nvPr/>
        </p:nvSpPr>
        <p:spPr>
          <a:xfrm>
            <a:off x="609600" y="3072188"/>
            <a:ext cx="6172200" cy="238200"/>
          </a:xfrm>
          <a:prstGeom prst="rect">
            <a:avLst/>
          </a:prstGeom>
          <a:noFill/>
          <a:ln>
            <a:noFill/>
          </a:ln>
        </p:spPr>
        <p:txBody>
          <a:bodyPr spcFirstLastPara="1" wrap="square" lIns="91425" tIns="45700" rIns="91425" bIns="45700" anchor="ctr" anchorCtr="0">
            <a:noAutofit/>
          </a:bodyPr>
          <a:lstStyle/>
          <a:p>
            <a:pPr marL="0" lvl="0" indent="0" algn="l" rtl="0">
              <a:spcBef>
                <a:spcPts val="1200"/>
              </a:spcBef>
              <a:spcAft>
                <a:spcPts val="1200"/>
              </a:spcAft>
              <a:buNone/>
            </a:pPr>
            <a:endParaRPr sz="1750" i="0" u="none" strike="noStrike" cap="none">
              <a:solidFill>
                <a:schemeClr val="dk1"/>
              </a:solidFill>
              <a:latin typeface="Inter"/>
              <a:ea typeface="Inter"/>
              <a:cs typeface="Inter"/>
              <a:sym typeface="Inter"/>
            </a:endParaRPr>
          </a:p>
        </p:txBody>
      </p:sp>
      <p:sp>
        <p:nvSpPr>
          <p:cNvPr id="882" name="Google Shape;882;p115"/>
          <p:cNvSpPr txBox="1"/>
          <p:nvPr/>
        </p:nvSpPr>
        <p:spPr>
          <a:xfrm>
            <a:off x="609600" y="3831175"/>
            <a:ext cx="3000000" cy="754200"/>
          </a:xfrm>
          <a:prstGeom prst="rect">
            <a:avLst/>
          </a:prstGeom>
          <a:noFill/>
          <a:ln>
            <a:noFill/>
          </a:ln>
        </p:spPr>
        <p:txBody>
          <a:bodyPr spcFirstLastPara="1" wrap="square" lIns="91425" tIns="91425" rIns="91425" bIns="91425" anchor="t" anchorCtr="0">
            <a:spAutoFit/>
          </a:bodyPr>
          <a:lstStyle/>
          <a:p>
            <a:pPr marL="0" lvl="0" indent="0" algn="l" rtl="0">
              <a:spcBef>
                <a:spcPts val="1200"/>
              </a:spcBef>
              <a:spcAft>
                <a:spcPts val="0"/>
              </a:spcAft>
              <a:buNone/>
            </a:pPr>
            <a:r>
              <a:rPr lang="en" sz="1350" b="1">
                <a:solidFill>
                  <a:schemeClr val="dk1"/>
                </a:solidFill>
                <a:latin typeface="Inter"/>
                <a:ea typeface="Inter"/>
                <a:cs typeface="Inter"/>
                <a:sym typeface="Inter"/>
              </a:rPr>
              <a:t>Presented by:</a:t>
            </a:r>
            <a:r>
              <a:rPr lang="en" sz="1350">
                <a:solidFill>
                  <a:schemeClr val="dk1"/>
                </a:solidFill>
                <a:latin typeface="Inter"/>
                <a:ea typeface="Inter"/>
                <a:cs typeface="Inter"/>
                <a:sym typeface="Inter"/>
              </a:rPr>
              <a:t> [Facilitator Name]</a:t>
            </a:r>
            <a:endParaRPr sz="1350">
              <a:solidFill>
                <a:schemeClr val="dk1"/>
              </a:solidFill>
              <a:latin typeface="Inter"/>
              <a:ea typeface="Inter"/>
              <a:cs typeface="Inter"/>
              <a:sym typeface="Inter"/>
            </a:endParaRPr>
          </a:p>
          <a:p>
            <a:pPr marL="0" lvl="0" indent="0" algn="l" rtl="0">
              <a:spcBef>
                <a:spcPts val="1200"/>
              </a:spcBef>
              <a:spcAft>
                <a:spcPts val="1200"/>
              </a:spcAft>
              <a:buNone/>
            </a:pPr>
            <a:r>
              <a:rPr lang="en" sz="1350" b="1">
                <a:solidFill>
                  <a:schemeClr val="dk1"/>
                </a:solidFill>
                <a:latin typeface="Inter"/>
                <a:ea typeface="Inter"/>
                <a:cs typeface="Inter"/>
                <a:sym typeface="Inter"/>
              </a:rPr>
              <a:t>Date:</a:t>
            </a:r>
            <a:r>
              <a:rPr lang="en" sz="1350">
                <a:solidFill>
                  <a:schemeClr val="dk1"/>
                </a:solidFill>
                <a:latin typeface="Inter"/>
                <a:ea typeface="Inter"/>
                <a:cs typeface="Inter"/>
                <a:sym typeface="Inter"/>
              </a:rPr>
              <a:t> [Session Date]</a:t>
            </a:r>
            <a:endParaRPr sz="1350">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7"/>
        <p:cNvGrpSpPr/>
        <p:nvPr/>
      </p:nvGrpSpPr>
      <p:grpSpPr>
        <a:xfrm>
          <a:off x="0" y="0"/>
          <a:ext cx="0" cy="0"/>
          <a:chOff x="0" y="0"/>
          <a:chExt cx="0" cy="0"/>
        </a:xfrm>
      </p:grpSpPr>
      <p:sp>
        <p:nvSpPr>
          <p:cNvPr id="888" name="Google Shape;888;p116">
            <a:extLst>
              <a:ext uri="{C183D7F6-B498-43B3-948B-1728B52AA6E4}">
                <adec:decorative xmlns:adec="http://schemas.microsoft.com/office/drawing/2017/decorative" val="1"/>
              </a:ext>
            </a:extLst>
          </p:cNvPr>
          <p:cNvSpPr/>
          <p:nvPr/>
        </p:nvSpPr>
        <p:spPr>
          <a:xfrm>
            <a:off x="4610100" y="130016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16">
            <a:extLst>
              <a:ext uri="{C183D7F6-B498-43B3-948B-1728B52AA6E4}">
                <adec:decorative xmlns:adec="http://schemas.microsoft.com/office/drawing/2017/decorative" val="1"/>
              </a:ext>
            </a:extLst>
          </p:cNvPr>
          <p:cNvSpPr/>
          <p:nvPr/>
        </p:nvSpPr>
        <p:spPr>
          <a:xfrm>
            <a:off x="4610100" y="2262188"/>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16">
            <a:extLst>
              <a:ext uri="{C183D7F6-B498-43B3-948B-1728B52AA6E4}">
                <adec:decorative xmlns:adec="http://schemas.microsoft.com/office/drawing/2017/decorative" val="1"/>
              </a:ext>
            </a:extLst>
          </p:cNvPr>
          <p:cNvSpPr/>
          <p:nvPr/>
        </p:nvSpPr>
        <p:spPr>
          <a:xfrm>
            <a:off x="4610100" y="322421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16"/>
          <p:cNvSpPr>
            <a:spLocks noGrp="1"/>
          </p:cNvSpPr>
          <p:nvPr>
            <p:ph type="title" idx="4294967295"/>
          </p:nvPr>
        </p:nvSpPr>
        <p:spPr>
          <a:xfrm>
            <a:off x="609600" y="2433638"/>
            <a:ext cx="3124200" cy="2763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1800"/>
              <a:buFont typeface="Inter"/>
              <a:buNone/>
              <a:tabLst/>
              <a:defRPr/>
            </a:pPr>
            <a:r>
              <a:rPr kumimoji="0" lang="en-US" sz="1800" b="1" i="0" u="none" strike="noStrike" kern="0" cap="none" spc="0" normalizeH="0" baseline="0" noProof="0" dirty="0">
                <a:ln>
                  <a:noFill/>
                </a:ln>
                <a:solidFill>
                  <a:srgbClr val="000000"/>
                </a:solidFill>
                <a:effectLst/>
                <a:uLnTx/>
                <a:uFillTx/>
                <a:latin typeface="Inter"/>
                <a:ea typeface="Inter"/>
                <a:cs typeface="Inter"/>
                <a:sym typeface="Inter"/>
              </a:rPr>
              <a:t>Agenda</a:t>
            </a:r>
            <a:endParaRPr kumimoji="0" lang="en-US" sz="18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892" name="Google Shape;892;p116">
            <a:extLst>
              <a:ext uri="{C183D7F6-B498-43B3-948B-1728B52AA6E4}">
                <adec:decorative xmlns:adec="http://schemas.microsoft.com/office/drawing/2017/decorative" val="1"/>
              </a:ext>
            </a:extLst>
          </p:cNvPr>
          <p:cNvSpPr/>
          <p:nvPr/>
        </p:nvSpPr>
        <p:spPr>
          <a:xfrm>
            <a:off x="3446150" y="3224225"/>
            <a:ext cx="47775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None/>
            </a:pPr>
            <a:endParaRPr sz="1350" i="0" u="none" strike="noStrike" cap="none">
              <a:solidFill>
                <a:schemeClr val="dk1"/>
              </a:solidFill>
              <a:latin typeface="Inter Medium"/>
              <a:ea typeface="Inter Medium"/>
              <a:cs typeface="Inter Medium"/>
              <a:sym typeface="Inter Medium"/>
            </a:endParaRPr>
          </a:p>
        </p:txBody>
      </p:sp>
      <p:sp>
        <p:nvSpPr>
          <p:cNvPr id="893" name="Google Shape;893;p116"/>
          <p:cNvSpPr/>
          <p:nvPr/>
        </p:nvSpPr>
        <p:spPr>
          <a:xfrm>
            <a:off x="3522725" y="2643200"/>
            <a:ext cx="4777500" cy="2286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None/>
            </a:pPr>
            <a:r>
              <a:rPr lang="en" sz="1450" b="1" dirty="0">
                <a:solidFill>
                  <a:schemeClr val="dk1"/>
                </a:solidFill>
                <a:latin typeface="Inter"/>
                <a:ea typeface="Inter"/>
                <a:cs typeface="Inter"/>
                <a:sym typeface="Inter"/>
              </a:rPr>
              <a:t>Setting a Clear Product Vision: Aligning User Stories and Objectives</a:t>
            </a:r>
            <a:endParaRPr sz="1450" b="1" dirty="0">
              <a:solidFill>
                <a:schemeClr val="dk1"/>
              </a:solidFill>
              <a:latin typeface="Inter"/>
              <a:ea typeface="Inter"/>
              <a:cs typeface="Inter"/>
              <a:sym typeface="Inter"/>
            </a:endParaRPr>
          </a:p>
          <a:p>
            <a:pPr marL="0" lvl="0" indent="0" algn="l" rtl="0">
              <a:lnSpc>
                <a:spcPct val="115000"/>
              </a:lnSpc>
              <a:spcBef>
                <a:spcPts val="1200"/>
              </a:spcBef>
              <a:spcAft>
                <a:spcPts val="0"/>
              </a:spcAft>
              <a:buNone/>
            </a:pPr>
            <a:r>
              <a:rPr lang="en" sz="1450" b="1" dirty="0">
                <a:solidFill>
                  <a:schemeClr val="dk1"/>
                </a:solidFill>
                <a:latin typeface="Inter"/>
                <a:ea typeface="Inter"/>
                <a:cs typeface="Inter"/>
                <a:sym typeface="Inter"/>
              </a:rPr>
              <a:t>Visioning Exercises: Defining the Problem and the Product</a:t>
            </a:r>
            <a:endParaRPr sz="1450" b="1" dirty="0">
              <a:solidFill>
                <a:schemeClr val="dk1"/>
              </a:solidFill>
              <a:latin typeface="Inter"/>
              <a:ea typeface="Inter"/>
              <a:cs typeface="Inter"/>
              <a:sym typeface="Inter"/>
            </a:endParaRPr>
          </a:p>
          <a:p>
            <a:pPr marL="0" lvl="0" indent="0" algn="l" rtl="0">
              <a:lnSpc>
                <a:spcPct val="115000"/>
              </a:lnSpc>
              <a:spcBef>
                <a:spcPts val="1200"/>
              </a:spcBef>
              <a:spcAft>
                <a:spcPts val="0"/>
              </a:spcAft>
              <a:buNone/>
            </a:pPr>
            <a:r>
              <a:rPr lang="en" sz="1450" b="1" dirty="0">
                <a:solidFill>
                  <a:schemeClr val="dk1"/>
                </a:solidFill>
                <a:latin typeface="Inter"/>
                <a:ea typeface="Inter"/>
                <a:cs typeface="Inter"/>
                <a:sym typeface="Inter"/>
              </a:rPr>
              <a:t>Defining Success: Desired Outcomes and Acquisition Goals</a:t>
            </a:r>
            <a:endParaRPr sz="1450" b="1" dirty="0">
              <a:solidFill>
                <a:schemeClr val="dk1"/>
              </a:solidFill>
              <a:latin typeface="Inter"/>
              <a:ea typeface="Inter"/>
              <a:cs typeface="Inter"/>
              <a:sym typeface="Inter"/>
            </a:endParaRPr>
          </a:p>
          <a:p>
            <a:pPr marL="0" lvl="0" indent="0" algn="l" rtl="0">
              <a:lnSpc>
                <a:spcPct val="115000"/>
              </a:lnSpc>
              <a:spcBef>
                <a:spcPts val="1200"/>
              </a:spcBef>
              <a:spcAft>
                <a:spcPts val="0"/>
              </a:spcAft>
              <a:buNone/>
            </a:pPr>
            <a:r>
              <a:rPr lang="en" sz="1450" b="1" dirty="0">
                <a:solidFill>
                  <a:schemeClr val="dk1"/>
                </a:solidFill>
                <a:latin typeface="Inter"/>
                <a:ea typeface="Inter"/>
                <a:cs typeface="Inter"/>
                <a:sym typeface="Inter"/>
              </a:rPr>
              <a:t>Talking Metrics: Framing Success Beyond Budget and Timeline</a:t>
            </a:r>
            <a:endParaRPr sz="1450" b="1" dirty="0">
              <a:solidFill>
                <a:schemeClr val="dk1"/>
              </a:solidFill>
              <a:latin typeface="Inter"/>
              <a:ea typeface="Inter"/>
              <a:cs typeface="Inter"/>
              <a:sym typeface="Inter"/>
            </a:endParaRPr>
          </a:p>
          <a:p>
            <a:pPr marL="0" lvl="0" indent="0" algn="l" rtl="0">
              <a:lnSpc>
                <a:spcPct val="115000"/>
              </a:lnSpc>
              <a:spcBef>
                <a:spcPts val="1200"/>
              </a:spcBef>
              <a:spcAft>
                <a:spcPts val="0"/>
              </a:spcAft>
              <a:buNone/>
            </a:pPr>
            <a:r>
              <a:rPr lang="en" sz="1450" b="1" dirty="0">
                <a:solidFill>
                  <a:schemeClr val="dk1"/>
                </a:solidFill>
                <a:latin typeface="Inter"/>
                <a:ea typeface="Inter"/>
                <a:cs typeface="Inter"/>
                <a:sym typeface="Inter"/>
              </a:rPr>
              <a:t>What Are You Really Buying? People, Process, or Product</a:t>
            </a:r>
            <a:endParaRPr sz="1450" b="1" dirty="0">
              <a:solidFill>
                <a:schemeClr val="dk1"/>
              </a:solidFill>
              <a:latin typeface="Inter"/>
              <a:ea typeface="Inter"/>
              <a:cs typeface="Inter"/>
              <a:sym typeface="Inter"/>
            </a:endParaRPr>
          </a:p>
          <a:p>
            <a:pPr marL="0" lvl="0" indent="0" algn="l" rtl="0">
              <a:lnSpc>
                <a:spcPct val="115000"/>
              </a:lnSpc>
              <a:spcBef>
                <a:spcPts val="1200"/>
              </a:spcBef>
              <a:spcAft>
                <a:spcPts val="0"/>
              </a:spcAft>
              <a:buNone/>
            </a:pPr>
            <a:r>
              <a:rPr lang="en" sz="1450" b="1" dirty="0">
                <a:solidFill>
                  <a:schemeClr val="dk1"/>
                </a:solidFill>
                <a:latin typeface="Inter"/>
                <a:ea typeface="Inter"/>
                <a:cs typeface="Inter"/>
                <a:sym typeface="Inter"/>
              </a:rPr>
              <a:t>Navigating Constraints: Identifying Barriers to Success</a:t>
            </a:r>
            <a:endParaRPr sz="1450" b="1" dirty="0">
              <a:solidFill>
                <a:schemeClr val="dk1"/>
              </a:solidFill>
              <a:latin typeface="Inter"/>
              <a:ea typeface="Inter"/>
              <a:cs typeface="Inter"/>
              <a:sym typeface="Inter"/>
            </a:endParaRPr>
          </a:p>
        </p:txBody>
      </p:sp>
      <p:sp>
        <p:nvSpPr>
          <p:cNvPr id="894" name="Google Shape;894;p116">
            <a:extLst>
              <a:ext uri="{C183D7F6-B498-43B3-948B-1728B52AA6E4}">
                <adec:decorative xmlns:adec="http://schemas.microsoft.com/office/drawing/2017/decorative" val="1"/>
              </a:ext>
            </a:extLst>
          </p:cNvPr>
          <p:cNvSpPr/>
          <p:nvPr/>
        </p:nvSpPr>
        <p:spPr>
          <a:xfrm>
            <a:off x="3446150" y="4186250"/>
            <a:ext cx="46539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32000"/>
              </a:lnSpc>
              <a:spcBef>
                <a:spcPts val="0"/>
              </a:spcBef>
              <a:spcAft>
                <a:spcPts val="0"/>
              </a:spcAft>
              <a:buClr>
                <a:srgbClr val="000000"/>
              </a:buClr>
              <a:buSzPts val="1350"/>
              <a:buFont typeface="Inter"/>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99"/>
        <p:cNvGrpSpPr/>
        <p:nvPr/>
      </p:nvGrpSpPr>
      <p:grpSpPr>
        <a:xfrm>
          <a:off x="0" y="0"/>
          <a:ext cx="0" cy="0"/>
          <a:chOff x="0" y="0"/>
          <a:chExt cx="0" cy="0"/>
        </a:xfrm>
      </p:grpSpPr>
      <p:sp>
        <p:nvSpPr>
          <p:cNvPr id="900" name="Google Shape;900;p117">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17"/>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Activity: </a:t>
            </a:r>
            <a:r>
              <a:rPr kumimoji="0" lang="en-US" sz="2250" b="1" i="0" u="none" strike="noStrike" kern="0" cap="none" spc="0" normalizeH="0" baseline="0" noProof="0" dirty="0">
                <a:ln>
                  <a:noFill/>
                </a:ln>
                <a:solidFill>
                  <a:schemeClr val="dk1"/>
                </a:solidFill>
                <a:effectLst/>
                <a:uLnTx/>
                <a:uFillTx/>
                <a:latin typeface="Inter"/>
                <a:ea typeface="Inter"/>
                <a:cs typeface="Inter"/>
                <a:sym typeface="Inter"/>
              </a:rPr>
              <a:t>Using AI to translate Vision into Return on Mission</a:t>
            </a:r>
          </a:p>
        </p:txBody>
      </p:sp>
      <p:sp>
        <p:nvSpPr>
          <p:cNvPr id="902" name="Google Shape;902;p117"/>
          <p:cNvSpPr/>
          <p:nvPr/>
        </p:nvSpPr>
        <p:spPr>
          <a:xfrm>
            <a:off x="581100" y="2370075"/>
            <a:ext cx="5772000" cy="13080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None/>
            </a:pPr>
            <a:r>
              <a:rPr lang="en" sz="1800" b="1" dirty="0">
                <a:solidFill>
                  <a:schemeClr val="dk1"/>
                </a:solidFill>
                <a:latin typeface="Inter"/>
                <a:ea typeface="Inter"/>
                <a:cs typeface="Inter"/>
                <a:sym typeface="Inter"/>
              </a:rPr>
              <a:t>Instructions</a:t>
            </a:r>
            <a:r>
              <a:rPr lang="en" sz="1600" b="1" dirty="0">
                <a:solidFill>
                  <a:schemeClr val="dk1"/>
                </a:solidFill>
                <a:latin typeface="Inter"/>
                <a:ea typeface="Inter"/>
                <a:cs typeface="Inter"/>
                <a:sym typeface="Inter"/>
              </a:rPr>
              <a:t> </a:t>
            </a:r>
            <a:br>
              <a:rPr lang="en" sz="1600" b="1" dirty="0">
                <a:solidFill>
                  <a:schemeClr val="dk1"/>
                </a:solidFill>
                <a:latin typeface="Inter"/>
                <a:ea typeface="Inter"/>
                <a:cs typeface="Inter"/>
                <a:sym typeface="Inter"/>
              </a:rPr>
            </a:br>
            <a:endParaRPr sz="1600" b="1" dirty="0">
              <a:solidFill>
                <a:schemeClr val="dk1"/>
              </a:solidFill>
              <a:latin typeface="Inter"/>
              <a:ea typeface="Inter"/>
              <a:cs typeface="Inter"/>
              <a:sym typeface="Inter"/>
            </a:endParaRPr>
          </a:p>
          <a:p>
            <a:pPr marL="412750" lvl="0" indent="-285750" algn="l" rtl="0">
              <a:lnSpc>
                <a:spcPct val="115000"/>
              </a:lnSpc>
              <a:spcBef>
                <a:spcPts val="0"/>
              </a:spcBef>
              <a:spcAft>
                <a:spcPts val="0"/>
              </a:spcAft>
              <a:buClr>
                <a:schemeClr val="dk1"/>
              </a:buClr>
              <a:buSzPts val="1600"/>
              <a:buFont typeface="Arial" panose="020B0604020202020204" pitchFamily="34" charset="0"/>
              <a:buChar char="•"/>
            </a:pPr>
            <a:r>
              <a:rPr lang="en" sz="1600" dirty="0">
                <a:solidFill>
                  <a:schemeClr val="dk1"/>
                </a:solidFill>
                <a:latin typeface="Inter"/>
                <a:ea typeface="Inter"/>
                <a:cs typeface="Inter"/>
                <a:sym typeface="Inter"/>
              </a:rPr>
              <a:t>Split into small groups</a:t>
            </a:r>
          </a:p>
          <a:p>
            <a:pPr marL="412750" lvl="0" indent="-285750" algn="l" rtl="0">
              <a:lnSpc>
                <a:spcPct val="115000"/>
              </a:lnSpc>
              <a:spcBef>
                <a:spcPts val="0"/>
              </a:spcBef>
              <a:spcAft>
                <a:spcPts val="0"/>
              </a:spcAft>
              <a:buClr>
                <a:schemeClr val="dk1"/>
              </a:buClr>
              <a:buSzPts val="1600"/>
              <a:buFont typeface="Arial" panose="020B0604020202020204" pitchFamily="34" charset="0"/>
              <a:buChar char="•"/>
            </a:pPr>
            <a:r>
              <a:rPr lang="en" sz="1600" dirty="0">
                <a:solidFill>
                  <a:schemeClr val="dk1"/>
                </a:solidFill>
                <a:latin typeface="Inter"/>
                <a:ea typeface="Inter"/>
                <a:cs typeface="Inter"/>
                <a:sym typeface="Inter"/>
              </a:rPr>
              <a:t>Start with a Product Vision </a:t>
            </a:r>
          </a:p>
          <a:p>
            <a:pPr marL="412750" lvl="0" indent="-285750" algn="l" rtl="0">
              <a:lnSpc>
                <a:spcPct val="115000"/>
              </a:lnSpc>
              <a:spcBef>
                <a:spcPts val="0"/>
              </a:spcBef>
              <a:spcAft>
                <a:spcPts val="0"/>
              </a:spcAft>
              <a:buClr>
                <a:schemeClr val="dk1"/>
              </a:buClr>
              <a:buSzPts val="1600"/>
              <a:buFont typeface="Arial" panose="020B0604020202020204" pitchFamily="34" charset="0"/>
              <a:buChar char="•"/>
            </a:pPr>
            <a:r>
              <a:rPr lang="en" sz="1600" dirty="0">
                <a:solidFill>
                  <a:schemeClr val="dk1"/>
                </a:solidFill>
                <a:latin typeface="Inter"/>
                <a:ea typeface="Inter"/>
                <a:cs typeface="Inter"/>
                <a:sym typeface="Inter"/>
              </a:rPr>
              <a:t>Prompt the AI </a:t>
            </a:r>
            <a:endParaRPr sz="1600" dirty="0">
              <a:solidFill>
                <a:schemeClr val="dk1"/>
              </a:solidFill>
              <a:latin typeface="Inter"/>
              <a:ea typeface="Inter"/>
              <a:cs typeface="Inter"/>
              <a:sym typeface="Inter"/>
            </a:endParaRPr>
          </a:p>
          <a:p>
            <a:pPr marL="412750" lvl="0" indent="-285750" algn="l" rtl="0">
              <a:lnSpc>
                <a:spcPct val="115000"/>
              </a:lnSpc>
              <a:spcBef>
                <a:spcPts val="0"/>
              </a:spcBef>
              <a:spcAft>
                <a:spcPts val="0"/>
              </a:spcAft>
              <a:buClr>
                <a:schemeClr val="dk1"/>
              </a:buClr>
              <a:buSzPts val="1600"/>
              <a:buFont typeface="Arial" panose="020B0604020202020204" pitchFamily="34" charset="0"/>
              <a:buChar char="•"/>
            </a:pPr>
            <a:r>
              <a:rPr lang="en" sz="1600" dirty="0">
                <a:solidFill>
                  <a:schemeClr val="dk1"/>
                </a:solidFill>
                <a:latin typeface="Inter"/>
                <a:ea typeface="Inter"/>
                <a:cs typeface="Inter"/>
                <a:sym typeface="Inter"/>
              </a:rPr>
              <a:t>Review and Refine</a:t>
            </a:r>
            <a:endParaRPr sz="1600" dirty="0">
              <a:solidFill>
                <a:schemeClr val="dk1"/>
              </a:solidFill>
              <a:latin typeface="Inter"/>
              <a:ea typeface="Inter"/>
              <a:cs typeface="Inter"/>
              <a:sym typeface="Inter"/>
            </a:endParaRPr>
          </a:p>
          <a:p>
            <a:pPr marL="412750" lvl="0" indent="-285750" algn="l" rtl="0">
              <a:lnSpc>
                <a:spcPct val="115000"/>
              </a:lnSpc>
              <a:spcBef>
                <a:spcPts val="0"/>
              </a:spcBef>
              <a:spcAft>
                <a:spcPts val="0"/>
              </a:spcAft>
              <a:buClr>
                <a:schemeClr val="dk1"/>
              </a:buClr>
              <a:buSzPts val="1600"/>
              <a:buFont typeface="Arial" panose="020B0604020202020204" pitchFamily="34" charset="0"/>
              <a:buChar char="•"/>
            </a:pPr>
            <a:r>
              <a:rPr lang="en" sz="1600" dirty="0">
                <a:solidFill>
                  <a:schemeClr val="dk1"/>
                </a:solidFill>
                <a:latin typeface="Inter"/>
                <a:ea typeface="Inter"/>
                <a:cs typeface="Inter"/>
                <a:sym typeface="Inter"/>
              </a:rPr>
              <a:t>Capture the Output </a:t>
            </a:r>
            <a:endParaRPr sz="1600" dirty="0">
              <a:solidFill>
                <a:schemeClr val="dk1"/>
              </a:solidFill>
              <a:latin typeface="Inter"/>
              <a:ea typeface="Inter"/>
              <a:cs typeface="Inter"/>
              <a:sym typeface="Inter"/>
            </a:endParaRPr>
          </a:p>
          <a:p>
            <a:pPr marL="457200" lvl="0" indent="0" algn="l" rtl="0">
              <a:spcBef>
                <a:spcPts val="1200"/>
              </a:spcBef>
              <a:spcAft>
                <a:spcPts val="0"/>
              </a:spcAft>
              <a:buNone/>
            </a:pPr>
            <a:endParaRPr sz="1800" dirty="0">
              <a:solidFill>
                <a:schemeClr val="dk1"/>
              </a:solidFill>
              <a:latin typeface="Inter"/>
              <a:ea typeface="Inter"/>
              <a:cs typeface="Inter"/>
              <a:sym typeface="Inter"/>
            </a:endParaRPr>
          </a:p>
          <a:p>
            <a:pPr marL="0" marR="0" lvl="0" indent="0" algn="l" rtl="0">
              <a:lnSpc>
                <a:spcPct val="140000"/>
              </a:lnSpc>
              <a:spcBef>
                <a:spcPts val="1200"/>
              </a:spcBef>
              <a:spcAft>
                <a:spcPts val="0"/>
              </a:spcAft>
              <a:buClr>
                <a:srgbClr val="000000"/>
              </a:buClr>
              <a:buSzPts val="1350"/>
              <a:buFont typeface="Inter"/>
              <a:buNone/>
            </a:pPr>
            <a:endParaRPr dirty="0">
              <a:latin typeface="Inter"/>
              <a:ea typeface="Inter"/>
              <a:cs typeface="Inter"/>
              <a:sym typeface="Inter"/>
            </a:endParaRPr>
          </a:p>
        </p:txBody>
      </p:sp>
      <p:pic>
        <p:nvPicPr>
          <p:cNvPr id="903" name="Google Shape;903;p117" descr="group activity icon"/>
          <p:cNvPicPr preferRelativeResize="0"/>
          <p:nvPr/>
        </p:nvPicPr>
        <p:blipFill>
          <a:blip r:embed="rId3">
            <a:alphaModFix/>
          </a:blip>
          <a:stretch>
            <a:fillRect/>
          </a:stretch>
        </p:blipFill>
        <p:spPr>
          <a:xfrm>
            <a:off x="6629400" y="1730600"/>
            <a:ext cx="2057400" cy="20574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8"/>
        <p:cNvGrpSpPr/>
        <p:nvPr/>
      </p:nvGrpSpPr>
      <p:grpSpPr>
        <a:xfrm>
          <a:off x="0" y="0"/>
          <a:ext cx="0" cy="0"/>
          <a:chOff x="0" y="0"/>
          <a:chExt cx="0" cy="0"/>
        </a:xfrm>
      </p:grpSpPr>
      <p:sp>
        <p:nvSpPr>
          <p:cNvPr id="909" name="Google Shape;909;p118">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18"/>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Introducing the </a:t>
            </a:r>
            <a:r>
              <a:rPr kumimoji="0" lang="en-US" sz="2250" b="1" i="0" u="none" strike="noStrike" kern="0" cap="none" spc="0" normalizeH="0" baseline="0" noProof="0" dirty="0" err="1">
                <a:ln>
                  <a:noFill/>
                </a:ln>
                <a:solidFill>
                  <a:srgbClr val="000000"/>
                </a:solidFill>
                <a:effectLst/>
                <a:uLnTx/>
                <a:uFillTx/>
                <a:latin typeface="Inter"/>
                <a:ea typeface="Inter"/>
                <a:cs typeface="Inter"/>
                <a:sym typeface="Inter"/>
              </a:rPr>
              <a:t>Acq</a:t>
            </a: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-A-Thon</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911" name="Google Shape;911;p118"/>
          <p:cNvSpPr/>
          <p:nvPr/>
        </p:nvSpPr>
        <p:spPr>
          <a:xfrm>
            <a:off x="533400" y="1157183"/>
            <a:ext cx="6381000" cy="1308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 sz="1600" b="1" dirty="0">
                <a:solidFill>
                  <a:schemeClr val="dk1"/>
                </a:solidFill>
                <a:latin typeface="Inter"/>
                <a:ea typeface="Inter"/>
                <a:cs typeface="Inter"/>
                <a:sym typeface="Inter"/>
              </a:rPr>
              <a:t>What is it?</a:t>
            </a:r>
          </a:p>
          <a:p>
            <a:pPr marL="0" lvl="0" indent="0" algn="l" rtl="0">
              <a:lnSpc>
                <a:spcPct val="115000"/>
              </a:lnSpc>
              <a:spcBef>
                <a:spcPts val="1200"/>
              </a:spcBef>
              <a:spcAft>
                <a:spcPts val="0"/>
              </a:spcAft>
              <a:buNone/>
            </a:pPr>
            <a:endParaRPr lang="en" sz="1500" b="1" dirty="0">
              <a:solidFill>
                <a:schemeClr val="dk1"/>
              </a:solidFill>
              <a:latin typeface="Inter"/>
              <a:ea typeface="Inter"/>
              <a:cs typeface="Inter"/>
              <a:sym typeface="Inter"/>
            </a:endParaRPr>
          </a:p>
          <a:p>
            <a:pPr marL="0" lvl="0" indent="0" algn="l" rtl="0">
              <a:lnSpc>
                <a:spcPct val="115000"/>
              </a:lnSpc>
              <a:spcBef>
                <a:spcPts val="1200"/>
              </a:spcBef>
              <a:spcAft>
                <a:spcPts val="0"/>
              </a:spcAft>
              <a:buNone/>
            </a:pPr>
            <a:endParaRPr lang="en" sz="1500" b="1" dirty="0">
              <a:solidFill>
                <a:schemeClr val="dk1"/>
              </a:solidFill>
              <a:latin typeface="Inter"/>
              <a:ea typeface="Inter"/>
              <a:cs typeface="Inter"/>
              <a:sym typeface="Inter"/>
            </a:endParaRPr>
          </a:p>
          <a:p>
            <a:pPr marL="0" lvl="0" indent="0" algn="l" rtl="0">
              <a:lnSpc>
                <a:spcPct val="115000"/>
              </a:lnSpc>
              <a:spcBef>
                <a:spcPts val="1200"/>
              </a:spcBef>
              <a:spcAft>
                <a:spcPts val="0"/>
              </a:spcAft>
              <a:buNone/>
            </a:pPr>
            <a:r>
              <a:rPr lang="en" sz="1600" b="1" dirty="0">
                <a:solidFill>
                  <a:schemeClr val="dk1"/>
                </a:solidFill>
                <a:latin typeface="Inter"/>
                <a:ea typeface="Inter"/>
                <a:cs typeface="Inter"/>
                <a:sym typeface="Inter"/>
              </a:rPr>
              <a:t>What happens in an  </a:t>
            </a:r>
            <a:r>
              <a:rPr lang="en" sz="1600" b="1" dirty="0" err="1">
                <a:solidFill>
                  <a:schemeClr val="dk1"/>
                </a:solidFill>
                <a:latin typeface="Inter"/>
                <a:ea typeface="Inter"/>
                <a:cs typeface="Inter"/>
                <a:sym typeface="Inter"/>
              </a:rPr>
              <a:t>Acq</a:t>
            </a:r>
            <a:r>
              <a:rPr lang="en" sz="1600" b="1" dirty="0">
                <a:solidFill>
                  <a:schemeClr val="dk1"/>
                </a:solidFill>
                <a:latin typeface="Inter"/>
                <a:ea typeface="Inter"/>
                <a:cs typeface="Inter"/>
                <a:sym typeface="Inter"/>
              </a:rPr>
              <a:t>-A-thon: </a:t>
            </a:r>
            <a:endParaRPr lang="en" sz="1600" dirty="0">
              <a:solidFill>
                <a:schemeClr val="dk1"/>
              </a:solidFill>
              <a:latin typeface="Inter"/>
              <a:ea typeface="Inter"/>
              <a:cs typeface="Inter"/>
              <a:sym typeface="Inter"/>
            </a:endParaRPr>
          </a:p>
          <a:p>
            <a:pPr marL="431800" lvl="0" indent="-285750" algn="l" rtl="0">
              <a:lnSpc>
                <a:spcPct val="115000"/>
              </a:lnSpc>
              <a:spcBef>
                <a:spcPts val="1200"/>
              </a:spcBef>
              <a:spcAft>
                <a:spcPts val="0"/>
              </a:spcAft>
              <a:buClr>
                <a:schemeClr val="dk1"/>
              </a:buClr>
              <a:buSzPts val="1300"/>
              <a:buFont typeface="Arial" panose="020B0604020202020204" pitchFamily="34" charset="0"/>
              <a:buChar char="•"/>
            </a:pPr>
            <a:r>
              <a:rPr lang="en" sz="1500" dirty="0">
                <a:solidFill>
                  <a:schemeClr val="dk1"/>
                </a:solidFill>
                <a:latin typeface="Inter"/>
                <a:ea typeface="Inter"/>
                <a:cs typeface="Inter"/>
                <a:sym typeface="Inter"/>
              </a:rPr>
              <a:t>Define the problem and mission goals</a:t>
            </a:r>
            <a:endParaRPr sz="1500" dirty="0">
              <a:solidFill>
                <a:schemeClr val="dk1"/>
              </a:solidFill>
              <a:latin typeface="Inter"/>
              <a:ea typeface="Inter"/>
              <a:cs typeface="Inter"/>
              <a:sym typeface="Inter"/>
            </a:endParaRPr>
          </a:p>
          <a:p>
            <a:pPr marL="431800" lvl="0" indent="-285750" algn="l" rtl="0">
              <a:lnSpc>
                <a:spcPct val="115000"/>
              </a:lnSpc>
              <a:spcBef>
                <a:spcPts val="0"/>
              </a:spcBef>
              <a:spcAft>
                <a:spcPts val="0"/>
              </a:spcAft>
              <a:buClr>
                <a:schemeClr val="dk1"/>
              </a:buClr>
              <a:buSzPts val="1300"/>
              <a:buFont typeface="Arial" panose="020B0604020202020204" pitchFamily="34" charset="0"/>
              <a:buChar char="•"/>
            </a:pPr>
            <a:r>
              <a:rPr lang="en" sz="1500" dirty="0">
                <a:solidFill>
                  <a:schemeClr val="dk1"/>
                </a:solidFill>
                <a:latin typeface="Inter"/>
                <a:ea typeface="Inter"/>
                <a:cs typeface="Inter"/>
                <a:sym typeface="Inter"/>
              </a:rPr>
              <a:t>Clarify the product vision</a:t>
            </a:r>
            <a:endParaRPr sz="1500" dirty="0">
              <a:solidFill>
                <a:schemeClr val="dk1"/>
              </a:solidFill>
              <a:latin typeface="Inter"/>
              <a:ea typeface="Inter"/>
              <a:cs typeface="Inter"/>
              <a:sym typeface="Inter"/>
            </a:endParaRPr>
          </a:p>
          <a:p>
            <a:pPr marL="431800" lvl="0" indent="-285750" algn="l" rtl="0">
              <a:lnSpc>
                <a:spcPct val="115000"/>
              </a:lnSpc>
              <a:spcBef>
                <a:spcPts val="0"/>
              </a:spcBef>
              <a:spcAft>
                <a:spcPts val="0"/>
              </a:spcAft>
              <a:buClr>
                <a:schemeClr val="dk1"/>
              </a:buClr>
              <a:buSzPts val="1300"/>
              <a:buFont typeface="Arial" panose="020B0604020202020204" pitchFamily="34" charset="0"/>
              <a:buChar char="•"/>
            </a:pPr>
            <a:r>
              <a:rPr lang="en" sz="1500" dirty="0">
                <a:solidFill>
                  <a:schemeClr val="dk1"/>
                </a:solidFill>
                <a:latin typeface="Inter"/>
                <a:ea typeface="Inter"/>
                <a:cs typeface="Inter"/>
                <a:sym typeface="Inter"/>
              </a:rPr>
              <a:t>Identify key constraints (tech, legal, budget)</a:t>
            </a:r>
            <a:endParaRPr sz="1500" dirty="0">
              <a:solidFill>
                <a:schemeClr val="dk1"/>
              </a:solidFill>
              <a:latin typeface="Inter"/>
              <a:ea typeface="Inter"/>
              <a:cs typeface="Inter"/>
              <a:sym typeface="Inter"/>
            </a:endParaRPr>
          </a:p>
          <a:p>
            <a:pPr marL="431800" lvl="0" indent="-285750" algn="l" rtl="0">
              <a:lnSpc>
                <a:spcPct val="115000"/>
              </a:lnSpc>
              <a:spcBef>
                <a:spcPts val="0"/>
              </a:spcBef>
              <a:spcAft>
                <a:spcPts val="0"/>
              </a:spcAft>
              <a:buClr>
                <a:schemeClr val="dk1"/>
              </a:buClr>
              <a:buSzPts val="1300"/>
              <a:buFont typeface="Arial" panose="020B0604020202020204" pitchFamily="34" charset="0"/>
              <a:buChar char="•"/>
            </a:pPr>
            <a:r>
              <a:rPr lang="en" sz="1500" dirty="0">
                <a:solidFill>
                  <a:schemeClr val="dk1"/>
                </a:solidFill>
                <a:latin typeface="Inter"/>
                <a:ea typeface="Inter"/>
                <a:cs typeface="Inter"/>
                <a:sym typeface="Inter"/>
              </a:rPr>
              <a:t>Draft an early acquisition approach</a:t>
            </a:r>
          </a:p>
          <a:p>
            <a:pPr marL="0" marR="0" lvl="0" indent="0" algn="l" rtl="0">
              <a:lnSpc>
                <a:spcPct val="140000"/>
              </a:lnSpc>
              <a:spcBef>
                <a:spcPts val="1200"/>
              </a:spcBef>
              <a:spcAft>
                <a:spcPts val="0"/>
              </a:spcAft>
              <a:buClr>
                <a:srgbClr val="000000"/>
              </a:buClr>
              <a:buSzPts val="1350"/>
              <a:buFont typeface="Inter"/>
              <a:buNone/>
            </a:pPr>
            <a:endParaRPr dirty="0">
              <a:latin typeface="Inter"/>
              <a:ea typeface="Inter"/>
              <a:cs typeface="Inter"/>
              <a:sym typeface="Inter"/>
            </a:endParaRPr>
          </a:p>
        </p:txBody>
      </p:sp>
      <p:sp>
        <p:nvSpPr>
          <p:cNvPr id="2" name="Google Shape;911;p118">
            <a:extLst>
              <a:ext uri="{FF2B5EF4-FFF2-40B4-BE49-F238E27FC236}">
                <a16:creationId xmlns:a16="http://schemas.microsoft.com/office/drawing/2014/main" id="{E8CED90B-534E-2737-911E-697B5C327845}"/>
              </a:ext>
            </a:extLst>
          </p:cNvPr>
          <p:cNvSpPr/>
          <p:nvPr/>
        </p:nvSpPr>
        <p:spPr>
          <a:xfrm>
            <a:off x="533400" y="1511543"/>
            <a:ext cx="6381000" cy="1073459"/>
          </a:xfrm>
          <a:prstGeom prst="rect">
            <a:avLst/>
          </a:prstGeom>
          <a:noFill/>
          <a:ln>
            <a:noFill/>
          </a:ln>
        </p:spPr>
        <p:txBody>
          <a:bodyPr spcFirstLastPara="1" wrap="square" lIns="91425" tIns="45700" rIns="91425" bIns="45700" anchor="ctr" anchorCtr="0">
            <a:noAutofit/>
          </a:bodyPr>
          <a:lstStyle/>
          <a:p>
            <a:pPr marL="431800" indent="-285750">
              <a:lnSpc>
                <a:spcPct val="115000"/>
              </a:lnSpc>
              <a:buClr>
                <a:schemeClr val="dk1"/>
              </a:buClr>
              <a:buSzPts val="1300"/>
              <a:buFont typeface="Arial" panose="020B0604020202020204" pitchFamily="34" charset="0"/>
              <a:buChar char="•"/>
            </a:pPr>
            <a:r>
              <a:rPr lang="en" sz="1600" dirty="0">
                <a:solidFill>
                  <a:schemeClr val="dk1"/>
                </a:solidFill>
                <a:latin typeface="Inter"/>
                <a:ea typeface="Inter"/>
                <a:cs typeface="Inter"/>
                <a:sym typeface="Inter"/>
              </a:rPr>
              <a:t>A collaborative planning </a:t>
            </a:r>
            <a:r>
              <a:rPr lang="en-US" sz="1600" dirty="0">
                <a:solidFill>
                  <a:schemeClr val="dk1"/>
                </a:solidFill>
                <a:latin typeface="Inter"/>
                <a:ea typeface="Inter"/>
                <a:cs typeface="Inter"/>
                <a:sym typeface="Inter"/>
              </a:rPr>
              <a:t>planning workshop that brings key stakeholders together to design smarter, more mission-aligned acquisition strategies.</a:t>
            </a:r>
            <a:endParaRPr sz="2000" dirty="0">
              <a:solidFill>
                <a:schemeClr val="dk1"/>
              </a:solidFill>
              <a:latin typeface="Inter"/>
              <a:ea typeface="Inter"/>
              <a:cs typeface="Inter"/>
              <a:sym typeface="Inte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6"/>
        <p:cNvGrpSpPr/>
        <p:nvPr/>
      </p:nvGrpSpPr>
      <p:grpSpPr>
        <a:xfrm>
          <a:off x="0" y="0"/>
          <a:ext cx="0" cy="0"/>
          <a:chOff x="0" y="0"/>
          <a:chExt cx="0" cy="0"/>
        </a:xfrm>
      </p:grpSpPr>
      <p:sp>
        <p:nvSpPr>
          <p:cNvPr id="917" name="Google Shape;917;p119">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19"/>
          <p:cNvSpPr>
            <a:spLocks noGrp="1"/>
          </p:cNvSpPr>
          <p:nvPr>
            <p:ph type="title" idx="4294967295"/>
          </p:nvPr>
        </p:nvSpPr>
        <p:spPr>
          <a:xfrm>
            <a:off x="533400" y="450576"/>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err="1">
                <a:ln>
                  <a:noFill/>
                </a:ln>
                <a:solidFill>
                  <a:schemeClr val="dk1"/>
                </a:solidFill>
                <a:effectLst/>
                <a:uLnTx/>
                <a:uFillTx/>
                <a:latin typeface="Inter"/>
                <a:ea typeface="Inter"/>
                <a:cs typeface="Inter"/>
                <a:sym typeface="Inter"/>
              </a:rPr>
              <a:t>Acq</a:t>
            </a:r>
            <a:r>
              <a:rPr kumimoji="0" lang="en-US" sz="2250" b="1" i="0" u="none" strike="noStrike" kern="0" cap="none" spc="0" normalizeH="0" baseline="0" noProof="0" dirty="0">
                <a:ln>
                  <a:noFill/>
                </a:ln>
                <a:solidFill>
                  <a:schemeClr val="dk1"/>
                </a:solidFill>
                <a:effectLst/>
                <a:uLnTx/>
                <a:uFillTx/>
                <a:latin typeface="Inter"/>
                <a:ea typeface="Inter"/>
                <a:cs typeface="Inter"/>
                <a:sym typeface="Inter"/>
              </a:rPr>
              <a:t>-A-Thon: Who Should be in the Room? </a:t>
            </a: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 </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919" name="Google Shape;919;p119"/>
          <p:cNvSpPr/>
          <p:nvPr/>
        </p:nvSpPr>
        <p:spPr>
          <a:xfrm>
            <a:off x="533400" y="2571750"/>
            <a:ext cx="6381000" cy="1199136"/>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None/>
            </a:pPr>
            <a:r>
              <a:rPr lang="en" sz="1600" b="1" dirty="0">
                <a:solidFill>
                  <a:schemeClr val="dk1"/>
                </a:solidFill>
                <a:latin typeface="Inter"/>
                <a:ea typeface="Inter"/>
                <a:cs typeface="Inter"/>
                <a:sym typeface="Inter"/>
              </a:rPr>
              <a:t>Must-Haves:</a:t>
            </a:r>
            <a:endParaRPr dirty="0">
              <a:solidFill>
                <a:schemeClr val="dk1"/>
              </a:solidFill>
              <a:latin typeface="Nunito"/>
              <a:ea typeface="Nunito"/>
              <a:cs typeface="Nunito"/>
              <a:sym typeface="Nunito"/>
            </a:endParaRPr>
          </a:p>
          <a:p>
            <a:pPr marL="431800" lvl="0" indent="-285750">
              <a:lnSpc>
                <a:spcPct val="115000"/>
              </a:lnSpc>
              <a:spcBef>
                <a:spcPts val="1200"/>
              </a:spcBef>
              <a:buClr>
                <a:schemeClr val="dk1"/>
              </a:buClr>
              <a:buSzPts val="1300"/>
              <a:buFont typeface="Arial" panose="020B0604020202020204" pitchFamily="34" charset="0"/>
              <a:buChar char="•"/>
            </a:pPr>
            <a:r>
              <a:rPr lang="en-US" sz="1600" dirty="0">
                <a:solidFill>
                  <a:schemeClr val="dk1"/>
                </a:solidFill>
                <a:latin typeface="Inter"/>
                <a:ea typeface="Inter"/>
                <a:cs typeface="Inter"/>
                <a:sym typeface="Inter"/>
              </a:rPr>
              <a:t>Program Office/Requirements Owner</a:t>
            </a:r>
          </a:p>
          <a:p>
            <a:pPr marL="431800" lvl="0" indent="-285750">
              <a:lnSpc>
                <a:spcPct val="115000"/>
              </a:lnSpc>
              <a:buClr>
                <a:schemeClr val="dk1"/>
              </a:buClr>
              <a:buSzPts val="1300"/>
              <a:buFont typeface="Arial" panose="020B0604020202020204" pitchFamily="34" charset="0"/>
              <a:buChar char="•"/>
            </a:pPr>
            <a:r>
              <a:rPr lang="en-US" sz="1600" dirty="0">
                <a:solidFill>
                  <a:schemeClr val="dk1"/>
                </a:solidFill>
                <a:latin typeface="Inter"/>
                <a:ea typeface="Inter"/>
                <a:cs typeface="Inter"/>
                <a:sym typeface="Inter"/>
              </a:rPr>
              <a:t>Contracting Officer</a:t>
            </a:r>
          </a:p>
          <a:p>
            <a:pPr marL="431800" lvl="0" indent="-285750">
              <a:lnSpc>
                <a:spcPct val="115000"/>
              </a:lnSpc>
              <a:buClr>
                <a:schemeClr val="dk1"/>
              </a:buClr>
              <a:buSzPts val="1300"/>
              <a:buFont typeface="Arial" panose="020B0604020202020204" pitchFamily="34" charset="0"/>
              <a:buChar char="•"/>
            </a:pPr>
            <a:r>
              <a:rPr lang="en-US" sz="1600" dirty="0">
                <a:solidFill>
                  <a:schemeClr val="dk1"/>
                </a:solidFill>
                <a:latin typeface="Inter"/>
                <a:ea typeface="Inter"/>
                <a:cs typeface="Inter"/>
                <a:sym typeface="Inter"/>
              </a:rPr>
              <a:t>Contracting Officer’s Representative (COR)</a:t>
            </a:r>
          </a:p>
          <a:p>
            <a:pPr marL="431800" lvl="0" indent="-285750">
              <a:lnSpc>
                <a:spcPct val="115000"/>
              </a:lnSpc>
              <a:buClr>
                <a:schemeClr val="dk1"/>
              </a:buClr>
              <a:buSzPts val="1300"/>
              <a:buFont typeface="Arial" panose="020B0604020202020204" pitchFamily="34" charset="0"/>
              <a:buChar char="•"/>
            </a:pPr>
            <a:r>
              <a:rPr lang="en-US" sz="1600" dirty="0">
                <a:solidFill>
                  <a:schemeClr val="dk1"/>
                </a:solidFill>
                <a:latin typeface="Inter"/>
                <a:ea typeface="Inter"/>
                <a:cs typeface="Inter"/>
                <a:sym typeface="Inter"/>
              </a:rPr>
              <a:t>Product Owner (or person responsible for day-to-day delivery decisions</a:t>
            </a:r>
            <a:endParaRPr lang="en" sz="1600" dirty="0">
              <a:solidFill>
                <a:schemeClr val="dk1"/>
              </a:solidFill>
              <a:latin typeface="Inter"/>
              <a:ea typeface="Inter"/>
              <a:cs typeface="Inter"/>
              <a:sym typeface="Inter"/>
            </a:endParaRPr>
          </a:p>
          <a:p>
            <a:pPr marL="0" lvl="0" indent="0" algn="l" rtl="0">
              <a:lnSpc>
                <a:spcPct val="115000"/>
              </a:lnSpc>
              <a:spcBef>
                <a:spcPts val="1200"/>
              </a:spcBef>
              <a:spcAft>
                <a:spcPts val="0"/>
              </a:spcAft>
              <a:buNone/>
            </a:pPr>
            <a:r>
              <a:rPr lang="en" sz="1600" b="1" dirty="0">
                <a:solidFill>
                  <a:schemeClr val="dk1"/>
                </a:solidFill>
                <a:latin typeface="Inter"/>
                <a:ea typeface="Inter"/>
                <a:cs typeface="Inter"/>
                <a:sym typeface="Inter"/>
              </a:rPr>
              <a:t>Should-Haves: </a:t>
            </a:r>
            <a:endParaRPr dirty="0">
              <a:solidFill>
                <a:schemeClr val="dk1"/>
              </a:solidFill>
              <a:latin typeface="Inter"/>
              <a:ea typeface="Inter"/>
              <a:cs typeface="Inter"/>
              <a:sym typeface="Inter"/>
            </a:endParaRPr>
          </a:p>
          <a:p>
            <a:pPr marL="431800" lvl="0" indent="-285750" algn="l" rtl="0">
              <a:lnSpc>
                <a:spcPct val="115000"/>
              </a:lnSpc>
              <a:spcBef>
                <a:spcPts val="1200"/>
              </a:spcBef>
              <a:spcAft>
                <a:spcPts val="0"/>
              </a:spcAft>
              <a:buClr>
                <a:schemeClr val="dk1"/>
              </a:buClr>
              <a:buSzPts val="1300"/>
              <a:buFont typeface="Arial" panose="020B0604020202020204" pitchFamily="34" charset="0"/>
              <a:buChar char="•"/>
            </a:pPr>
            <a:r>
              <a:rPr lang="en" sz="1600" dirty="0">
                <a:solidFill>
                  <a:schemeClr val="dk1"/>
                </a:solidFill>
                <a:latin typeface="Inter"/>
                <a:ea typeface="Inter"/>
                <a:cs typeface="Inter"/>
                <a:sym typeface="Inter"/>
              </a:rPr>
              <a:t>Define the problem and mission goals.</a:t>
            </a:r>
            <a:endParaRPr sz="1600" dirty="0">
              <a:solidFill>
                <a:schemeClr val="dk1"/>
              </a:solidFill>
              <a:latin typeface="Inter"/>
              <a:ea typeface="Inter"/>
              <a:cs typeface="Inter"/>
              <a:sym typeface="Inter"/>
            </a:endParaRPr>
          </a:p>
          <a:p>
            <a:pPr marL="431800" lvl="0" indent="-285750" algn="l" rtl="0">
              <a:lnSpc>
                <a:spcPct val="115000"/>
              </a:lnSpc>
              <a:spcBef>
                <a:spcPts val="0"/>
              </a:spcBef>
              <a:spcAft>
                <a:spcPts val="0"/>
              </a:spcAft>
              <a:buClr>
                <a:schemeClr val="dk1"/>
              </a:buClr>
              <a:buSzPts val="1300"/>
              <a:buFont typeface="Arial" panose="020B0604020202020204" pitchFamily="34" charset="0"/>
              <a:buChar char="•"/>
            </a:pPr>
            <a:r>
              <a:rPr lang="en" sz="1600" dirty="0">
                <a:solidFill>
                  <a:schemeClr val="dk1"/>
                </a:solidFill>
                <a:latin typeface="Inter"/>
                <a:ea typeface="Inter"/>
                <a:cs typeface="Inter"/>
                <a:sym typeface="Inter"/>
              </a:rPr>
              <a:t>Clarify the product vision.</a:t>
            </a:r>
            <a:endParaRPr sz="1600" dirty="0">
              <a:solidFill>
                <a:schemeClr val="dk1"/>
              </a:solidFill>
              <a:latin typeface="Inter"/>
              <a:ea typeface="Inter"/>
              <a:cs typeface="Inter"/>
              <a:sym typeface="Inter"/>
            </a:endParaRPr>
          </a:p>
          <a:p>
            <a:pPr marL="431800" lvl="0" indent="-285750" algn="l" rtl="0">
              <a:lnSpc>
                <a:spcPct val="115000"/>
              </a:lnSpc>
              <a:spcBef>
                <a:spcPts val="0"/>
              </a:spcBef>
              <a:spcAft>
                <a:spcPts val="0"/>
              </a:spcAft>
              <a:buClr>
                <a:schemeClr val="dk1"/>
              </a:buClr>
              <a:buSzPts val="1300"/>
              <a:buFont typeface="Arial" panose="020B0604020202020204" pitchFamily="34" charset="0"/>
              <a:buChar char="•"/>
            </a:pPr>
            <a:r>
              <a:rPr lang="en" sz="1600" dirty="0">
                <a:solidFill>
                  <a:schemeClr val="dk1"/>
                </a:solidFill>
                <a:latin typeface="Inter"/>
                <a:ea typeface="Inter"/>
                <a:cs typeface="Inter"/>
                <a:sym typeface="Inter"/>
              </a:rPr>
              <a:t>Identify key constraints (tech, legal, budget).</a:t>
            </a:r>
            <a:endParaRPr sz="1600" dirty="0">
              <a:solidFill>
                <a:schemeClr val="dk1"/>
              </a:solidFill>
              <a:latin typeface="Inter"/>
              <a:ea typeface="Inter"/>
              <a:cs typeface="Inter"/>
              <a:sym typeface="Inter"/>
            </a:endParaRPr>
          </a:p>
          <a:p>
            <a:pPr marL="431800" lvl="0" indent="-285750" algn="l" rtl="0">
              <a:lnSpc>
                <a:spcPct val="115000"/>
              </a:lnSpc>
              <a:spcBef>
                <a:spcPts val="0"/>
              </a:spcBef>
              <a:spcAft>
                <a:spcPts val="0"/>
              </a:spcAft>
              <a:buClr>
                <a:schemeClr val="dk1"/>
              </a:buClr>
              <a:buSzPts val="1300"/>
              <a:buFont typeface="Arial" panose="020B0604020202020204" pitchFamily="34" charset="0"/>
              <a:buChar char="•"/>
            </a:pPr>
            <a:r>
              <a:rPr lang="en" sz="1600" dirty="0">
                <a:solidFill>
                  <a:schemeClr val="dk1"/>
                </a:solidFill>
                <a:latin typeface="Inter"/>
                <a:ea typeface="Inter"/>
                <a:cs typeface="Inter"/>
                <a:sym typeface="Inter"/>
              </a:rPr>
              <a:t>Draft an early acquisition approach.</a:t>
            </a:r>
            <a:endParaRPr sz="1600" dirty="0">
              <a:solidFill>
                <a:schemeClr val="dk1"/>
              </a:solidFill>
              <a:latin typeface="Inter"/>
              <a:ea typeface="Inter"/>
              <a:cs typeface="Inter"/>
              <a:sym typeface="Inter"/>
            </a:endParaRPr>
          </a:p>
          <a:p>
            <a:pPr marL="0" marR="0" lvl="0" indent="0" algn="l" rtl="0">
              <a:lnSpc>
                <a:spcPct val="140000"/>
              </a:lnSpc>
              <a:spcBef>
                <a:spcPts val="1200"/>
              </a:spcBef>
              <a:spcAft>
                <a:spcPts val="0"/>
              </a:spcAft>
              <a:buClr>
                <a:srgbClr val="000000"/>
              </a:buClr>
              <a:buSzPts val="1350"/>
              <a:buFont typeface="Inter"/>
              <a:buNone/>
            </a:pPr>
            <a:endParaRPr dirty="0">
              <a:latin typeface="Inter"/>
              <a:ea typeface="Inter"/>
              <a:cs typeface="Inter"/>
              <a:sym typeface="Inte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4"/>
        <p:cNvGrpSpPr/>
        <p:nvPr/>
      </p:nvGrpSpPr>
      <p:grpSpPr>
        <a:xfrm>
          <a:off x="0" y="0"/>
          <a:ext cx="0" cy="0"/>
          <a:chOff x="0" y="0"/>
          <a:chExt cx="0" cy="0"/>
        </a:xfrm>
      </p:grpSpPr>
      <p:sp>
        <p:nvSpPr>
          <p:cNvPr id="925" name="Google Shape;925;p120">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20"/>
          <p:cNvSpPr>
            <a:spLocks noGrp="1"/>
          </p:cNvSpPr>
          <p:nvPr>
            <p:ph type="title" idx="4294967295"/>
          </p:nvPr>
        </p:nvSpPr>
        <p:spPr>
          <a:xfrm>
            <a:off x="533400" y="609600"/>
            <a:ext cx="75069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2250" b="1" i="0" u="none" strike="noStrike" kern="0" cap="none" spc="0" normalizeH="0" baseline="0" noProof="0" dirty="0" err="1">
                <a:ln>
                  <a:noFill/>
                </a:ln>
                <a:solidFill>
                  <a:schemeClr val="dk1"/>
                </a:solidFill>
                <a:effectLst/>
                <a:uLnTx/>
                <a:uFillTx/>
                <a:latin typeface="Inter"/>
                <a:ea typeface="Inter"/>
                <a:cs typeface="Inter"/>
                <a:sym typeface="Inter"/>
              </a:rPr>
              <a:t>Acq</a:t>
            </a:r>
            <a:r>
              <a:rPr kumimoji="0" lang="en-US" sz="2250" b="1" i="0" u="none" strike="noStrike" kern="0" cap="none" spc="0" normalizeH="0" baseline="0" noProof="0" dirty="0">
                <a:ln>
                  <a:noFill/>
                </a:ln>
                <a:solidFill>
                  <a:schemeClr val="dk1"/>
                </a:solidFill>
                <a:effectLst/>
                <a:uLnTx/>
                <a:uFillTx/>
                <a:latin typeface="Inter"/>
                <a:ea typeface="Inter"/>
                <a:cs typeface="Inter"/>
                <a:sym typeface="Inter"/>
              </a:rPr>
              <a:t>-A-Thon: Outcomes of this Activity</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927" name="Google Shape;927;p120"/>
          <p:cNvSpPr/>
          <p:nvPr/>
        </p:nvSpPr>
        <p:spPr>
          <a:xfrm>
            <a:off x="533400" y="2370075"/>
            <a:ext cx="6381000" cy="13080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None/>
            </a:pPr>
            <a:r>
              <a:rPr lang="en" sz="1700" b="1" dirty="0">
                <a:solidFill>
                  <a:schemeClr val="dk1"/>
                </a:solidFill>
                <a:latin typeface="Inter"/>
                <a:ea typeface="Inter"/>
                <a:cs typeface="Inter"/>
                <a:sym typeface="Inter"/>
              </a:rPr>
              <a:t>By the end of this event, you should have: </a:t>
            </a:r>
            <a:endParaRPr sz="1700" dirty="0">
              <a:solidFill>
                <a:schemeClr val="dk1"/>
              </a:solidFill>
              <a:latin typeface="Nunito"/>
              <a:ea typeface="Nunito"/>
              <a:cs typeface="Nunito"/>
              <a:sym typeface="Nunito"/>
            </a:endParaRPr>
          </a:p>
          <a:p>
            <a:pPr marL="431800" lvl="0" indent="-285750" algn="l" rtl="0">
              <a:lnSpc>
                <a:spcPct val="115000"/>
              </a:lnSpc>
              <a:spcBef>
                <a:spcPts val="1000"/>
              </a:spcBef>
              <a:spcAft>
                <a:spcPts val="0"/>
              </a:spcAft>
              <a:buClr>
                <a:schemeClr val="dk1"/>
              </a:buClr>
              <a:buSzPts val="1300"/>
              <a:buFont typeface="Arial" panose="020B0604020202020204" pitchFamily="34" charset="0"/>
              <a:buChar char="•"/>
            </a:pPr>
            <a:r>
              <a:rPr lang="en" sz="1600" dirty="0">
                <a:solidFill>
                  <a:schemeClr val="dk1"/>
                </a:solidFill>
                <a:latin typeface="Inter"/>
                <a:ea typeface="Inter"/>
                <a:cs typeface="Inter"/>
                <a:sym typeface="Inter"/>
              </a:rPr>
              <a:t>A clear and collaboratively developed Problem Statement</a:t>
            </a:r>
            <a:endParaRPr sz="1600" dirty="0">
              <a:solidFill>
                <a:schemeClr val="dk1"/>
              </a:solidFill>
              <a:latin typeface="Inter"/>
              <a:ea typeface="Inter"/>
              <a:cs typeface="Inter"/>
              <a:sym typeface="Inter"/>
            </a:endParaRPr>
          </a:p>
          <a:p>
            <a:pPr marL="431800" lvl="0" indent="-285750" algn="l" rtl="0">
              <a:lnSpc>
                <a:spcPct val="115000"/>
              </a:lnSpc>
              <a:spcBef>
                <a:spcPts val="1000"/>
              </a:spcBef>
              <a:spcAft>
                <a:spcPts val="0"/>
              </a:spcAft>
              <a:buClr>
                <a:schemeClr val="dk1"/>
              </a:buClr>
              <a:buSzPts val="1300"/>
              <a:buFont typeface="Arial" panose="020B0604020202020204" pitchFamily="34" charset="0"/>
              <a:buChar char="•"/>
            </a:pPr>
            <a:r>
              <a:rPr lang="en" sz="1600" dirty="0">
                <a:solidFill>
                  <a:schemeClr val="dk1"/>
                </a:solidFill>
                <a:latin typeface="Inter"/>
                <a:ea typeface="Inter"/>
                <a:cs typeface="Inter"/>
                <a:sym typeface="Inter"/>
              </a:rPr>
              <a:t>Defined Success Criteria (Return on Mission)</a:t>
            </a:r>
            <a:endParaRPr sz="1600" dirty="0">
              <a:solidFill>
                <a:schemeClr val="dk1"/>
              </a:solidFill>
              <a:latin typeface="Inter"/>
              <a:ea typeface="Inter"/>
              <a:cs typeface="Inter"/>
              <a:sym typeface="Inter"/>
            </a:endParaRPr>
          </a:p>
          <a:p>
            <a:pPr marL="431800" lvl="0" indent="-285750" algn="l" rtl="0">
              <a:lnSpc>
                <a:spcPct val="115000"/>
              </a:lnSpc>
              <a:spcBef>
                <a:spcPts val="1000"/>
              </a:spcBef>
              <a:spcAft>
                <a:spcPts val="0"/>
              </a:spcAft>
              <a:buClr>
                <a:schemeClr val="dk1"/>
              </a:buClr>
              <a:buSzPts val="1300"/>
              <a:buFont typeface="Arial" panose="020B0604020202020204" pitchFamily="34" charset="0"/>
              <a:buChar char="•"/>
            </a:pPr>
            <a:r>
              <a:rPr lang="en" sz="1600" dirty="0">
                <a:solidFill>
                  <a:schemeClr val="dk1"/>
                </a:solidFill>
                <a:latin typeface="Inter"/>
                <a:ea typeface="Inter"/>
                <a:cs typeface="Inter"/>
                <a:sym typeface="Inter"/>
              </a:rPr>
              <a:t>A high-level Product Vision</a:t>
            </a:r>
            <a:endParaRPr sz="1600" dirty="0">
              <a:solidFill>
                <a:schemeClr val="dk1"/>
              </a:solidFill>
              <a:latin typeface="Inter"/>
              <a:ea typeface="Inter"/>
              <a:cs typeface="Inter"/>
              <a:sym typeface="Inter"/>
            </a:endParaRPr>
          </a:p>
          <a:p>
            <a:pPr marL="431800" lvl="0" indent="-285750" algn="l" rtl="0">
              <a:lnSpc>
                <a:spcPct val="115000"/>
              </a:lnSpc>
              <a:spcBef>
                <a:spcPts val="1000"/>
              </a:spcBef>
              <a:spcAft>
                <a:spcPts val="0"/>
              </a:spcAft>
              <a:buClr>
                <a:schemeClr val="dk1"/>
              </a:buClr>
              <a:buSzPts val="1300"/>
              <a:buFont typeface="Arial" panose="020B0604020202020204" pitchFamily="34" charset="0"/>
              <a:buChar char="•"/>
            </a:pPr>
            <a:r>
              <a:rPr lang="en" sz="1600" dirty="0">
                <a:solidFill>
                  <a:schemeClr val="dk1"/>
                </a:solidFill>
                <a:latin typeface="Inter"/>
                <a:ea typeface="Inter"/>
                <a:cs typeface="Inter"/>
                <a:sym typeface="Inter"/>
              </a:rPr>
              <a:t>Identified Constraints (technical, budgetary, legal, operational)</a:t>
            </a:r>
            <a:endParaRPr sz="1600" dirty="0">
              <a:solidFill>
                <a:schemeClr val="dk1"/>
              </a:solidFill>
              <a:latin typeface="Inter"/>
              <a:ea typeface="Inter"/>
              <a:cs typeface="Inter"/>
              <a:sym typeface="Inter"/>
            </a:endParaRPr>
          </a:p>
          <a:p>
            <a:pPr marL="431800" lvl="0" indent="-285750" algn="l" rtl="0">
              <a:lnSpc>
                <a:spcPct val="115000"/>
              </a:lnSpc>
              <a:spcBef>
                <a:spcPts val="1000"/>
              </a:spcBef>
              <a:spcAft>
                <a:spcPts val="0"/>
              </a:spcAft>
              <a:buClr>
                <a:schemeClr val="dk1"/>
              </a:buClr>
              <a:buSzPts val="1300"/>
              <a:buFont typeface="Arial" panose="020B0604020202020204" pitchFamily="34" charset="0"/>
              <a:buChar char="•"/>
            </a:pPr>
            <a:r>
              <a:rPr lang="en" sz="1600" dirty="0">
                <a:solidFill>
                  <a:schemeClr val="dk1"/>
                </a:solidFill>
                <a:latin typeface="Inter"/>
                <a:ea typeface="Inter"/>
                <a:cs typeface="Inter"/>
                <a:sym typeface="Inter"/>
              </a:rPr>
              <a:t>A draft Acquisition Hypothesis that outlines the initial path for market research and strategy development</a:t>
            </a:r>
            <a:endParaRPr sz="1600" dirty="0">
              <a:solidFill>
                <a:schemeClr val="dk1"/>
              </a:solidFill>
              <a:latin typeface="Inter"/>
              <a:ea typeface="Inter"/>
              <a:cs typeface="Inter"/>
              <a:sym typeface="Inter"/>
            </a:endParaRPr>
          </a:p>
          <a:p>
            <a:pPr marL="0" marR="0" lvl="0" indent="0" algn="l" rtl="0">
              <a:lnSpc>
                <a:spcPct val="140000"/>
              </a:lnSpc>
              <a:spcBef>
                <a:spcPts val="1200"/>
              </a:spcBef>
              <a:spcAft>
                <a:spcPts val="0"/>
              </a:spcAft>
              <a:buClr>
                <a:srgbClr val="000000"/>
              </a:buClr>
              <a:buSzPts val="1350"/>
              <a:buFont typeface="Inter"/>
              <a:buNone/>
            </a:pPr>
            <a:endParaRPr dirty="0">
              <a:latin typeface="Inter"/>
              <a:ea typeface="Inter"/>
              <a:cs typeface="Inter"/>
              <a:sym typeface="Inte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121"/>
          <p:cNvSpPr txBox="1">
            <a:spLocks noGrp="1"/>
          </p:cNvSpPr>
          <p:nvPr>
            <p:ph type="title"/>
          </p:nvPr>
        </p:nvSpPr>
        <p:spPr>
          <a:xfrm>
            <a:off x="697350" y="2538425"/>
            <a:ext cx="7749300" cy="876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Conducting Effective Market Research </a:t>
            </a:r>
            <a:endParaRPr/>
          </a:p>
        </p:txBody>
      </p:sp>
      <p:sp>
        <p:nvSpPr>
          <p:cNvPr id="933" name="Google Shape;933;p121"/>
          <p:cNvSpPr txBox="1">
            <a:spLocks noGrp="1"/>
          </p:cNvSpPr>
          <p:nvPr>
            <p:ph type="title" idx="2"/>
          </p:nvPr>
        </p:nvSpPr>
        <p:spPr>
          <a:xfrm>
            <a:off x="2899200" y="1194450"/>
            <a:ext cx="3345600" cy="182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a:t>Sprint  4</a:t>
            </a:r>
            <a:endParaRPr sz="48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8"/>
        <p:cNvGrpSpPr/>
        <p:nvPr/>
      </p:nvGrpSpPr>
      <p:grpSpPr>
        <a:xfrm>
          <a:off x="0" y="0"/>
          <a:ext cx="0" cy="0"/>
          <a:chOff x="0" y="0"/>
          <a:chExt cx="0" cy="0"/>
        </a:xfrm>
      </p:grpSpPr>
      <p:sp>
        <p:nvSpPr>
          <p:cNvPr id="939" name="Google Shape;939;p122">
            <a:extLst>
              <a:ext uri="{C183D7F6-B498-43B3-948B-1728B52AA6E4}">
                <adec:decorative xmlns:adec="http://schemas.microsoft.com/office/drawing/2017/decorative" val="1"/>
              </a:ext>
            </a:extLst>
          </p:cNvPr>
          <p:cNvSpPr/>
          <p:nvPr/>
        </p:nvSpPr>
        <p:spPr>
          <a:xfrm>
            <a:off x="4610100" y="130016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22">
            <a:extLst>
              <a:ext uri="{C183D7F6-B498-43B3-948B-1728B52AA6E4}">
                <adec:decorative xmlns:adec="http://schemas.microsoft.com/office/drawing/2017/decorative" val="1"/>
              </a:ext>
            </a:extLst>
          </p:cNvPr>
          <p:cNvSpPr/>
          <p:nvPr/>
        </p:nvSpPr>
        <p:spPr>
          <a:xfrm>
            <a:off x="4610100" y="2262188"/>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22">
            <a:extLst>
              <a:ext uri="{C183D7F6-B498-43B3-948B-1728B52AA6E4}">
                <adec:decorative xmlns:adec="http://schemas.microsoft.com/office/drawing/2017/decorative" val="1"/>
              </a:ext>
            </a:extLst>
          </p:cNvPr>
          <p:cNvSpPr/>
          <p:nvPr/>
        </p:nvSpPr>
        <p:spPr>
          <a:xfrm>
            <a:off x="4610100" y="3224213"/>
            <a:ext cx="3238500" cy="6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22"/>
          <p:cNvSpPr>
            <a:spLocks noGrp="1"/>
          </p:cNvSpPr>
          <p:nvPr>
            <p:ph type="title" idx="4294967295"/>
          </p:nvPr>
        </p:nvSpPr>
        <p:spPr>
          <a:xfrm>
            <a:off x="609600" y="2433638"/>
            <a:ext cx="3124200" cy="2763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1800"/>
              <a:buFont typeface="Inter"/>
              <a:buNone/>
              <a:tabLst/>
              <a:defRPr/>
            </a:pPr>
            <a:r>
              <a:rPr kumimoji="0" lang="en-US" sz="1800" b="1" i="0" u="none" strike="noStrike" kern="0" cap="none" spc="0" normalizeH="0" baseline="0" noProof="0" dirty="0">
                <a:ln>
                  <a:noFill/>
                </a:ln>
                <a:solidFill>
                  <a:srgbClr val="000000"/>
                </a:solidFill>
                <a:effectLst/>
                <a:uLnTx/>
                <a:uFillTx/>
                <a:latin typeface="Inter"/>
                <a:ea typeface="Inter"/>
                <a:cs typeface="Inter"/>
                <a:sym typeface="Inter"/>
              </a:rPr>
              <a:t>Agenda</a:t>
            </a:r>
            <a:endParaRPr kumimoji="0" lang="en-US" sz="18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943" name="Google Shape;943;p122">
            <a:extLst>
              <a:ext uri="{C183D7F6-B498-43B3-948B-1728B52AA6E4}">
                <adec:decorative xmlns:adec="http://schemas.microsoft.com/office/drawing/2017/decorative" val="1"/>
              </a:ext>
            </a:extLst>
          </p:cNvPr>
          <p:cNvSpPr/>
          <p:nvPr/>
        </p:nvSpPr>
        <p:spPr>
          <a:xfrm>
            <a:off x="3446150" y="3224225"/>
            <a:ext cx="47775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None/>
            </a:pPr>
            <a:endParaRPr sz="1350" i="0" u="none" strike="noStrike" cap="none">
              <a:solidFill>
                <a:schemeClr val="dk1"/>
              </a:solidFill>
              <a:latin typeface="Inter Medium"/>
              <a:ea typeface="Inter Medium"/>
              <a:cs typeface="Inter Medium"/>
              <a:sym typeface="Inter Medium"/>
            </a:endParaRPr>
          </a:p>
        </p:txBody>
      </p:sp>
      <p:sp>
        <p:nvSpPr>
          <p:cNvPr id="944" name="Google Shape;944;p122"/>
          <p:cNvSpPr/>
          <p:nvPr/>
        </p:nvSpPr>
        <p:spPr>
          <a:xfrm>
            <a:off x="3522725" y="2795600"/>
            <a:ext cx="4777500" cy="2286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450" b="1" dirty="0">
                <a:solidFill>
                  <a:schemeClr val="dk1"/>
                </a:solidFill>
                <a:latin typeface="Inter"/>
                <a:ea typeface="Inter"/>
                <a:cs typeface="Inter"/>
                <a:sym typeface="Inter"/>
              </a:rPr>
              <a:t>Drafting a clear needs statement to anchor market research</a:t>
            </a:r>
            <a:br>
              <a:rPr lang="en" sz="1450" b="1" dirty="0">
                <a:solidFill>
                  <a:schemeClr val="dk1"/>
                </a:solidFill>
                <a:latin typeface="Inter"/>
                <a:ea typeface="Inter"/>
                <a:cs typeface="Inter"/>
                <a:sym typeface="Inter"/>
              </a:rPr>
            </a:br>
            <a:endParaRPr sz="800" b="1" dirty="0">
              <a:solidFill>
                <a:schemeClr val="dk1"/>
              </a:solidFill>
              <a:latin typeface="Inter"/>
              <a:ea typeface="Inter"/>
              <a:cs typeface="Inter"/>
              <a:sym typeface="Inter"/>
            </a:endParaRPr>
          </a:p>
          <a:p>
            <a:pPr marL="0" lvl="0" indent="0" algn="l" rtl="0">
              <a:lnSpc>
                <a:spcPct val="115000"/>
              </a:lnSpc>
              <a:spcBef>
                <a:spcPts val="1200"/>
              </a:spcBef>
              <a:spcAft>
                <a:spcPts val="0"/>
              </a:spcAft>
              <a:buClr>
                <a:schemeClr val="dk1"/>
              </a:buClr>
              <a:buSzPts val="1100"/>
              <a:buFont typeface="Arial"/>
              <a:buNone/>
            </a:pPr>
            <a:r>
              <a:rPr lang="en" sz="1450" b="1" dirty="0">
                <a:solidFill>
                  <a:schemeClr val="dk1"/>
                </a:solidFill>
                <a:latin typeface="Inter"/>
                <a:ea typeface="Inter"/>
                <a:cs typeface="Inter"/>
                <a:sym typeface="Inter"/>
              </a:rPr>
              <a:t>Exploring market segments and assessing vendor capabilities</a:t>
            </a:r>
            <a:br>
              <a:rPr lang="en" sz="1450" b="1" dirty="0">
                <a:solidFill>
                  <a:schemeClr val="dk1"/>
                </a:solidFill>
                <a:latin typeface="Inter"/>
                <a:ea typeface="Inter"/>
                <a:cs typeface="Inter"/>
                <a:sym typeface="Inter"/>
              </a:rPr>
            </a:br>
            <a:endParaRPr sz="800" b="1" dirty="0">
              <a:solidFill>
                <a:schemeClr val="dk1"/>
              </a:solidFill>
              <a:latin typeface="Inter"/>
              <a:ea typeface="Inter"/>
              <a:cs typeface="Inter"/>
              <a:sym typeface="Inter"/>
            </a:endParaRPr>
          </a:p>
          <a:p>
            <a:pPr marL="0" lvl="0" indent="0" algn="l" rtl="0">
              <a:lnSpc>
                <a:spcPct val="115000"/>
              </a:lnSpc>
              <a:spcBef>
                <a:spcPts val="1200"/>
              </a:spcBef>
              <a:spcAft>
                <a:spcPts val="0"/>
              </a:spcAft>
              <a:buClr>
                <a:schemeClr val="dk1"/>
              </a:buClr>
              <a:buSzPts val="1100"/>
              <a:buFont typeface="Arial"/>
              <a:buNone/>
            </a:pPr>
            <a:r>
              <a:rPr lang="en" sz="1450" b="1" dirty="0">
                <a:solidFill>
                  <a:schemeClr val="dk1"/>
                </a:solidFill>
                <a:latin typeface="Inter"/>
                <a:ea typeface="Inter"/>
                <a:cs typeface="Inter"/>
                <a:sym typeface="Inter"/>
              </a:rPr>
              <a:t>Selecting the right market research methods for digital services</a:t>
            </a:r>
            <a:br>
              <a:rPr lang="en" sz="1450" b="1" dirty="0">
                <a:solidFill>
                  <a:schemeClr val="dk1"/>
                </a:solidFill>
                <a:latin typeface="Inter"/>
                <a:ea typeface="Inter"/>
                <a:cs typeface="Inter"/>
                <a:sym typeface="Inter"/>
              </a:rPr>
            </a:br>
            <a:endParaRPr sz="650" b="1" dirty="0">
              <a:solidFill>
                <a:schemeClr val="dk1"/>
              </a:solidFill>
              <a:latin typeface="Inter"/>
              <a:ea typeface="Inter"/>
              <a:cs typeface="Inter"/>
              <a:sym typeface="Inter"/>
            </a:endParaRPr>
          </a:p>
          <a:p>
            <a:pPr marL="0" lvl="0" indent="0" algn="l" rtl="0">
              <a:lnSpc>
                <a:spcPct val="115000"/>
              </a:lnSpc>
              <a:spcBef>
                <a:spcPts val="1200"/>
              </a:spcBef>
              <a:spcAft>
                <a:spcPts val="0"/>
              </a:spcAft>
              <a:buClr>
                <a:schemeClr val="dk1"/>
              </a:buClr>
              <a:buSzPts val="1100"/>
              <a:buFont typeface="Arial"/>
              <a:buNone/>
            </a:pPr>
            <a:r>
              <a:rPr lang="en" sz="1450" b="1" dirty="0">
                <a:solidFill>
                  <a:schemeClr val="dk1"/>
                </a:solidFill>
                <a:latin typeface="Inter"/>
                <a:ea typeface="Inter"/>
                <a:cs typeface="Inter"/>
                <a:sym typeface="Inter"/>
              </a:rPr>
              <a:t>Minimizing industry burden while maximizing insight</a:t>
            </a:r>
            <a:br>
              <a:rPr lang="en" sz="1450" b="1" dirty="0">
                <a:solidFill>
                  <a:schemeClr val="dk1"/>
                </a:solidFill>
                <a:latin typeface="Inter"/>
                <a:ea typeface="Inter"/>
                <a:cs typeface="Inter"/>
                <a:sym typeface="Inter"/>
              </a:rPr>
            </a:br>
            <a:endParaRPr sz="650" b="1" dirty="0">
              <a:solidFill>
                <a:schemeClr val="dk1"/>
              </a:solidFill>
              <a:latin typeface="Inter"/>
              <a:ea typeface="Inter"/>
              <a:cs typeface="Inter"/>
              <a:sym typeface="Inter"/>
            </a:endParaRPr>
          </a:p>
          <a:p>
            <a:pPr marL="0" lvl="0" indent="0" algn="l" rtl="0">
              <a:lnSpc>
                <a:spcPct val="115000"/>
              </a:lnSpc>
              <a:spcBef>
                <a:spcPts val="1200"/>
              </a:spcBef>
              <a:spcAft>
                <a:spcPts val="0"/>
              </a:spcAft>
              <a:buClr>
                <a:schemeClr val="dk1"/>
              </a:buClr>
              <a:buSzPts val="1100"/>
              <a:buFont typeface="Arial"/>
              <a:buNone/>
            </a:pPr>
            <a:r>
              <a:rPr lang="en" sz="1450" b="1" dirty="0">
                <a:solidFill>
                  <a:schemeClr val="dk1"/>
                </a:solidFill>
                <a:latin typeface="Inter"/>
                <a:ea typeface="Inter"/>
                <a:cs typeface="Inter"/>
                <a:sym typeface="Inter"/>
              </a:rPr>
              <a:t>Applying strategies to match needs with the right market</a:t>
            </a:r>
          </a:p>
          <a:p>
            <a:pPr marL="0" marR="0" lvl="0" indent="0" algn="l" rtl="0">
              <a:lnSpc>
                <a:spcPct val="115000"/>
              </a:lnSpc>
              <a:spcBef>
                <a:spcPts val="1200"/>
              </a:spcBef>
              <a:spcAft>
                <a:spcPts val="1200"/>
              </a:spcAft>
              <a:buNone/>
            </a:pPr>
            <a:endParaRPr lang="en-US" sz="1450" b="1" dirty="0">
              <a:solidFill>
                <a:schemeClr val="dk1"/>
              </a:solidFill>
              <a:latin typeface="Inter"/>
              <a:ea typeface="Inter"/>
              <a:cs typeface="Inter"/>
              <a:sym typeface="Inter"/>
            </a:endParaRPr>
          </a:p>
        </p:txBody>
      </p:sp>
      <p:sp>
        <p:nvSpPr>
          <p:cNvPr id="945" name="Google Shape;945;p122">
            <a:extLst>
              <a:ext uri="{C183D7F6-B498-43B3-948B-1728B52AA6E4}">
                <adec:decorative xmlns:adec="http://schemas.microsoft.com/office/drawing/2017/decorative" val="1"/>
              </a:ext>
            </a:extLst>
          </p:cNvPr>
          <p:cNvSpPr/>
          <p:nvPr/>
        </p:nvSpPr>
        <p:spPr>
          <a:xfrm>
            <a:off x="3446150" y="4186250"/>
            <a:ext cx="46539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32000"/>
              </a:lnSpc>
              <a:spcBef>
                <a:spcPts val="0"/>
              </a:spcBef>
              <a:spcAft>
                <a:spcPts val="0"/>
              </a:spcAft>
              <a:buClr>
                <a:srgbClr val="000000"/>
              </a:buClr>
              <a:buSzPts val="1350"/>
              <a:buFont typeface="Inter"/>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0"/>
        <p:cNvGrpSpPr/>
        <p:nvPr/>
      </p:nvGrpSpPr>
      <p:grpSpPr>
        <a:xfrm>
          <a:off x="0" y="0"/>
          <a:ext cx="0" cy="0"/>
          <a:chOff x="0" y="0"/>
          <a:chExt cx="0" cy="0"/>
        </a:xfrm>
      </p:grpSpPr>
      <p:sp>
        <p:nvSpPr>
          <p:cNvPr id="951" name="Google Shape;951;p123">
            <a:extLst>
              <a:ext uri="{C183D7F6-B498-43B3-948B-1728B52AA6E4}">
                <adec:decorative xmlns:adec="http://schemas.microsoft.com/office/drawing/2017/decorative" val="1"/>
              </a:ext>
            </a:extLst>
          </p:cNvPr>
          <p:cNvSpPr/>
          <p:nvPr/>
        </p:nvSpPr>
        <p:spPr>
          <a:xfrm>
            <a:off x="609600" y="609600"/>
            <a:ext cx="3381300" cy="68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23"/>
          <p:cNvSpPr>
            <a:spLocks noGrp="1"/>
          </p:cNvSpPr>
          <p:nvPr>
            <p:ph type="title" idx="4294967295"/>
          </p:nvPr>
        </p:nvSpPr>
        <p:spPr>
          <a:xfrm>
            <a:off x="609600" y="609600"/>
            <a:ext cx="7355400" cy="3429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225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Case Study Activity: </a:t>
            </a:r>
          </a:p>
          <a:p>
            <a:pPr marL="0" marR="0" lvl="0" indent="0" algn="l" defTabSz="914400" rtl="0" eaLnBrk="1" fontAlgn="auto" latinLnBrk="0" hangingPunct="1">
              <a:lnSpc>
                <a:spcPct val="120000"/>
              </a:lnSpc>
              <a:spcBef>
                <a:spcPts val="0"/>
              </a:spcBef>
              <a:spcAft>
                <a:spcPts val="0"/>
              </a:spcAft>
              <a:buClr>
                <a:srgbClr val="000000"/>
              </a:buClr>
              <a:buSzPts val="2250"/>
              <a:buFont typeface="Inter"/>
              <a:buNone/>
              <a:tabLst/>
              <a:defRPr/>
            </a:pPr>
            <a:r>
              <a:rPr kumimoji="0" lang="en-US" sz="2250" b="1" i="0" u="none" strike="noStrike" kern="0" cap="none" spc="0" normalizeH="0" baseline="0" noProof="0" dirty="0">
                <a:ln>
                  <a:noFill/>
                </a:ln>
                <a:solidFill>
                  <a:srgbClr val="000000"/>
                </a:solidFill>
                <a:effectLst/>
                <a:uLnTx/>
                <a:uFillTx/>
                <a:latin typeface="Inter"/>
                <a:ea typeface="Inter"/>
                <a:cs typeface="Inter"/>
                <a:sym typeface="Inter"/>
              </a:rPr>
              <a:t>Market Research Planning</a:t>
            </a:r>
            <a:endParaRPr kumimoji="0" lang="en-US" sz="225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952" name="Google Shape;952;p123"/>
          <p:cNvSpPr/>
          <p:nvPr/>
        </p:nvSpPr>
        <p:spPr>
          <a:xfrm>
            <a:off x="609600" y="1295400"/>
            <a:ext cx="4494900" cy="2618100"/>
          </a:xfrm>
          <a:prstGeom prst="rect">
            <a:avLst/>
          </a:prstGeom>
          <a:noFill/>
          <a:ln>
            <a:noFill/>
          </a:ln>
        </p:spPr>
        <p:txBody>
          <a:bodyPr spcFirstLastPara="1" wrap="square" lIns="91425" tIns="45700" rIns="91425" bIns="45700" anchor="ctr" anchorCtr="0">
            <a:noAutofit/>
          </a:bodyPr>
          <a:lstStyle/>
          <a:p>
            <a:pPr marL="457200" lvl="0" indent="-304800" algn="l" rtl="0">
              <a:lnSpc>
                <a:spcPct val="115000"/>
              </a:lnSpc>
              <a:spcBef>
                <a:spcPts val="1200"/>
              </a:spcBef>
              <a:spcAft>
                <a:spcPts val="0"/>
              </a:spcAft>
              <a:buClr>
                <a:schemeClr val="dk1"/>
              </a:buClr>
              <a:buSzPts val="1200"/>
              <a:buFont typeface="Proxima Nova"/>
              <a:buChar char="●"/>
            </a:pPr>
            <a:r>
              <a:rPr lang="en" sz="1600" dirty="0">
                <a:solidFill>
                  <a:schemeClr val="dk1"/>
                </a:solidFill>
                <a:latin typeface="Inter" panose="02000503000000020004" pitchFamily="2" charset="0"/>
                <a:ea typeface="Proxima Nova"/>
                <a:cs typeface="Calibri" panose="020F0502020204030204" pitchFamily="34" charset="0"/>
                <a:sym typeface="Proxima Nova"/>
              </a:rPr>
              <a:t>Identify 2–3 key open questions or uncertainties</a:t>
            </a:r>
            <a:endParaRPr sz="1600" dirty="0">
              <a:solidFill>
                <a:schemeClr val="dk1"/>
              </a:solidFill>
              <a:latin typeface="Inter" panose="02000503000000020004" pitchFamily="2" charset="0"/>
              <a:ea typeface="Proxima Nova"/>
              <a:cs typeface="Calibri" panose="020F0502020204030204" pitchFamily="34" charset="0"/>
              <a:sym typeface="Proxima Nova"/>
            </a:endParaRPr>
          </a:p>
          <a:p>
            <a:pPr marL="457200" lvl="0" indent="-304800" algn="l" rtl="0">
              <a:lnSpc>
                <a:spcPct val="115000"/>
              </a:lnSpc>
              <a:spcBef>
                <a:spcPts val="0"/>
              </a:spcBef>
              <a:spcAft>
                <a:spcPts val="0"/>
              </a:spcAft>
              <a:buClr>
                <a:schemeClr val="dk1"/>
              </a:buClr>
              <a:buSzPts val="1200"/>
              <a:buFont typeface="Proxima Nova"/>
              <a:buChar char="●"/>
            </a:pPr>
            <a:r>
              <a:rPr lang="en" sz="1600" dirty="0">
                <a:solidFill>
                  <a:schemeClr val="dk1"/>
                </a:solidFill>
                <a:latin typeface="Inter" panose="02000503000000020004" pitchFamily="2" charset="0"/>
                <a:ea typeface="Proxima Nova"/>
                <a:cs typeface="Calibri" panose="020F0502020204030204" pitchFamily="34" charset="0"/>
                <a:sym typeface="Proxima Nova"/>
              </a:rPr>
              <a:t>List information sources (e.g., user interviews, IT inventories, RFIs)</a:t>
            </a:r>
            <a:endParaRPr sz="1600" dirty="0">
              <a:solidFill>
                <a:schemeClr val="dk1"/>
              </a:solidFill>
              <a:latin typeface="Inter" panose="02000503000000020004" pitchFamily="2" charset="0"/>
              <a:ea typeface="Proxima Nova"/>
              <a:cs typeface="Calibri" panose="020F0502020204030204" pitchFamily="34" charset="0"/>
              <a:sym typeface="Proxima Nova"/>
            </a:endParaRPr>
          </a:p>
          <a:p>
            <a:pPr marL="457200" lvl="0" indent="-304800" algn="l" rtl="0">
              <a:lnSpc>
                <a:spcPct val="115000"/>
              </a:lnSpc>
              <a:spcBef>
                <a:spcPts val="0"/>
              </a:spcBef>
              <a:spcAft>
                <a:spcPts val="0"/>
              </a:spcAft>
              <a:buClr>
                <a:schemeClr val="dk1"/>
              </a:buClr>
              <a:buSzPts val="1200"/>
              <a:buFont typeface="Proxima Nova"/>
              <a:buChar char="●"/>
            </a:pPr>
            <a:r>
              <a:rPr lang="en" sz="1600" dirty="0">
                <a:solidFill>
                  <a:schemeClr val="dk1"/>
                </a:solidFill>
                <a:latin typeface="Inter" panose="02000503000000020004" pitchFamily="2" charset="0"/>
                <a:ea typeface="Proxima Nova"/>
                <a:cs typeface="Calibri" panose="020F0502020204030204" pitchFamily="34" charset="0"/>
                <a:sym typeface="Proxima Nova"/>
              </a:rPr>
              <a:t>Choose methods to fill gaps (e.g., industry scan, stakeholder interviews)</a:t>
            </a:r>
            <a:endParaRPr sz="1600" dirty="0">
              <a:solidFill>
                <a:schemeClr val="dk1"/>
              </a:solidFill>
              <a:latin typeface="Inter" panose="02000503000000020004" pitchFamily="2" charset="0"/>
              <a:ea typeface="Proxima Nova"/>
              <a:cs typeface="Calibri" panose="020F0502020204030204" pitchFamily="34" charset="0"/>
              <a:sym typeface="Proxima Nova"/>
            </a:endParaRPr>
          </a:p>
        </p:txBody>
      </p:sp>
      <p:pic>
        <p:nvPicPr>
          <p:cNvPr id="954" name="Google Shape;954;p123" descr="Case study activity icon. Magnifying glass. "/>
          <p:cNvPicPr preferRelativeResize="0"/>
          <p:nvPr/>
        </p:nvPicPr>
        <p:blipFill>
          <a:blip r:embed="rId3">
            <a:alphaModFix/>
          </a:blip>
          <a:stretch>
            <a:fillRect/>
          </a:stretch>
        </p:blipFill>
        <p:spPr>
          <a:xfrm>
            <a:off x="5481300" y="1295400"/>
            <a:ext cx="3311499" cy="331149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g3f45b699da1_0_0"/>
          <p:cNvSpPr txBox="1">
            <a:spLocks noGrp="1"/>
          </p:cNvSpPr>
          <p:nvPr>
            <p:ph type="title"/>
          </p:nvPr>
        </p:nvSpPr>
        <p:spPr>
          <a:xfrm>
            <a:off x="327575" y="340500"/>
            <a:ext cx="7649100" cy="6510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400"/>
              <a:t>Activity: Signal or Noise? Evaluating</a:t>
            </a:r>
            <a:r>
              <a:rPr lang="en" sz="240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 </a:t>
            </a:r>
            <a:r>
              <a:rPr lang="en" sz="2400"/>
              <a:t>RFIs with AI Insight</a:t>
            </a:r>
            <a:endParaRPr sz="1300" b="1">
              <a:solidFill>
                <a:srgbClr val="000000"/>
              </a:solidFill>
              <a:latin typeface="Arial"/>
              <a:ea typeface="Arial"/>
              <a:cs typeface="Arial"/>
              <a:sym typeface="Arial"/>
            </a:endParaRPr>
          </a:p>
          <a:p>
            <a:pPr marL="0" lvl="0" indent="0" algn="l" rtl="0">
              <a:spcBef>
                <a:spcPts val="0"/>
              </a:spcBef>
              <a:spcAft>
                <a:spcPts val="0"/>
              </a:spcAft>
              <a:buNone/>
            </a:pPr>
            <a:endParaRPr sz="2400"/>
          </a:p>
        </p:txBody>
      </p:sp>
      <p:sp>
        <p:nvSpPr>
          <p:cNvPr id="663" name="Google Shape;663;g3f45b699da1_0_0"/>
          <p:cNvSpPr txBox="1">
            <a:spLocks noGrp="1"/>
          </p:cNvSpPr>
          <p:nvPr>
            <p:ph type="body" idx="4294967295"/>
          </p:nvPr>
        </p:nvSpPr>
        <p:spPr>
          <a:xfrm>
            <a:off x="320040" y="1152475"/>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81000" algn="l" rtl="0">
              <a:lnSpc>
                <a:spcPct val="115000"/>
              </a:lnSpc>
              <a:spcBef>
                <a:spcPts val="0"/>
              </a:spcBef>
              <a:spcAft>
                <a:spcPts val="0"/>
              </a:spcAft>
              <a:buClr>
                <a:srgbClr val="414141"/>
              </a:buClr>
              <a:buSzPts val="2400"/>
              <a:buFont typeface="Nunito"/>
              <a:buChar char="●"/>
              <a:defRPr sz="2400" b="0" i="0" u="none" strike="noStrike" cap="none">
                <a:solidFill>
                  <a:srgbClr val="414141"/>
                </a:solidFill>
                <a:latin typeface="Nunito"/>
                <a:ea typeface="Nunito"/>
                <a:cs typeface="Nunito"/>
                <a:sym typeface="Nunito"/>
              </a:defRPr>
            </a:lvl1pPr>
            <a:lvl2pPr marL="914400" marR="0" lvl="1" indent="-317500" algn="l" rtl="0">
              <a:lnSpc>
                <a:spcPct val="115000"/>
              </a:lnSpc>
              <a:spcBef>
                <a:spcPts val="0"/>
              </a:spcBef>
              <a:spcAft>
                <a:spcPts val="0"/>
              </a:spcAft>
              <a:buClr>
                <a:srgbClr val="414141"/>
              </a:buClr>
              <a:buSzPts val="1400"/>
              <a:buFont typeface="Nunito"/>
              <a:buChar char="○"/>
              <a:defRPr sz="1400" b="0" i="0" u="none" strike="noStrike" cap="none">
                <a:solidFill>
                  <a:srgbClr val="414141"/>
                </a:solidFill>
                <a:latin typeface="Nunito"/>
                <a:ea typeface="Nunito"/>
                <a:cs typeface="Nunito"/>
                <a:sym typeface="Nunito"/>
              </a:defRPr>
            </a:lvl2pPr>
            <a:lvl3pPr marL="1371600" marR="0" lvl="2" indent="-317500" algn="l" rtl="0">
              <a:lnSpc>
                <a:spcPct val="115000"/>
              </a:lnSpc>
              <a:spcBef>
                <a:spcPts val="0"/>
              </a:spcBef>
              <a:spcAft>
                <a:spcPts val="0"/>
              </a:spcAft>
              <a:buClr>
                <a:srgbClr val="414141"/>
              </a:buClr>
              <a:buSzPts val="1400"/>
              <a:buFont typeface="Nunito"/>
              <a:buChar char="■"/>
              <a:defRPr sz="1400" b="0" i="0" u="none" strike="noStrike" cap="none">
                <a:solidFill>
                  <a:srgbClr val="414141"/>
                </a:solidFill>
                <a:latin typeface="Nunito"/>
                <a:ea typeface="Nunito"/>
                <a:cs typeface="Nunito"/>
                <a:sym typeface="Nunito"/>
              </a:defRPr>
            </a:lvl3pPr>
            <a:lvl4pPr marL="1828800" marR="0" lvl="3" indent="-317500" algn="l" rtl="0">
              <a:lnSpc>
                <a:spcPct val="115000"/>
              </a:lnSpc>
              <a:spcBef>
                <a:spcPts val="0"/>
              </a:spcBef>
              <a:spcAft>
                <a:spcPts val="0"/>
              </a:spcAft>
              <a:buClr>
                <a:srgbClr val="414141"/>
              </a:buClr>
              <a:buSzPts val="1400"/>
              <a:buFont typeface="Nunito"/>
              <a:buChar char="●"/>
              <a:defRPr sz="1400" b="0" i="0" u="none" strike="noStrike" cap="none">
                <a:solidFill>
                  <a:srgbClr val="414141"/>
                </a:solidFill>
                <a:latin typeface="Nunito"/>
                <a:ea typeface="Nunito"/>
                <a:cs typeface="Nunito"/>
                <a:sym typeface="Nunito"/>
              </a:defRPr>
            </a:lvl4pPr>
            <a:lvl5pPr marL="2286000" marR="0" lvl="4" indent="-317500" algn="l" rtl="0">
              <a:lnSpc>
                <a:spcPct val="115000"/>
              </a:lnSpc>
              <a:spcBef>
                <a:spcPts val="0"/>
              </a:spcBef>
              <a:spcAft>
                <a:spcPts val="0"/>
              </a:spcAft>
              <a:buClr>
                <a:srgbClr val="414141"/>
              </a:buClr>
              <a:buSzPts val="1400"/>
              <a:buFont typeface="Nunito"/>
              <a:buChar char="○"/>
              <a:defRPr sz="1400" b="0" i="0" u="none" strike="noStrike" cap="none">
                <a:solidFill>
                  <a:srgbClr val="414141"/>
                </a:solidFill>
                <a:latin typeface="Nunito"/>
                <a:ea typeface="Nunito"/>
                <a:cs typeface="Nunito"/>
                <a:sym typeface="Nunito"/>
              </a:defRPr>
            </a:lvl5pPr>
            <a:lvl6pPr marL="2743200" marR="0" lvl="5" indent="-317500" algn="l" rtl="0">
              <a:lnSpc>
                <a:spcPct val="115000"/>
              </a:lnSpc>
              <a:spcBef>
                <a:spcPts val="0"/>
              </a:spcBef>
              <a:spcAft>
                <a:spcPts val="0"/>
              </a:spcAft>
              <a:buClr>
                <a:srgbClr val="414141"/>
              </a:buClr>
              <a:buSzPts val="1400"/>
              <a:buFont typeface="Nunito"/>
              <a:buChar char="■"/>
              <a:defRPr sz="1400" b="0" i="0" u="none" strike="noStrike" cap="none">
                <a:solidFill>
                  <a:srgbClr val="414141"/>
                </a:solidFill>
                <a:latin typeface="Nunito"/>
                <a:ea typeface="Nunito"/>
                <a:cs typeface="Nunito"/>
                <a:sym typeface="Nunito"/>
              </a:defRPr>
            </a:lvl6pPr>
            <a:lvl7pPr marL="3200400" marR="0" lvl="6" indent="-317500" algn="l" rtl="0">
              <a:lnSpc>
                <a:spcPct val="115000"/>
              </a:lnSpc>
              <a:spcBef>
                <a:spcPts val="0"/>
              </a:spcBef>
              <a:spcAft>
                <a:spcPts val="0"/>
              </a:spcAft>
              <a:buClr>
                <a:srgbClr val="414141"/>
              </a:buClr>
              <a:buSzPts val="1400"/>
              <a:buFont typeface="Nunito"/>
              <a:buChar char="●"/>
              <a:defRPr sz="1400" b="0" i="0" u="none" strike="noStrike" cap="none">
                <a:solidFill>
                  <a:srgbClr val="414141"/>
                </a:solidFill>
                <a:latin typeface="Nunito"/>
                <a:ea typeface="Nunito"/>
                <a:cs typeface="Nunito"/>
                <a:sym typeface="Nunito"/>
              </a:defRPr>
            </a:lvl7pPr>
            <a:lvl8pPr marL="3657600" marR="0" lvl="7" indent="-317500" algn="l" rtl="0">
              <a:lnSpc>
                <a:spcPct val="115000"/>
              </a:lnSpc>
              <a:spcBef>
                <a:spcPts val="0"/>
              </a:spcBef>
              <a:spcAft>
                <a:spcPts val="0"/>
              </a:spcAft>
              <a:buClr>
                <a:srgbClr val="414141"/>
              </a:buClr>
              <a:buSzPts val="1400"/>
              <a:buFont typeface="Nunito"/>
              <a:buChar char="○"/>
              <a:defRPr sz="1400" b="0" i="0" u="none" strike="noStrike" cap="none">
                <a:solidFill>
                  <a:srgbClr val="414141"/>
                </a:solidFill>
                <a:latin typeface="Nunito"/>
                <a:ea typeface="Nunito"/>
                <a:cs typeface="Nunito"/>
                <a:sym typeface="Nunito"/>
              </a:defRPr>
            </a:lvl8pPr>
            <a:lvl9pPr marL="4114800" marR="0" lvl="8" indent="-317500" algn="l" rtl="0">
              <a:lnSpc>
                <a:spcPct val="115000"/>
              </a:lnSpc>
              <a:spcBef>
                <a:spcPts val="0"/>
              </a:spcBef>
              <a:spcAft>
                <a:spcPts val="0"/>
              </a:spcAft>
              <a:buClr>
                <a:srgbClr val="414141"/>
              </a:buClr>
              <a:buSzPts val="1400"/>
              <a:buFont typeface="Nunito"/>
              <a:buChar char="■"/>
              <a:defRPr sz="1400" b="0" i="0" u="none" strike="noStrike" cap="none">
                <a:solidFill>
                  <a:srgbClr val="414141"/>
                </a:solidFill>
                <a:latin typeface="Nunito"/>
                <a:ea typeface="Nunito"/>
                <a:cs typeface="Nunito"/>
                <a:sym typeface="Nunito"/>
              </a:defRPr>
            </a:lvl9pPr>
          </a:lstStyle>
          <a:p>
            <a:pPr lvl="0" indent="-336123">
              <a:buClr>
                <a:srgbClr val="000000"/>
              </a:buClr>
              <a:buSzPct val="100000"/>
            </a:pPr>
            <a:r>
              <a:rPr lang="en-US" sz="1800" b="1" dirty="0">
                <a:solidFill>
                  <a:srgbClr val="000000"/>
                </a:solidFill>
              </a:rPr>
              <a:t>The Reality:</a:t>
            </a:r>
            <a:r>
              <a:rPr lang="en-US" sz="1800" dirty="0">
                <a:solidFill>
                  <a:srgbClr val="000000"/>
                </a:solidFill>
              </a:rPr>
              <a:t> Too many RFIs are just 30-question, incumbent-favored, disguised Statements of Work (SOW).</a:t>
            </a:r>
          </a:p>
          <a:p>
            <a:pPr lvl="0" indent="-336123">
              <a:buClr>
                <a:srgbClr val="000000"/>
              </a:buClr>
              <a:buSzPct val="100000"/>
            </a:pPr>
            <a:r>
              <a:rPr lang="en-US" sz="1800" b="1" dirty="0">
                <a:solidFill>
                  <a:srgbClr val="000000"/>
                </a:solidFill>
              </a:rPr>
              <a:t>The Policy: </a:t>
            </a:r>
            <a:r>
              <a:rPr lang="en-US" sz="1800" dirty="0">
                <a:solidFill>
                  <a:srgbClr val="000000"/>
                </a:solidFill>
              </a:rPr>
              <a:t>OMB Memorandum M-26-12 requires a heavy administrative burden (SPE justification) if we fail to thoroughly explore the commercial market.</a:t>
            </a:r>
          </a:p>
          <a:p>
            <a:pPr lvl="0" indent="-336123">
              <a:buClr>
                <a:srgbClr val="000000"/>
              </a:buClr>
              <a:buSzPct val="100000"/>
            </a:pPr>
            <a:r>
              <a:rPr lang="en-US" sz="1800" b="1" dirty="0">
                <a:solidFill>
                  <a:srgbClr val="000000"/>
                </a:solidFill>
              </a:rPr>
              <a:t>The Mission: </a:t>
            </a:r>
            <a:r>
              <a:rPr lang="en-US" sz="1800" dirty="0">
                <a:solidFill>
                  <a:srgbClr val="000000"/>
                </a:solidFill>
              </a:rPr>
              <a:t>Source a live RFI on </a:t>
            </a:r>
            <a:r>
              <a:rPr lang="en-US" sz="1800" dirty="0" err="1">
                <a:solidFill>
                  <a:srgbClr val="000000"/>
                </a:solidFill>
              </a:rPr>
              <a:t>SAM.gov</a:t>
            </a:r>
            <a:r>
              <a:rPr lang="en-US" sz="1800" dirty="0">
                <a:solidFill>
                  <a:srgbClr val="000000"/>
                </a:solidFill>
              </a:rPr>
              <a:t> and use a 4-step AI workflow to force it into commercial-first alignment.</a:t>
            </a:r>
            <a:endParaRPr lang="en-US" sz="800" dirty="0"/>
          </a:p>
          <a:p>
            <a:pPr marL="457200" lvl="0" indent="-336123" algn="l" rtl="0">
              <a:lnSpc>
                <a:spcPct val="115000"/>
              </a:lnSpc>
              <a:spcBef>
                <a:spcPts val="0"/>
              </a:spcBef>
              <a:spcAft>
                <a:spcPts val="0"/>
              </a:spcAft>
              <a:buClr>
                <a:srgbClr val="000000"/>
              </a:buClr>
              <a:buSzPct val="100000"/>
              <a:buChar char="●"/>
            </a:pPr>
            <a:endParaRPr sz="1800" dirty="0"/>
          </a:p>
        </p:txBody>
      </p:sp>
      <p:sp>
        <p:nvSpPr>
          <p:cNvPr id="665" name="Google Shape;665;g3f45b699da1_0_0"/>
          <p:cNvSpPr txBox="1"/>
          <p:nvPr/>
        </p:nvSpPr>
        <p:spPr>
          <a:xfrm>
            <a:off x="8263900" y="855025"/>
            <a:ext cx="712500" cy="36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14141"/>
                </a:solidFill>
                <a:latin typeface="Nunito"/>
                <a:ea typeface="Nunito"/>
                <a:cs typeface="Nunito"/>
                <a:sym typeface="Nunito"/>
              </a:rPr>
              <a:t>45 mins </a:t>
            </a:r>
            <a:endParaRPr sz="1200">
              <a:solidFill>
                <a:srgbClr val="414141"/>
              </a:solidFill>
              <a:latin typeface="Nunito"/>
              <a:ea typeface="Nunito"/>
              <a:cs typeface="Nunito"/>
              <a:sym typeface="Nunito"/>
            </a:endParaRPr>
          </a:p>
        </p:txBody>
      </p:sp>
      <p:pic>
        <p:nvPicPr>
          <p:cNvPr id="666" name="Google Shape;666;g3f45b699da1_0_0" descr="a stopwatch timer icon with no background"/>
          <p:cNvPicPr preferRelativeResize="0"/>
          <p:nvPr/>
        </p:nvPicPr>
        <p:blipFill>
          <a:blip r:embed="rId3">
            <a:alphaModFix/>
          </a:blip>
          <a:stretch>
            <a:fillRect/>
          </a:stretch>
        </p:blipFill>
        <p:spPr>
          <a:xfrm>
            <a:off x="8234825" y="142525"/>
            <a:ext cx="770650" cy="7706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g3f45b699da1_0_10"/>
          <p:cNvSpPr txBox="1">
            <a:spLocks noGrp="1"/>
          </p:cNvSpPr>
          <p:nvPr>
            <p:ph type="title"/>
          </p:nvPr>
        </p:nvSpPr>
        <p:spPr>
          <a:xfrm>
            <a:off x="327575" y="340500"/>
            <a:ext cx="7179600" cy="10935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400"/>
              <a:t>Activity: Prompt #1 - Diagnose the Draft </a:t>
            </a:r>
            <a:endParaRPr sz="2400"/>
          </a:p>
        </p:txBody>
      </p:sp>
      <p:sp>
        <p:nvSpPr>
          <p:cNvPr id="671" name="Google Shape;671;g3f45b699da1_0_10"/>
          <p:cNvSpPr txBox="1">
            <a:spLocks noGrp="1"/>
          </p:cNvSpPr>
          <p:nvPr>
            <p:ph type="body" idx="1"/>
          </p:nvPr>
        </p:nvSpPr>
        <p:spPr>
          <a:xfrm>
            <a:off x="327575" y="1031400"/>
            <a:ext cx="8057400" cy="3684300"/>
          </a:xfrm>
          <a:prstGeom prst="rect">
            <a:avLst/>
          </a:prstGeom>
        </p:spPr>
        <p:txBody>
          <a:bodyPr spcFirstLastPara="1" wrap="square" lIns="0" tIns="0" rIns="0" bIns="0" anchor="t" anchorCtr="0">
            <a:normAutofit fontScale="85000" lnSpcReduction="20000"/>
          </a:bodyPr>
          <a:lstStyle/>
          <a:p>
            <a:pPr marL="0" lvl="0" indent="0" algn="l" rtl="0">
              <a:spcBef>
                <a:spcPts val="0"/>
              </a:spcBef>
              <a:spcAft>
                <a:spcPts val="0"/>
              </a:spcAft>
              <a:buNone/>
            </a:pPr>
            <a:r>
              <a:rPr lang="en" sz="2500" b="1"/>
              <a:t>The Goal:</a:t>
            </a:r>
            <a:r>
              <a:rPr lang="en" sz="2500"/>
              <a:t> Use AI as an acquisition SME to audit the sourced RFI for solution specifications and incumbent bias.</a:t>
            </a:r>
            <a:endParaRPr sz="2500"/>
          </a:p>
          <a:p>
            <a:pPr marL="0" lvl="0" indent="0" algn="l" rtl="0">
              <a:spcBef>
                <a:spcPts val="1200"/>
              </a:spcBef>
              <a:spcAft>
                <a:spcPts val="0"/>
              </a:spcAft>
              <a:buNone/>
            </a:pPr>
            <a:r>
              <a:rPr lang="en" sz="1890" b="1">
                <a:solidFill>
                  <a:srgbClr val="000000"/>
                </a:solidFill>
              </a:rPr>
              <a:t>Copy &amp; Paste Prompt 1</a:t>
            </a:r>
            <a:endParaRPr sz="1890" b="1">
              <a:solidFill>
                <a:srgbClr val="000000"/>
              </a:solidFill>
            </a:endParaRPr>
          </a:p>
          <a:p>
            <a:pPr marL="381000" marR="381000" lvl="0" indent="0" algn="l" rtl="0">
              <a:spcBef>
                <a:spcPts val="1200"/>
              </a:spcBef>
              <a:spcAft>
                <a:spcPts val="0"/>
              </a:spcAft>
              <a:buNone/>
            </a:pPr>
            <a:r>
              <a:rPr lang="en" sz="2019">
                <a:solidFill>
                  <a:srgbClr val="000000"/>
                </a:solidFill>
              </a:rPr>
              <a:t>"You are a federal acquisition SME reviewing an RFI under commercial-preference rules. I am pasting the text of a live RFI for </a:t>
            </a:r>
            <a:r>
              <a:rPr lang="en" sz="2019" b="1">
                <a:solidFill>
                  <a:srgbClr val="000000"/>
                </a:solidFill>
              </a:rPr>
              <a:t>[insert requirement/title]</a:t>
            </a:r>
            <a:r>
              <a:rPr lang="en" sz="2019">
                <a:solidFill>
                  <a:srgbClr val="000000"/>
                </a:solidFill>
              </a:rPr>
              <a:t>. Review this text and do three things:</a:t>
            </a:r>
            <a:endParaRPr sz="2019">
              <a:solidFill>
                <a:srgbClr val="000000"/>
              </a:solidFill>
            </a:endParaRPr>
          </a:p>
          <a:p>
            <a:pPr marL="838200" marR="381000" lvl="0" indent="-318349" algn="l" rtl="0">
              <a:spcBef>
                <a:spcPts val="1200"/>
              </a:spcBef>
              <a:spcAft>
                <a:spcPts val="0"/>
              </a:spcAft>
              <a:buClr>
                <a:srgbClr val="000000"/>
              </a:buClr>
              <a:buSzPct val="100000"/>
              <a:buFont typeface="Nunito"/>
              <a:buAutoNum type="arabicPeriod"/>
            </a:pPr>
            <a:r>
              <a:rPr lang="en" sz="2019">
                <a:solidFill>
                  <a:srgbClr val="000000"/>
                </a:solidFill>
              </a:rPr>
              <a:t>List every question or requirement that is a solution specification in disguise.</a:t>
            </a:r>
            <a:endParaRPr sz="2019">
              <a:solidFill>
                <a:srgbClr val="000000"/>
              </a:solidFill>
            </a:endParaRPr>
          </a:p>
          <a:p>
            <a:pPr marL="838200" marR="381000" lvl="0" indent="-318349" algn="l" rtl="0">
              <a:spcBef>
                <a:spcPts val="0"/>
              </a:spcBef>
              <a:spcAft>
                <a:spcPts val="0"/>
              </a:spcAft>
              <a:buClr>
                <a:srgbClr val="000000"/>
              </a:buClr>
              <a:buSzPct val="100000"/>
              <a:buFont typeface="Nunito"/>
              <a:buAutoNum type="arabicPeriod"/>
            </a:pPr>
            <a:r>
              <a:rPr lang="en" sz="2019">
                <a:solidFill>
                  <a:srgbClr val="000000"/>
                </a:solidFill>
              </a:rPr>
              <a:t>Identify every question industry has likely already answered in prior RFIs.</a:t>
            </a:r>
            <a:endParaRPr sz="2019">
              <a:solidFill>
                <a:srgbClr val="000000"/>
              </a:solidFill>
            </a:endParaRPr>
          </a:p>
          <a:p>
            <a:pPr marL="838200" marR="381000" lvl="0" indent="-318349" algn="l" rtl="0">
              <a:spcBef>
                <a:spcPts val="0"/>
              </a:spcBef>
              <a:spcAft>
                <a:spcPts val="0"/>
              </a:spcAft>
              <a:buClr>
                <a:srgbClr val="000000"/>
              </a:buClr>
              <a:buSzPct val="100000"/>
              <a:buFont typeface="Nunito"/>
              <a:buAutoNum type="arabicPeriod"/>
            </a:pPr>
            <a:r>
              <a:rPr lang="en" sz="2019">
                <a:solidFill>
                  <a:srgbClr val="000000"/>
                </a:solidFill>
              </a:rPr>
              <a:t>Flag any language that would lead a commercial vendor to conclude the RFI is written around an incumbent. Be direct.</a:t>
            </a:r>
            <a:endParaRPr sz="2019">
              <a:solidFill>
                <a:srgbClr val="000000"/>
              </a:solidFill>
            </a:endParaRPr>
          </a:p>
          <a:p>
            <a:pPr marL="381000" marR="381000" lvl="0" indent="0" algn="l" rtl="0">
              <a:spcBef>
                <a:spcPts val="1200"/>
              </a:spcBef>
              <a:spcAft>
                <a:spcPts val="0"/>
              </a:spcAft>
              <a:buNone/>
            </a:pPr>
            <a:r>
              <a:rPr lang="en" sz="2019" b="1">
                <a:solidFill>
                  <a:srgbClr val="000000"/>
                </a:solidFill>
              </a:rPr>
              <a:t>[Paste Sourced RFI Text Here]</a:t>
            </a:r>
            <a:r>
              <a:rPr lang="en" sz="2019">
                <a:solidFill>
                  <a:srgbClr val="000000"/>
                </a:solidFill>
              </a:rPr>
              <a:t>"</a:t>
            </a:r>
            <a:endParaRPr sz="2019">
              <a:solidFill>
                <a:srgbClr val="000000"/>
              </a:solidFill>
            </a:endParaRPr>
          </a:p>
          <a:p>
            <a:pPr marL="0" lvl="0" indent="0" algn="l" rtl="0">
              <a:spcBef>
                <a:spcPts val="1200"/>
              </a:spcBef>
              <a:spcAft>
                <a:spcPts val="0"/>
              </a:spcAft>
              <a:buNone/>
            </a:pPr>
            <a:endParaRPr sz="18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g3f45b699da1_0_17"/>
          <p:cNvSpPr txBox="1">
            <a:spLocks noGrp="1"/>
          </p:cNvSpPr>
          <p:nvPr>
            <p:ph type="title"/>
          </p:nvPr>
        </p:nvSpPr>
        <p:spPr>
          <a:xfrm>
            <a:off x="327575" y="340500"/>
            <a:ext cx="8181300" cy="10935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400"/>
              <a:t>Activity: Prompt #2 - Rewrite the Problem Statement</a:t>
            </a:r>
            <a:endParaRPr sz="2400"/>
          </a:p>
        </p:txBody>
      </p:sp>
      <p:sp>
        <p:nvSpPr>
          <p:cNvPr id="676" name="Google Shape;676;g3f45b699da1_0_17"/>
          <p:cNvSpPr txBox="1">
            <a:spLocks noGrp="1"/>
          </p:cNvSpPr>
          <p:nvPr>
            <p:ph type="body" idx="1"/>
          </p:nvPr>
        </p:nvSpPr>
        <p:spPr>
          <a:xfrm>
            <a:off x="327575" y="1031400"/>
            <a:ext cx="8372400" cy="4010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750" b="1"/>
              <a:t>The Goal:</a:t>
            </a:r>
            <a:r>
              <a:rPr lang="en" sz="1750"/>
              <a:t> Strip out specific technologies and labor categories. Keep it under 400 words focused entirely on the user and the mission gap.</a:t>
            </a:r>
            <a:endParaRPr sz="1608" b="1">
              <a:solidFill>
                <a:srgbClr val="000000"/>
              </a:solidFill>
            </a:endParaRPr>
          </a:p>
          <a:p>
            <a:pPr marL="0" lvl="0" indent="0" algn="l" rtl="0">
              <a:spcBef>
                <a:spcPts val="1200"/>
              </a:spcBef>
              <a:spcAft>
                <a:spcPts val="0"/>
              </a:spcAft>
              <a:buNone/>
            </a:pPr>
            <a:r>
              <a:rPr lang="en" sz="1608" b="1">
                <a:solidFill>
                  <a:srgbClr val="000000"/>
                </a:solidFill>
              </a:rPr>
              <a:t>Copy &amp; Paste Prompt 2</a:t>
            </a:r>
            <a:endParaRPr sz="1608" b="1">
              <a:solidFill>
                <a:srgbClr val="000000"/>
              </a:solidFill>
            </a:endParaRPr>
          </a:p>
          <a:p>
            <a:pPr marL="381000" marR="381000" lvl="0" indent="0" algn="l" rtl="0">
              <a:spcBef>
                <a:spcPts val="1200"/>
              </a:spcBef>
              <a:spcAft>
                <a:spcPts val="0"/>
              </a:spcAft>
              <a:buNone/>
            </a:pPr>
            <a:r>
              <a:rPr lang="en" sz="1608">
                <a:solidFill>
                  <a:srgbClr val="000000"/>
                </a:solidFill>
              </a:rPr>
              <a:t>"Using the same RFI text, rewrite the problem statement and background so it:</a:t>
            </a:r>
            <a:endParaRPr sz="1608">
              <a:solidFill>
                <a:srgbClr val="000000"/>
              </a:solidFill>
            </a:endParaRPr>
          </a:p>
          <a:p>
            <a:pPr marL="838200" marR="381000" lvl="0" indent="-330715" algn="l" rtl="0">
              <a:spcBef>
                <a:spcPts val="1200"/>
              </a:spcBef>
              <a:spcAft>
                <a:spcPts val="0"/>
              </a:spcAft>
              <a:buClr>
                <a:srgbClr val="000000"/>
              </a:buClr>
              <a:buSzPts val="1608"/>
              <a:buFont typeface="Nunito"/>
              <a:buChar char="●"/>
            </a:pPr>
            <a:r>
              <a:rPr lang="en" sz="1608">
                <a:solidFill>
                  <a:srgbClr val="000000"/>
                </a:solidFill>
              </a:rPr>
              <a:t>Describes the mission, end user, and the gap between them;</a:t>
            </a:r>
            <a:endParaRPr sz="1608">
              <a:solidFill>
                <a:srgbClr val="000000"/>
              </a:solidFill>
            </a:endParaRPr>
          </a:p>
          <a:p>
            <a:pPr marL="838200" marR="381000" lvl="0" indent="-330715" algn="l" rtl="0">
              <a:spcBef>
                <a:spcPts val="0"/>
              </a:spcBef>
              <a:spcAft>
                <a:spcPts val="0"/>
              </a:spcAft>
              <a:buClr>
                <a:srgbClr val="000000"/>
              </a:buClr>
              <a:buSzPts val="1608"/>
              <a:buFont typeface="Nunito"/>
              <a:buChar char="●"/>
            </a:pPr>
            <a:r>
              <a:rPr lang="en" sz="1608">
                <a:solidFill>
                  <a:srgbClr val="000000"/>
                </a:solidFill>
              </a:rPr>
              <a:t>Removes references to specific technologies or labor categories;</a:t>
            </a:r>
            <a:endParaRPr sz="1608">
              <a:solidFill>
                <a:srgbClr val="000000"/>
              </a:solidFill>
            </a:endParaRPr>
          </a:p>
          <a:p>
            <a:pPr marL="838200" marR="381000" lvl="0" indent="-330715" algn="l" rtl="0">
              <a:spcBef>
                <a:spcPts val="0"/>
              </a:spcBef>
              <a:spcAft>
                <a:spcPts val="0"/>
              </a:spcAft>
              <a:buClr>
                <a:srgbClr val="000000"/>
              </a:buClr>
              <a:buSzPts val="1608"/>
              <a:buFont typeface="Nunito"/>
              <a:buChar char="●"/>
            </a:pPr>
            <a:r>
              <a:rPr lang="en" sz="1608">
                <a:solidFill>
                  <a:srgbClr val="000000"/>
                </a:solidFill>
              </a:rPr>
              <a:t>Names the outcome the agency needs in operational terms;</a:t>
            </a:r>
            <a:endParaRPr sz="1608">
              <a:solidFill>
                <a:srgbClr val="000000"/>
              </a:solidFill>
            </a:endParaRPr>
          </a:p>
          <a:p>
            <a:pPr marL="838200" marR="381000" lvl="0" indent="-330715" algn="l" rtl="0">
              <a:spcBef>
                <a:spcPts val="0"/>
              </a:spcBef>
              <a:spcAft>
                <a:spcPts val="0"/>
              </a:spcAft>
              <a:buClr>
                <a:srgbClr val="000000"/>
              </a:buClr>
              <a:buSzPts val="1608"/>
              <a:buFont typeface="Nunito"/>
              <a:buChar char="●"/>
            </a:pPr>
            <a:r>
              <a:rPr lang="en" sz="1608">
                <a:solidFill>
                  <a:srgbClr val="000000"/>
                </a:solidFill>
              </a:rPr>
              <a:t>Stays under 400 words.</a:t>
            </a:r>
            <a:endParaRPr sz="1608">
              <a:solidFill>
                <a:srgbClr val="000000"/>
              </a:solidFill>
            </a:endParaRPr>
          </a:p>
          <a:p>
            <a:pPr marL="381000" marR="381000" lvl="0" indent="0" algn="l" rtl="0">
              <a:spcBef>
                <a:spcPts val="1200"/>
              </a:spcBef>
              <a:spcAft>
                <a:spcPts val="0"/>
              </a:spcAft>
              <a:buNone/>
            </a:pPr>
            <a:r>
              <a:rPr lang="en" sz="1608">
                <a:solidFill>
                  <a:srgbClr val="000000"/>
                </a:solidFill>
              </a:rPr>
              <a:t>The goal is to let a commercial vendor understand what success looks like without being told how to deliver it.</a:t>
            </a:r>
            <a:endParaRPr sz="1608">
              <a:solidFill>
                <a:srgbClr val="000000"/>
              </a:solidFill>
            </a:endParaRPr>
          </a:p>
          <a:p>
            <a:pPr marL="0" lvl="0" indent="0" algn="l" rtl="0">
              <a:spcBef>
                <a:spcPts val="1200"/>
              </a:spcBef>
              <a:spcAft>
                <a:spcPts val="0"/>
              </a:spcAft>
              <a:buNone/>
            </a:pPr>
            <a:endParaRPr sz="18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3f45b699da1_0_25"/>
          <p:cNvSpPr txBox="1">
            <a:spLocks noGrp="1"/>
          </p:cNvSpPr>
          <p:nvPr>
            <p:ph type="title"/>
          </p:nvPr>
        </p:nvSpPr>
        <p:spPr>
          <a:xfrm>
            <a:off x="327575" y="340500"/>
            <a:ext cx="8181300" cy="10935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400"/>
              <a:t>Activity: Prompt #3 - Generate Commercial Questions</a:t>
            </a:r>
            <a:endParaRPr sz="2400"/>
          </a:p>
        </p:txBody>
      </p:sp>
      <p:sp>
        <p:nvSpPr>
          <p:cNvPr id="681" name="Google Shape;681;g3f45b699da1_0_25"/>
          <p:cNvSpPr txBox="1">
            <a:spLocks noGrp="1"/>
          </p:cNvSpPr>
          <p:nvPr>
            <p:ph type="body" idx="1"/>
          </p:nvPr>
        </p:nvSpPr>
        <p:spPr>
          <a:xfrm>
            <a:off x="327575" y="1031400"/>
            <a:ext cx="8372400" cy="4010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750" b="1"/>
              <a:t>The Goal:</a:t>
            </a:r>
            <a:r>
              <a:rPr lang="en" sz="1750"/>
              <a:t> Replace bloated vendor question lists with 5 lean, plain-language commercial market research questions. </a:t>
            </a:r>
            <a:endParaRPr sz="1608" b="1">
              <a:solidFill>
                <a:srgbClr val="000000"/>
              </a:solidFill>
            </a:endParaRPr>
          </a:p>
          <a:p>
            <a:pPr marL="0" lvl="0" indent="0" algn="l" rtl="0">
              <a:spcBef>
                <a:spcPts val="1200"/>
              </a:spcBef>
              <a:spcAft>
                <a:spcPts val="0"/>
              </a:spcAft>
              <a:buNone/>
            </a:pPr>
            <a:r>
              <a:rPr lang="en" sz="1608" b="1">
                <a:solidFill>
                  <a:srgbClr val="000000"/>
                </a:solidFill>
              </a:rPr>
              <a:t>Copy &amp; Paste Prompt 3</a:t>
            </a:r>
            <a:endParaRPr sz="1100" b="1">
              <a:solidFill>
                <a:srgbClr val="000000"/>
              </a:solidFill>
              <a:latin typeface="Arial"/>
              <a:ea typeface="Arial"/>
              <a:cs typeface="Arial"/>
              <a:sym typeface="Arial"/>
            </a:endParaRPr>
          </a:p>
          <a:p>
            <a:pPr marL="381000" marR="381000" lvl="0" indent="0" algn="l" rtl="0">
              <a:spcBef>
                <a:spcPts val="1200"/>
              </a:spcBef>
              <a:spcAft>
                <a:spcPts val="0"/>
              </a:spcAft>
              <a:buNone/>
            </a:pPr>
            <a:r>
              <a:rPr lang="en" sz="1600">
                <a:solidFill>
                  <a:srgbClr val="000000"/>
                </a:solidFill>
              </a:rPr>
              <a:t>"Based on the rewritten problem statement, draft five commercial-availability questions that satisfy FAR 10.001(f). They must ask:</a:t>
            </a:r>
            <a:endParaRPr sz="1600">
              <a:solidFill>
                <a:srgbClr val="000000"/>
              </a:solidFill>
            </a:endParaRPr>
          </a:p>
          <a:p>
            <a:pPr marL="838200" marR="381000" lvl="0" indent="-330200" algn="l" rtl="0">
              <a:spcBef>
                <a:spcPts val="1200"/>
              </a:spcBef>
              <a:spcAft>
                <a:spcPts val="0"/>
              </a:spcAft>
              <a:buClr>
                <a:srgbClr val="000000"/>
              </a:buClr>
              <a:buSzPts val="1600"/>
              <a:buFont typeface="Nunito"/>
              <a:buAutoNum type="arabicPeriod"/>
            </a:pPr>
            <a:r>
              <a:rPr lang="en" sz="1600">
                <a:solidFill>
                  <a:srgbClr val="000000"/>
                </a:solidFill>
              </a:rPr>
              <a:t>If the need can be met by commercial products/services.</a:t>
            </a:r>
            <a:endParaRPr sz="1600">
              <a:solidFill>
                <a:srgbClr val="000000"/>
              </a:solidFill>
            </a:endParaRPr>
          </a:p>
          <a:p>
            <a:pPr marL="838200" marR="381000" lvl="0" indent="-330200" algn="l" rtl="0">
              <a:spcBef>
                <a:spcPts val="0"/>
              </a:spcBef>
              <a:spcAft>
                <a:spcPts val="0"/>
              </a:spcAft>
              <a:buClr>
                <a:srgbClr val="000000"/>
              </a:buClr>
              <a:buSzPts val="1600"/>
              <a:buFont typeface="Nunito"/>
              <a:buAutoNum type="arabicPeriod"/>
            </a:pPr>
            <a:r>
              <a:rPr lang="en" sz="1600">
                <a:solidFill>
                  <a:srgbClr val="000000"/>
                </a:solidFill>
              </a:rPr>
              <a:t>What minimum modifications would make it commercial.</a:t>
            </a:r>
            <a:endParaRPr sz="1600">
              <a:solidFill>
                <a:srgbClr val="000000"/>
              </a:solidFill>
            </a:endParaRPr>
          </a:p>
          <a:p>
            <a:pPr marL="838200" marR="381000" lvl="0" indent="-330200" algn="l" rtl="0">
              <a:spcBef>
                <a:spcPts val="0"/>
              </a:spcBef>
              <a:spcAft>
                <a:spcPts val="0"/>
              </a:spcAft>
              <a:buClr>
                <a:srgbClr val="000000"/>
              </a:buClr>
              <a:buSzPts val="1600"/>
              <a:buFont typeface="Nunito"/>
              <a:buAutoNum type="arabicPeriod"/>
            </a:pPr>
            <a:r>
              <a:rPr lang="en" sz="1600">
                <a:solidFill>
                  <a:srgbClr val="000000"/>
                </a:solidFill>
              </a:rPr>
              <a:t>Language that unnecessarily excludes commercial solutions.</a:t>
            </a:r>
            <a:endParaRPr sz="1600">
              <a:solidFill>
                <a:srgbClr val="000000"/>
              </a:solidFill>
            </a:endParaRPr>
          </a:p>
          <a:p>
            <a:pPr marL="838200" marR="381000" lvl="0" indent="-330200" algn="l" rtl="0">
              <a:spcBef>
                <a:spcPts val="0"/>
              </a:spcBef>
              <a:spcAft>
                <a:spcPts val="0"/>
              </a:spcAft>
              <a:buClr>
                <a:srgbClr val="000000"/>
              </a:buClr>
              <a:buSzPts val="1600"/>
              <a:buFont typeface="Nunito"/>
              <a:buAutoNum type="arabicPeriod"/>
            </a:pPr>
            <a:r>
              <a:rPr lang="en" sz="1600">
                <a:solidFill>
                  <a:srgbClr val="000000"/>
                </a:solidFill>
              </a:rPr>
              <a:t>For specific commercial examples (contracts/customers).</a:t>
            </a:r>
            <a:endParaRPr sz="1600">
              <a:solidFill>
                <a:srgbClr val="000000"/>
              </a:solidFill>
            </a:endParaRPr>
          </a:p>
          <a:p>
            <a:pPr marL="838200" marR="381000" lvl="0" indent="-330200" algn="l" rtl="0">
              <a:spcBef>
                <a:spcPts val="0"/>
              </a:spcBef>
              <a:spcAft>
                <a:spcPts val="0"/>
              </a:spcAft>
              <a:buClr>
                <a:srgbClr val="000000"/>
              </a:buClr>
              <a:buSzPts val="1600"/>
              <a:buFont typeface="Nunito"/>
              <a:buAutoNum type="arabicPeriod"/>
            </a:pPr>
            <a:r>
              <a:rPr lang="en" sz="1600">
                <a:solidFill>
                  <a:srgbClr val="000000"/>
                </a:solidFill>
              </a:rPr>
              <a:t>What commercial pricing models and contract types industry uses.</a:t>
            </a:r>
            <a:endParaRPr sz="1600">
              <a:solidFill>
                <a:srgbClr val="000000"/>
              </a:solidFill>
            </a:endParaRPr>
          </a:p>
          <a:p>
            <a:pPr marL="381000" marR="381000" lvl="0" indent="0" algn="l" rtl="0">
              <a:spcBef>
                <a:spcPts val="1200"/>
              </a:spcBef>
              <a:spcAft>
                <a:spcPts val="0"/>
              </a:spcAft>
              <a:buNone/>
            </a:pPr>
            <a:r>
              <a:rPr lang="en" sz="1600">
                <a:solidFill>
                  <a:srgbClr val="000000"/>
                </a:solidFill>
              </a:rPr>
              <a:t>Write in plain language."</a:t>
            </a:r>
            <a:endParaRPr sz="1600">
              <a:solidFill>
                <a:srgbClr val="000000"/>
              </a:solidFill>
            </a:endParaRPr>
          </a:p>
          <a:p>
            <a:pPr marL="381000" marR="381000" lvl="0" indent="0" algn="l" rtl="0">
              <a:spcBef>
                <a:spcPts val="1200"/>
              </a:spcBef>
              <a:spcAft>
                <a:spcPts val="0"/>
              </a:spcAft>
              <a:buNone/>
            </a:pPr>
            <a:endParaRPr sz="1608">
              <a:solidFill>
                <a:srgbClr val="000000"/>
              </a:solidFill>
            </a:endParaRPr>
          </a:p>
          <a:p>
            <a:pPr marL="0" lvl="0" indent="0" algn="l" rtl="0">
              <a:spcBef>
                <a:spcPts val="1200"/>
              </a:spcBef>
              <a:spcAft>
                <a:spcPts val="0"/>
              </a:spcAft>
              <a:buNone/>
            </a:pPr>
            <a:endParaRPr sz="18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g3f45b699da1_0_32"/>
          <p:cNvSpPr txBox="1">
            <a:spLocks noGrp="1"/>
          </p:cNvSpPr>
          <p:nvPr>
            <p:ph type="title"/>
          </p:nvPr>
        </p:nvSpPr>
        <p:spPr>
          <a:xfrm>
            <a:off x="327575" y="340500"/>
            <a:ext cx="8181300" cy="10935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400" dirty="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Activity: Prompt #4 - Stress-Test the Final RFI </a:t>
            </a:r>
            <a:endParaRPr sz="2400" dirty="0"/>
          </a:p>
        </p:txBody>
      </p:sp>
      <p:sp>
        <p:nvSpPr>
          <p:cNvPr id="686" name="Google Shape;686;g3f45b699da1_0_32"/>
          <p:cNvSpPr txBox="1">
            <a:spLocks noGrp="1"/>
          </p:cNvSpPr>
          <p:nvPr>
            <p:ph type="body" idx="1"/>
          </p:nvPr>
        </p:nvSpPr>
        <p:spPr>
          <a:xfrm>
            <a:off x="327575" y="1031400"/>
            <a:ext cx="8372400" cy="4010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750" b="1"/>
              <a:t>The Goal:</a:t>
            </a:r>
            <a:r>
              <a:rPr lang="en" sz="1750"/>
              <a:t> Critically review the new RFI framework. Remember: The AI is the draft partner, but you are the decision-maker.</a:t>
            </a:r>
            <a:endParaRPr sz="1608">
              <a:solidFill>
                <a:srgbClr val="000000"/>
              </a:solidFill>
            </a:endParaRPr>
          </a:p>
          <a:p>
            <a:pPr marL="0" lvl="0" indent="0" algn="l" rtl="0">
              <a:spcBef>
                <a:spcPts val="1200"/>
              </a:spcBef>
              <a:spcAft>
                <a:spcPts val="0"/>
              </a:spcAft>
              <a:buNone/>
            </a:pPr>
            <a:r>
              <a:rPr lang="en" sz="1608" b="1">
                <a:solidFill>
                  <a:srgbClr val="000000"/>
                </a:solidFill>
              </a:rPr>
              <a:t>Copy &amp; Paste Prompt 4</a:t>
            </a:r>
            <a:endParaRPr sz="1100" b="1">
              <a:solidFill>
                <a:srgbClr val="000000"/>
              </a:solidFill>
              <a:latin typeface="Arial"/>
              <a:ea typeface="Arial"/>
              <a:cs typeface="Arial"/>
              <a:sym typeface="Arial"/>
            </a:endParaRPr>
          </a:p>
          <a:p>
            <a:pPr marL="381000" marR="381000" lvl="0" indent="0" algn="l" rtl="0">
              <a:spcBef>
                <a:spcPts val="1200"/>
              </a:spcBef>
              <a:spcAft>
                <a:spcPts val="0"/>
              </a:spcAft>
              <a:buNone/>
            </a:pPr>
            <a:r>
              <a:rPr lang="en" sz="1600">
                <a:solidFill>
                  <a:srgbClr val="000000"/>
                </a:solidFill>
              </a:rPr>
              <a:t>"Review the revised problem statement and the 5 new questions. Answer these three questions:</a:t>
            </a:r>
            <a:endParaRPr sz="1600">
              <a:solidFill>
                <a:srgbClr val="000000"/>
              </a:solidFill>
            </a:endParaRPr>
          </a:p>
          <a:p>
            <a:pPr marL="838200" marR="381000" lvl="0" indent="-330200" algn="l" rtl="0">
              <a:spcBef>
                <a:spcPts val="1200"/>
              </a:spcBef>
              <a:spcAft>
                <a:spcPts val="0"/>
              </a:spcAft>
              <a:buClr>
                <a:srgbClr val="000000"/>
              </a:buClr>
              <a:buSzPts val="1600"/>
              <a:buFont typeface="Nunito"/>
              <a:buAutoNum type="arabicPeriod"/>
            </a:pPr>
            <a:r>
              <a:rPr lang="en" sz="1600">
                <a:solidFill>
                  <a:srgbClr val="000000"/>
                </a:solidFill>
              </a:rPr>
              <a:t>If I am a new commercial vendor, do I have enough info to decide whether to respond?</a:t>
            </a:r>
            <a:endParaRPr sz="1600">
              <a:solidFill>
                <a:srgbClr val="000000"/>
              </a:solidFill>
            </a:endParaRPr>
          </a:p>
          <a:p>
            <a:pPr marL="838200" marR="381000" lvl="0" indent="-330200" algn="l" rtl="0">
              <a:spcBef>
                <a:spcPts val="0"/>
              </a:spcBef>
              <a:spcAft>
                <a:spcPts val="0"/>
              </a:spcAft>
              <a:buClr>
                <a:srgbClr val="000000"/>
              </a:buClr>
              <a:buSzPts val="1600"/>
              <a:buFont typeface="Nunito"/>
              <a:buAutoNum type="arabicPeriod"/>
            </a:pPr>
            <a:r>
              <a:rPr lang="en" sz="1600">
                <a:solidFill>
                  <a:srgbClr val="000000"/>
                </a:solidFill>
              </a:rPr>
              <a:t>If I am the incumbent, does anything indicate the follow-on is mine to lose?</a:t>
            </a:r>
            <a:endParaRPr sz="1600">
              <a:solidFill>
                <a:srgbClr val="000000"/>
              </a:solidFill>
            </a:endParaRPr>
          </a:p>
          <a:p>
            <a:pPr marL="838200" marR="381000" lvl="0" indent="-330200" algn="l" rtl="0">
              <a:spcBef>
                <a:spcPts val="0"/>
              </a:spcBef>
              <a:spcAft>
                <a:spcPts val="0"/>
              </a:spcAft>
              <a:buClr>
                <a:srgbClr val="000000"/>
              </a:buClr>
              <a:buSzPts val="1600"/>
              <a:buFont typeface="Nunito"/>
              <a:buAutoNum type="arabicPeriod"/>
            </a:pPr>
            <a:r>
              <a:rPr lang="en" sz="1600">
                <a:solidFill>
                  <a:srgbClr val="000000"/>
                </a:solidFill>
              </a:rPr>
              <a:t>Would an SPE writing an annual compliance report be able to cite this RFI as evidence of genuine commercial market research?"</a:t>
            </a:r>
            <a:endParaRPr sz="1600">
              <a:solidFill>
                <a:srgbClr val="000000"/>
              </a:solidFill>
            </a:endParaRPr>
          </a:p>
          <a:p>
            <a:pPr marL="381000" marR="381000" lvl="0" indent="0" algn="l" rtl="0">
              <a:spcBef>
                <a:spcPts val="1200"/>
              </a:spcBef>
              <a:spcAft>
                <a:spcPts val="0"/>
              </a:spcAft>
              <a:buNone/>
            </a:pPr>
            <a:endParaRPr sz="1600">
              <a:solidFill>
                <a:srgbClr val="000000"/>
              </a:solidFill>
            </a:endParaRPr>
          </a:p>
          <a:p>
            <a:pPr marL="381000" marR="381000" lvl="0" indent="0" algn="l" rtl="0">
              <a:spcBef>
                <a:spcPts val="1200"/>
              </a:spcBef>
              <a:spcAft>
                <a:spcPts val="0"/>
              </a:spcAft>
              <a:buNone/>
            </a:pPr>
            <a:endParaRPr sz="1608">
              <a:solidFill>
                <a:srgbClr val="000000"/>
              </a:solidFill>
            </a:endParaRPr>
          </a:p>
          <a:p>
            <a:pPr marL="0" lvl="0" indent="0" algn="l" rtl="0">
              <a:spcBef>
                <a:spcPts val="1200"/>
              </a:spcBef>
              <a:spcAft>
                <a:spcPts val="0"/>
              </a:spcAft>
              <a:buNone/>
            </a:pPr>
            <a:endParaRPr sz="18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g3f5106ef3df_0_4"/>
          <p:cNvSpPr txBox="1">
            <a:spLocks noGrp="1"/>
          </p:cNvSpPr>
          <p:nvPr>
            <p:ph type="title"/>
          </p:nvPr>
        </p:nvSpPr>
        <p:spPr>
          <a:xfrm>
            <a:off x="320709"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dirty="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7"/>
                  </a:ext>
                </a:extLst>
              </a:rPr>
              <a:t>Activity</a:t>
            </a:r>
            <a:r>
              <a:rPr lang="en" sz="2400" dirty="0"/>
              <a:t> Debrief </a:t>
            </a:r>
            <a:endParaRPr sz="2400" dirty="0"/>
          </a:p>
        </p:txBody>
      </p:sp>
      <p:sp>
        <p:nvSpPr>
          <p:cNvPr id="692" name="Google Shape;692;g3f5106ef3df_0_4"/>
          <p:cNvSpPr txBox="1">
            <a:spLocks noGrp="1"/>
          </p:cNvSpPr>
          <p:nvPr>
            <p:ph type="body" idx="1"/>
          </p:nvPr>
        </p:nvSpPr>
        <p:spPr>
          <a:xfrm>
            <a:off x="199275" y="1239650"/>
            <a:ext cx="7707596"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800" dirty="0">
                <a:solidFill>
                  <a:srgbClr val="303030"/>
                </a:solidFill>
              </a:rPr>
              <a:t>What was the most critical restriction the AI stripped from your </a:t>
            </a:r>
            <a:r>
              <a:rPr lang="en" sz="1800" dirty="0" err="1">
                <a:solidFill>
                  <a:srgbClr val="303030"/>
                </a:solidFill>
              </a:rPr>
              <a:t>SAM.gov</a:t>
            </a:r>
            <a:r>
              <a:rPr lang="en" sz="1800" dirty="0">
                <a:solidFill>
                  <a:srgbClr val="303030"/>
                </a:solidFill>
              </a:rPr>
              <a:t> RFI, and where did your group have to step in to ensure the final text met your agency's operational standards?</a:t>
            </a:r>
            <a:endParaRPr sz="1100" b="1" dirty="0">
              <a:solidFill>
                <a:srgbClr val="000000"/>
              </a:solidFill>
              <a:latin typeface="Arial"/>
              <a:ea typeface="Arial"/>
              <a:cs typeface="Arial"/>
              <a:sym typeface="Arial"/>
            </a:endParaRPr>
          </a:p>
          <a:p>
            <a:pPr marL="0" lvl="0" indent="0" algn="l" rtl="0">
              <a:spcBef>
                <a:spcPts val="1200"/>
              </a:spcBef>
              <a:spcAft>
                <a:spcPts val="900"/>
              </a:spcAft>
              <a:buNone/>
            </a:pPr>
            <a:endParaRPr sz="1800" dirty="0">
              <a:solidFill>
                <a:srgbClr val="30303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9"/>
        <p:cNvGrpSpPr/>
        <p:nvPr/>
      </p:nvGrpSpPr>
      <p:grpSpPr>
        <a:xfrm>
          <a:off x="0" y="0"/>
          <a:ext cx="0" cy="0"/>
          <a:chOff x="0" y="0"/>
          <a:chExt cx="0" cy="0"/>
        </a:xfrm>
      </p:grpSpPr>
      <p:sp>
        <p:nvSpPr>
          <p:cNvPr id="960" name="Google Shape;960;p124">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24"/>
          <p:cNvSpPr>
            <a:spLocks noGrp="1"/>
          </p:cNvSpPr>
          <p:nvPr>
            <p:ph type="title" idx="4294967295"/>
          </p:nvPr>
        </p:nvSpPr>
        <p:spPr>
          <a:xfrm>
            <a:off x="609600" y="2124075"/>
            <a:ext cx="6172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Questions?</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66"/>
        <p:cNvGrpSpPr/>
        <p:nvPr/>
      </p:nvGrpSpPr>
      <p:grpSpPr>
        <a:xfrm>
          <a:off x="0" y="0"/>
          <a:ext cx="0" cy="0"/>
          <a:chOff x="0" y="0"/>
          <a:chExt cx="0" cy="0"/>
        </a:xfrm>
      </p:grpSpPr>
      <p:sp>
        <p:nvSpPr>
          <p:cNvPr id="967" name="Google Shape;967;p125">
            <a:extLst>
              <a:ext uri="{C183D7F6-B498-43B3-948B-1728B52AA6E4}">
                <adec:decorative xmlns:adec="http://schemas.microsoft.com/office/drawing/2017/decorative" val="1"/>
              </a:ext>
            </a:extLst>
          </p:cNvPr>
          <p:cNvSpPr/>
          <p:nvPr/>
        </p:nvSpPr>
        <p:spPr>
          <a:xfrm>
            <a:off x="609600" y="2124075"/>
            <a:ext cx="5715000" cy="9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25"/>
          <p:cNvSpPr>
            <a:spLocks noGrp="1"/>
          </p:cNvSpPr>
          <p:nvPr>
            <p:ph type="title" idx="4294967295"/>
          </p:nvPr>
        </p:nvSpPr>
        <p:spPr>
          <a:xfrm>
            <a:off x="609600" y="2124075"/>
            <a:ext cx="6172200" cy="5478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
                <a:srgbClr val="000000"/>
              </a:buClr>
              <a:buSzPts val="3600"/>
              <a:buFont typeface="Inter"/>
              <a:buNone/>
              <a:tabLst/>
              <a:defRPr/>
            </a:pPr>
            <a:r>
              <a:rPr kumimoji="0" lang="en-US" sz="3600" b="1" i="0" u="none" strike="noStrike" kern="0" cap="none" spc="0" normalizeH="0" baseline="0" noProof="0" dirty="0">
                <a:ln>
                  <a:noFill/>
                </a:ln>
                <a:solidFill>
                  <a:srgbClr val="000000"/>
                </a:solidFill>
                <a:effectLst/>
                <a:uLnTx/>
                <a:uFillTx/>
                <a:latin typeface="Inter"/>
                <a:ea typeface="Inter"/>
                <a:cs typeface="Inter"/>
                <a:sym typeface="Inter"/>
              </a:rPr>
              <a:t>Thank you</a:t>
            </a:r>
            <a:endParaRPr kumimoji="0" lang="en-US" sz="3600" b="0" i="0" u="none" strike="noStrike" kern="0" cap="none" spc="0" normalizeH="0" baseline="0" noProof="0" dirty="0">
              <a:ln>
                <a:noFill/>
              </a:ln>
              <a:solidFill>
                <a:schemeClr val="dk1"/>
              </a:solidFill>
              <a:effectLst/>
              <a:uLnTx/>
              <a:uFillTx/>
              <a:latin typeface="Calibri"/>
              <a:ea typeface="Calibri"/>
              <a:cs typeface="Calibri"/>
              <a:sym typeface="Calibri"/>
            </a:endParaRPr>
          </a:p>
        </p:txBody>
      </p:sp>
      <p:sp>
        <p:nvSpPr>
          <p:cNvPr id="969" name="Google Shape;969;p125"/>
          <p:cNvSpPr/>
          <p:nvPr/>
        </p:nvSpPr>
        <p:spPr>
          <a:xfrm>
            <a:off x="609600" y="2786116"/>
            <a:ext cx="6172200" cy="1061400"/>
          </a:xfrm>
          <a:prstGeom prst="rect">
            <a:avLst/>
          </a:prstGeom>
          <a:noFill/>
          <a:ln>
            <a:noFill/>
          </a:ln>
        </p:spPr>
        <p:txBody>
          <a:bodyPr spcFirstLastPara="1" wrap="square" lIns="91425" tIns="45700" rIns="91425" bIns="45700" anchor="ctr" anchorCtr="0">
            <a:noAutofit/>
          </a:bodyPr>
          <a:lstStyle/>
          <a:p>
            <a:pPr marL="428625" lvl="0" indent="-285750" algn="l" rtl="0">
              <a:spcBef>
                <a:spcPts val="1200"/>
              </a:spcBef>
              <a:spcAft>
                <a:spcPts val="0"/>
              </a:spcAft>
              <a:buClr>
                <a:schemeClr val="dk1"/>
              </a:buClr>
              <a:buSzPts val="1350"/>
              <a:buFont typeface="Arial" panose="020B0604020202020204" pitchFamily="34" charset="0"/>
              <a:buChar char="•"/>
            </a:pPr>
            <a:r>
              <a:rPr lang="en" sz="1600" dirty="0">
                <a:solidFill>
                  <a:schemeClr val="dk1"/>
                </a:solidFill>
                <a:latin typeface="Inter"/>
                <a:ea typeface="Inter"/>
                <a:cs typeface="Inter"/>
                <a:sym typeface="Inter"/>
              </a:rPr>
              <a:t>Contact information</a:t>
            </a:r>
            <a:endParaRPr sz="1600" dirty="0">
              <a:solidFill>
                <a:schemeClr val="dk1"/>
              </a:solidFill>
              <a:latin typeface="Inter"/>
              <a:ea typeface="Inter"/>
              <a:cs typeface="Inter"/>
              <a:sym typeface="Inter"/>
            </a:endParaRPr>
          </a:p>
          <a:p>
            <a:pPr marL="428625" lvl="0" indent="-285750" algn="l" rtl="0">
              <a:spcBef>
                <a:spcPts val="0"/>
              </a:spcBef>
              <a:spcAft>
                <a:spcPts val="0"/>
              </a:spcAft>
              <a:buClr>
                <a:schemeClr val="dk1"/>
              </a:buClr>
              <a:buSzPts val="1350"/>
              <a:buFont typeface="Arial" panose="020B0604020202020204" pitchFamily="34" charset="0"/>
              <a:buChar char="•"/>
            </a:pPr>
            <a:r>
              <a:rPr lang="en" sz="1600" dirty="0">
                <a:solidFill>
                  <a:schemeClr val="dk1"/>
                </a:solidFill>
                <a:latin typeface="Inter"/>
                <a:ea typeface="Inter"/>
                <a:cs typeface="Inter"/>
                <a:sym typeface="Inter"/>
              </a:rPr>
              <a:t>Feedback survey link (if available)</a:t>
            </a:r>
            <a:endParaRPr sz="1600" dirty="0">
              <a:latin typeface="Inter"/>
              <a:ea typeface="Inter"/>
              <a:cs typeface="Inter"/>
              <a:sym typeface="Inter"/>
            </a:endParaRPr>
          </a:p>
          <a:p>
            <a:pPr marL="0" marR="0" lvl="0" indent="0" algn="l" rtl="0">
              <a:lnSpc>
                <a:spcPct val="140000"/>
              </a:lnSpc>
              <a:spcBef>
                <a:spcPts val="1200"/>
              </a:spcBef>
              <a:spcAft>
                <a:spcPts val="0"/>
              </a:spcAft>
              <a:buClr>
                <a:srgbClr val="000000"/>
              </a:buClr>
              <a:buSzPts val="1350"/>
              <a:buFont typeface="Inter"/>
              <a:buNone/>
            </a:pPr>
            <a:endParaRPr sz="1350" dirty="0">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6615</Words>
  <Application>Microsoft Macintosh PowerPoint</Application>
  <PresentationFormat>On-screen Show (16:9)</PresentationFormat>
  <Paragraphs>584</Paragraphs>
  <Slides>68</Slides>
  <Notes>68</Notes>
  <HiddenSlides>0</HiddenSlides>
  <MMClips>0</MMClips>
  <ScaleCrop>false</ScaleCrop>
  <HeadingPairs>
    <vt:vector size="6" baseType="variant">
      <vt:variant>
        <vt:lpstr>Fonts Used</vt:lpstr>
      </vt:variant>
      <vt:variant>
        <vt:i4>16</vt:i4>
      </vt:variant>
      <vt:variant>
        <vt:lpstr>Theme</vt:lpstr>
      </vt:variant>
      <vt:variant>
        <vt:i4>3</vt:i4>
      </vt:variant>
      <vt:variant>
        <vt:lpstr>Slide Titles</vt:lpstr>
      </vt:variant>
      <vt:variant>
        <vt:i4>68</vt:i4>
      </vt:variant>
    </vt:vector>
  </HeadingPairs>
  <TitlesOfParts>
    <vt:vector size="87" baseType="lpstr">
      <vt:lpstr>Inter</vt:lpstr>
      <vt:lpstr>Courier New</vt:lpstr>
      <vt:lpstr>Arial</vt:lpstr>
      <vt:lpstr>Calibri</vt:lpstr>
      <vt:lpstr>Proxima Nova</vt:lpstr>
      <vt:lpstr>Nunito</vt:lpstr>
      <vt:lpstr>Barlow</vt:lpstr>
      <vt:lpstr>Barlow Medium</vt:lpstr>
      <vt:lpstr>Open Sans</vt:lpstr>
      <vt:lpstr>Hepta Slab</vt:lpstr>
      <vt:lpstr>Inter Medium</vt:lpstr>
      <vt:lpstr>Hepta Slab Light</vt:lpstr>
      <vt:lpstr>Lato</vt:lpstr>
      <vt:lpstr>Hepta Slab Medium</vt:lpstr>
      <vt:lpstr>Barlow ExtraLight</vt:lpstr>
      <vt:lpstr>Barlow Light</vt:lpstr>
      <vt:lpstr>Shift</vt:lpstr>
      <vt:lpstr>Office Theme</vt:lpstr>
      <vt:lpstr>Strategy Plan</vt:lpstr>
      <vt:lpstr>Module 2 - Determine Your Organizational Readiness </vt:lpstr>
      <vt:lpstr>Module 2 Performance Outcome</vt:lpstr>
      <vt:lpstr>At the conclusion of this module, you will be able to</vt:lpstr>
      <vt:lpstr>Assessing Agency Readiness</vt:lpstr>
      <vt:lpstr>Maturity-Based Acquisition Strategy</vt:lpstr>
      <vt:lpstr>Agenda</vt:lpstr>
      <vt:lpstr>On a scale of 1–5, how mature is your agency in digital service delivery?</vt:lpstr>
      <vt:lpstr>Why Maturity Matters </vt:lpstr>
      <vt:lpstr>Why Maturity Matters in Acquisition Strategy</vt:lpstr>
      <vt:lpstr>Risk Axioms Overview</vt:lpstr>
      <vt:lpstr>Four Foundational Risk Axioms for Digital Procurement</vt:lpstr>
      <vt:lpstr>Axiom 1: Time vs. Flexibility</vt:lpstr>
      <vt:lpstr>Axiom 2: Platform Openness</vt:lpstr>
      <vt:lpstr>Axiom 3: Fixed Price</vt:lpstr>
      <vt:lpstr>Axiom 4: Agile Maturity</vt:lpstr>
      <vt:lpstr>Activity: Discussion</vt:lpstr>
      <vt:lpstr>Whole-System Acquisition Strategy </vt:lpstr>
      <vt:lpstr>Applying a Whole-System, Maturity-Aligned Approach</vt:lpstr>
      <vt:lpstr>Cross-Functional Team Roles</vt:lpstr>
      <vt:lpstr>Modern Strategy Elements</vt:lpstr>
      <vt:lpstr>Maturity Assessment </vt:lpstr>
      <vt:lpstr>Maturity Assessment Importance</vt:lpstr>
      <vt:lpstr>Maturity Model Application</vt:lpstr>
      <vt:lpstr>Activity: Self-Assessment</vt:lpstr>
      <vt:lpstr>Optional Case Study: ADEPT (Maryland)</vt:lpstr>
      <vt:lpstr>Closing Discussion</vt:lpstr>
      <vt:lpstr>Key Takeaways</vt:lpstr>
      <vt:lpstr>Thank you</vt:lpstr>
      <vt:lpstr>Why Readiness Matters</vt:lpstr>
      <vt:lpstr>How Ready Is Your Agency for Change?</vt:lpstr>
      <vt:lpstr>Activity: Change &amp; Innovation Readiness Survey</vt:lpstr>
      <vt:lpstr>Stakeholder and Customer Mapping</vt:lpstr>
      <vt:lpstr>Understanding Your Needs &amp; Mapping  Stakeholders for Change</vt:lpstr>
      <vt:lpstr>Agenda</vt:lpstr>
      <vt:lpstr>Seeing the Big Picture with Stakeholders </vt:lpstr>
      <vt:lpstr>Stakeholders vs. Users vs. Customers</vt:lpstr>
      <vt:lpstr>Class Activity </vt:lpstr>
      <vt:lpstr>Stakeholder Quiz </vt:lpstr>
      <vt:lpstr>Stakeholder Quiz </vt:lpstr>
      <vt:lpstr>Stakeholder Quiz </vt:lpstr>
      <vt:lpstr>Common Stakeholder Mapping Mistakes </vt:lpstr>
      <vt:lpstr>Optional Activity: Power Matrix </vt:lpstr>
      <vt:lpstr>What Drives Them: Stakeholder Psychology 101 </vt:lpstr>
      <vt:lpstr>What’s Your Plan When You Hear No?</vt:lpstr>
      <vt:lpstr>Case Study Activity:  Mapping Casey’s Stakeholders</vt:lpstr>
      <vt:lpstr>Optional Role Play Activity: Stakeholder Influence </vt:lpstr>
      <vt:lpstr>Optional Role Play Activity: Structure Per Scenario </vt:lpstr>
      <vt:lpstr>Stakeholder Interview Assignment</vt:lpstr>
      <vt:lpstr>Part 1: Prepare Identify 2–4 key stakeholders or gatekeepers Research their role, responsibilities, and relationships Develop your influence strategy and questions (Optional) Practice with a peer Submit your prep by end of Module 2 </vt:lpstr>
      <vt:lpstr>Assignment Prep: Stakeholder Selection </vt:lpstr>
      <vt:lpstr>Defining Success for Your Digital Services Acquisition</vt:lpstr>
      <vt:lpstr>Defining Success </vt:lpstr>
      <vt:lpstr>Agenda</vt:lpstr>
      <vt:lpstr>Activity: Using AI to translate Vision into Return on Mission</vt:lpstr>
      <vt:lpstr>Introducing the Acq-A-Thon</vt:lpstr>
      <vt:lpstr>Acq-A-Thon: Who Should be in the Room?  </vt:lpstr>
      <vt:lpstr>Acq-A-Thon: Outcomes of this Activity</vt:lpstr>
      <vt:lpstr>Conducting Effective Market Research </vt:lpstr>
      <vt:lpstr>Agenda</vt:lpstr>
      <vt:lpstr>Case Study Activity:  Market Research Planning</vt:lpstr>
      <vt:lpstr>Activity: Signal or Noise? Evaluating RFIs with AI Insight </vt:lpstr>
      <vt:lpstr>Activity: Prompt #1 - Diagnose the Draft </vt:lpstr>
      <vt:lpstr>Activity: Prompt #2 - Rewrite the Problem Statement</vt:lpstr>
      <vt:lpstr>Activity: Prompt #3 - Generate Commercial Questions</vt:lpstr>
      <vt:lpstr>Activity: Prompt #4 - Stress-Test the Final RFI </vt:lpstr>
      <vt:lpstr>Activity Debrief </vt:lpstr>
      <vt:lpstr>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Joe Jernigan</cp:lastModifiedBy>
  <cp:revision>10</cp:revision>
  <dcterms:modified xsi:type="dcterms:W3CDTF">2026-07-16T16:01:22Z</dcterms:modified>
</cp:coreProperties>
</file>